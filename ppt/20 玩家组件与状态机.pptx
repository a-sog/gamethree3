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03CB-E0B5-35DB-0806-90D7C61D2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A992D-4E4E-95BC-7FBB-3A6F60358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15F98-D61C-DB43-24EE-45A01A0AD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5E179-8112-39EB-DFB3-4B16DDBC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B698C-1640-728C-876D-990B0F3A0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6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D266-9831-97DB-4F29-4CBB2B9D4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1F59E-DF94-1F6A-6E6F-873F4FB20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045A4-A385-EF73-20B9-473FE83C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484DD-8958-A053-B5E7-836E552F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CE746-DD74-9E82-AB89-46CE4895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6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CC77-68C7-977D-FA1B-3827464C1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82283-E2CD-FA0F-D605-2F43E0E1C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B15CB-7739-E3D5-DC9C-58A0D621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7CF1C-9562-7372-D156-DDB81628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59B8B-7CDD-603D-A2ED-C8131DB9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3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1BDC-7A43-083B-BDAB-6F654A85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29929-9518-E34A-D67F-9027D0A37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C9C9D-D2F7-0DA9-D36C-CD3913052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3C1AB-991A-B306-A627-8C47C65E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7A686-D13E-FA42-4C84-E6457E53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D1C4D-96AD-FBEE-9F08-3943CBB6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2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2EEE-2070-53C1-13FE-4B1459CEB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9EB6D-1F90-5649-EF68-C37F6C223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FF012-6088-A3CA-6DDD-A2AE4F00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F762E-F321-DADB-1C55-A642A5D52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4BC4E-41B6-C406-0428-E2F368A90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9FF387-33D4-0A91-3275-30CC2AF7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47D7E3-01D4-EC71-D090-3A956630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E863-D81B-9513-DF6B-8E39A745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9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0F40-13C2-499B-C112-351A3EDA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71E67-A74B-DF90-C3B2-1C8592C6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3497C-EFC6-C539-83BA-4A4BE1B6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BFC6F-1F50-C829-2758-F2CC0B20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59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949B1-359D-C296-0BBB-D100A9C5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E18EE-A23E-61EA-854F-1E507C98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0D22D-E7F4-C919-39CC-CE1E5307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2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C28F-8807-0285-DF09-18078D73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C544E-98FD-4E41-AB2A-F83326C5E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A4ACC-03EF-565A-4A57-3076EA0E3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998C4-A4D1-DAAC-1A77-20973043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8B935-E6B4-B26D-406B-B8912E41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026F8-7459-5DFD-856E-EF33196D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7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355B-98FA-4C49-4FBF-711768135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2FA8D7-2896-0B31-B810-C184D277C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40C4F-5393-FD77-B245-D15882EA3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B7BA9-5379-DFC8-2F3B-C2244F7E8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B9552-5CB6-7A83-F89C-AC54A8D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447E4-A273-227F-285F-9E6F98BF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9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7C22-3B1C-E3E4-88E3-AE8FEB07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7E10D-FECB-0EAC-7529-28EDEF5BE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E18B-65AF-6344-14CA-3B6C2347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2F2A-4A4D-992A-6F5F-D9B09E59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4ADB8-FBDB-896E-8204-BB19F046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8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175053-E17E-FA15-F4A7-E2D648763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5A6F8-11B7-2D1E-86F7-8AC7D5A36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A0356-10C5-0DCF-5517-C066BAAC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8C6A7-EC92-6693-8266-0545E482D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0839-1B4F-E307-CCFB-C2CC676D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54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3BCE2-B166-E159-2FA1-2051E90D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478D6-9B92-D826-FC19-5148C6C2C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B3CFD-06D2-C363-71FD-FECD1461B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C24CD-686D-4E8E-9697-E5D64E1CB24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34FA7-4212-7D73-5690-44A944B35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A9357-60F7-767B-F00A-3FC8030C6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9E201-F0E9-4E88-99EF-760A6BBF9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6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2859-8FE3-F11C-3C25-491D8C0D1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玩家组件与状态机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FFF9C-027E-55E1-9DFA-09877A313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3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0830-03A5-DBB1-EE74-49BAB2DE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EE849-E02D-7C3E-7A94-2D5FBE587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目前我们所有的玩家输入控制都写在 </a:t>
            </a:r>
            <a:r>
              <a:rPr lang="en-US" altLang="zh-CN" dirty="0" err="1"/>
              <a:t>GameScene</a:t>
            </a:r>
            <a:r>
              <a:rPr lang="en-US" altLang="zh-CN" dirty="0"/>
              <a:t>::</a:t>
            </a:r>
            <a:r>
              <a:rPr lang="en-US" altLang="zh-CN" dirty="0" err="1"/>
              <a:t>TestPlayer</a:t>
            </a:r>
            <a:r>
              <a:rPr lang="en-US" altLang="zh-CN" dirty="0"/>
              <a:t>()</a:t>
            </a:r>
            <a:r>
              <a:rPr lang="zh-CN" altLang="en-US" dirty="0"/>
              <a:t> 这个测试函数里。这种写法随着功能的增加，会变得越来越难以维护。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43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CD83-8F87-4E46-B801-1EC359E5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5979AD-415D-202B-4C18-C600177B2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46" y="82424"/>
            <a:ext cx="5912154" cy="210195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EECFF9-CA8D-0662-F498-00A45945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252681"/>
              </p:ext>
            </p:extLst>
          </p:nvPr>
        </p:nvGraphicFramePr>
        <p:xfrm>
          <a:off x="701964" y="2467083"/>
          <a:ext cx="812799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357346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106337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846251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后果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998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逻辑混乱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随着行为增加充斥着复杂的 </a:t>
                      </a:r>
                      <a:r>
                        <a:rPr lang="en-US" altLang="zh-CN">
                          <a:effectLst/>
                        </a:rPr>
                        <a:t>if-else </a:t>
                      </a:r>
                      <a:r>
                        <a:rPr lang="zh-CN" altLang="en-US">
                          <a:effectLst/>
                        </a:rPr>
                        <a:t>嵌套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难以阅读和维护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82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状态不明确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只能通过 </a:t>
                      </a:r>
                      <a:r>
                        <a:rPr lang="en-US" altLang="zh-CN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velocity.y</a:t>
                      </a:r>
                      <a:r>
                        <a:rPr lang="zh-CN" altLang="en-US">
                          <a:effectLst/>
                        </a:rPr>
                        <a:t> 判断是跳跃还是下落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难以实现复杂逻辑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14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耦合度高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控制逻辑硬编码在 </a:t>
                      </a:r>
                      <a:r>
                        <a:rPr lang="en-US" altLang="zh-CN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GameScene</a:t>
                      </a:r>
                      <a:r>
                        <a:rPr lang="zh-CN" altLang="en-US">
                          <a:effectLst/>
                        </a:rPr>
                        <a:t> 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无法复用，不符合组件化设计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248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026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2214-5431-94AD-C6E9-E63B803D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解决方案：状态设计模式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992A-67B5-48A8-D23E-42874676A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核心思想</a:t>
            </a:r>
            <a:r>
              <a:rPr lang="zh-CN" altLang="en-US" dirty="0"/>
              <a:t>：将对象的每一种行为状态（站立、行走、跳跃等）都封装成一个独立的对象。对象本身（玩家）只需要持有一个指向当前状态对象的指针，并将所有逻辑处理委托给这个状态对象。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0CBE7-2113-EA7B-75D7-51F208539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01" y="3221441"/>
            <a:ext cx="4121362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12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30B1-FFA0-7319-B14A-EE7BC007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18F0FA-57AD-0FD4-B795-96E8E3BBFF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4701659"/>
              </p:ext>
            </p:extLst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916827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40964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796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理解状态设计模式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学习为什么以及如何使用状态模式管理复杂对象的行为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553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构建玩家状态机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创建 </a:t>
                      </a:r>
                      <a:r>
                        <a:rPr lang="en-US">
                          <a:effectLst/>
                        </a:rPr>
                        <a:t>Idle、Walk、Jump、Fall </a:t>
                      </a:r>
                      <a:r>
                        <a:rPr lang="zh-CN" altLang="en-US">
                          <a:effectLst/>
                        </a:rPr>
                        <a:t>四种基本状态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979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创建 </a:t>
                      </a:r>
                      <a:r>
                        <a:rPr lang="en-US" b="1">
                          <a:effectLst/>
                        </a:rPr>
                        <a:t>PlayerComponent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专门的组件封装玩家逻辑，与 </a:t>
                      </a:r>
                      <a:r>
                        <a:rPr lang="en-US" altLang="zh-CN">
                          <a:effectLst/>
                        </a:rPr>
                        <a:t>GameScene </a:t>
                      </a:r>
                      <a:r>
                        <a:rPr lang="zh-CN" altLang="en-US">
                          <a:effectLst/>
                        </a:rPr>
                        <a:t>解耦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88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增强物理引擎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添加碰撞方向标志，为状态判断提供依据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3897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836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B5E3-E186-D94C-6C13-CE03D69DD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物理引擎升级：提供碰撞信息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4AC8-3ADB-35AA-9D9C-DFB70C47D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状态机需要知道 </a:t>
            </a:r>
            <a:r>
              <a:rPr lang="en-US" altLang="zh-CN" b="1" dirty="0"/>
              <a:t>"</a:t>
            </a:r>
            <a:r>
              <a:rPr lang="zh-CN" altLang="en-US" b="1" dirty="0"/>
              <a:t>玩家当前是否在地面上</a:t>
            </a:r>
            <a:r>
              <a:rPr lang="en-US" altLang="zh-CN" b="1" dirty="0"/>
              <a:t>"</a:t>
            </a:r>
            <a:r>
              <a:rPr lang="zh-CN" altLang="en-US" dirty="0"/>
              <a:t>、</a:t>
            </a:r>
            <a:r>
              <a:rPr lang="en-US" altLang="zh-CN" b="1" dirty="0"/>
              <a:t>"</a:t>
            </a:r>
            <a:r>
              <a:rPr lang="zh-CN" altLang="en-US" b="1" dirty="0"/>
              <a:t>是否撞到了墙</a:t>
            </a:r>
            <a:r>
              <a:rPr lang="en-US" altLang="zh-CN" b="1" dirty="0"/>
              <a:t>"</a:t>
            </a:r>
            <a:r>
              <a:rPr lang="zh-CN" altLang="en-US" dirty="0"/>
              <a:t> 等信息来决定如何切换状态。这些信息最应该由物理引擎提供。因此，我们首先来升级 </a:t>
            </a:r>
            <a:r>
              <a:rPr lang="en-US" altLang="zh-CN" dirty="0" err="1"/>
              <a:t>PhysicsComponent</a:t>
            </a:r>
            <a:r>
              <a:rPr lang="zh-CN" altLang="en-US" dirty="0"/>
              <a:t> 和 </a:t>
            </a:r>
            <a:r>
              <a:rPr lang="en-US" altLang="zh-CN" dirty="0" err="1"/>
              <a:t>PhysicsEngine</a:t>
            </a:r>
            <a:r>
              <a:rPr lang="zh-CN" altLang="en-US" dirty="0"/>
              <a:t>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782CD-EDE4-D353-EF69-1219E0AB7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970" y="3258776"/>
            <a:ext cx="1810915" cy="315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9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ABF6-2B7B-EF5E-EC02-92E955F3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1.1 </a:t>
            </a:r>
            <a:r>
              <a:rPr lang="en-US" b="1" dirty="0" err="1"/>
              <a:t>PhysicsComponent</a:t>
            </a:r>
            <a:r>
              <a:rPr lang="en-US" b="1" dirty="0"/>
              <a:t> </a:t>
            </a:r>
            <a:r>
              <a:rPr lang="zh-CN" altLang="en-US" b="1" dirty="0"/>
              <a:t>中添加碰撞标志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AEA4-1FD1-1178-9853-0A23E035C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我们在 </a:t>
            </a:r>
            <a:r>
              <a:rPr lang="en-US" dirty="0" err="1"/>
              <a:t>PhysicsComponent</a:t>
            </a:r>
            <a:r>
              <a:rPr lang="en-US" dirty="0"/>
              <a:t> </a:t>
            </a:r>
            <a:r>
              <a:rPr lang="zh-CN" altLang="en-US" dirty="0"/>
              <a:t>中添加四个布尔标志，用于记录每一帧中物体在四个方向上的碰撞情况。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b="1" dirty="0" err="1"/>
              <a:t>src</a:t>
            </a:r>
            <a:r>
              <a:rPr lang="en-US" b="1" dirty="0"/>
              <a:t>/engine/component/</a:t>
            </a:r>
            <a:r>
              <a:rPr lang="en-US" b="1" dirty="0" err="1"/>
              <a:t>physics_component.h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364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55196-5DCB-7D55-4F08-F8D1BF9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⚠️ 重要细节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806B9-2884-BF3F-5B34-2C3973031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/>
              <a:t>resetCollisionFlags</a:t>
            </a:r>
            <a:r>
              <a:rPr lang="en-US" altLang="zh-CN" b="1" dirty="0"/>
              <a:t>()</a:t>
            </a:r>
            <a:r>
              <a:rPr lang="zh-CN" altLang="en-US" dirty="0"/>
              <a:t> 函数将在每帧物理更新开始时被调用，以确保碰撞信息不会从前一帧残留下来。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8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A586-C63E-56D4-392A-0F0A1152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1.2 </a:t>
            </a:r>
            <a:r>
              <a:rPr lang="en-US" altLang="zh-CN" b="1" dirty="0" err="1"/>
              <a:t>PhysicsEngine</a:t>
            </a:r>
            <a:r>
              <a:rPr lang="en-US" altLang="zh-CN" b="1" dirty="0"/>
              <a:t> </a:t>
            </a:r>
            <a:r>
              <a:rPr lang="zh-CN" altLang="en-US" b="1" dirty="0"/>
              <a:t>记录碰撞信息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B3A2D-8846-8CA5-728A-03B86E436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接下来，在 </a:t>
            </a:r>
            <a:r>
              <a:rPr lang="en-US" altLang="zh-CN" dirty="0" err="1"/>
              <a:t>PhysicsEngine</a:t>
            </a:r>
            <a:r>
              <a:rPr lang="zh-CN" altLang="en-US" dirty="0"/>
              <a:t> 的碰撞解析函数中，当检测到并处理碰撞时，我们就调用上面定义的 </a:t>
            </a:r>
            <a:r>
              <a:rPr lang="en-US" altLang="zh-CN" dirty="0"/>
              <a:t>setter </a:t>
            </a:r>
            <a:r>
              <a:rPr lang="zh-CN" altLang="en-US" dirty="0"/>
              <a:t>函数来设置对应的标志。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b="1" dirty="0" err="1"/>
              <a:t>src</a:t>
            </a:r>
            <a:r>
              <a:rPr lang="en-US" b="1" dirty="0"/>
              <a:t>/engine/physics/physics_engine.cpp（</a:t>
            </a:r>
            <a:r>
              <a:rPr lang="zh-CN" altLang="en-US" b="1" dirty="0"/>
              <a:t>更新）</a:t>
            </a:r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1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4EC6-414E-AC1C-F132-E0BF1E41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构建状态机框架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AD234F-03FC-BCE2-4658-ADE37C001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2765" y="1690688"/>
            <a:ext cx="7719089" cy="40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3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710AD-A1B5-16B3-5201-5709E44C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架构组成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BDEE87-EF6A-550F-05BF-E713C1908D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5582489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9493596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554976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25928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组件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00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PlayerState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抽象基类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定义所有具体状态必须实现的接口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315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PlayerComponent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上下文（</a:t>
                      </a:r>
                      <a:r>
                        <a:rPr lang="en-US">
                          <a:effectLst/>
                        </a:rPr>
                        <a:t>Context）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持有当前状态对象，负责状态切换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857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具体 </a:t>
                      </a:r>
                      <a:r>
                        <a:rPr lang="en-US" b="1">
                          <a:effectLst/>
                        </a:rPr>
                        <a:t>State </a:t>
                      </a:r>
                      <a:r>
                        <a:rPr lang="zh-CN" altLang="en-US" b="1">
                          <a:effectLst/>
                        </a:rPr>
                        <a:t>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状态实现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IdleState、WalkState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zh-CN" altLang="en-US" dirty="0">
                          <a:effectLst/>
                        </a:rPr>
                        <a:t>等，实现具体逻辑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787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47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6CDD4-B84F-96AF-CF28-0E17EE27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2.1 </a:t>
            </a:r>
            <a:r>
              <a:rPr lang="zh-CN" altLang="en-US" b="1" dirty="0"/>
              <a:t>状态基类：</a:t>
            </a:r>
            <a:r>
              <a:rPr lang="en-US" b="1" dirty="0" err="1"/>
              <a:t>PlayerState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5C1F1-FB35-5037-EFEE-28CC46389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我们在 </a:t>
            </a:r>
            <a:r>
              <a:rPr lang="en-US" dirty="0" err="1"/>
              <a:t>src</a:t>
            </a:r>
            <a:r>
              <a:rPr lang="en-US" dirty="0"/>
              <a:t>/game/component/ </a:t>
            </a:r>
            <a:r>
              <a:rPr lang="zh-CN" altLang="en-US" dirty="0"/>
              <a:t>目录下新建一个 </a:t>
            </a:r>
            <a:r>
              <a:rPr lang="en-US" dirty="0"/>
              <a:t>state </a:t>
            </a:r>
            <a:r>
              <a:rPr lang="zh-CN" altLang="en-US" dirty="0"/>
              <a:t>文件夹，用于存放所有与玩家状态相关的代码。首先创建状态基类。</a:t>
            </a:r>
          </a:p>
          <a:p>
            <a:endParaRPr lang="en-US" dirty="0"/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player_state.h（新建文件</a:t>
            </a:r>
            <a:r>
              <a:rPr lang="en-US" b="1" dirty="0"/>
              <a:t>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202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CAD9-FF5F-E914-8184-A6823BEF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408CFE-99ED-2D19-DBE5-4D71E285D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0414348"/>
              </p:ext>
            </p:extLst>
          </p:nvPr>
        </p:nvGraphicFramePr>
        <p:xfrm>
          <a:off x="838200" y="1825625"/>
          <a:ext cx="105156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672172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162488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803644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77920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调用时机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93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enter()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进入状态时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初始化工作（如播放音效）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99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exit()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退出状态时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清理工作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885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handleInput()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输入处理阶段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unique_ptr&lt;PlayerState&gt;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根据输入决定是否切换状态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809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update()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更新阶段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unique_ptr&lt;PlayerState&gt;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根据物理状态决定是否切换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517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872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4D34-571F-7E02-F592-7399DA0B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核心设计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A605-4091-CB02-718B-D09645478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返回值机制</a:t>
            </a:r>
            <a:r>
              <a:rPr lang="zh-CN" altLang="en-US" dirty="0"/>
              <a:t>：</a:t>
            </a:r>
            <a:r>
              <a:rPr lang="en-US" dirty="0" err="1"/>
              <a:t>handleInput</a:t>
            </a:r>
            <a:r>
              <a:rPr lang="en-US" dirty="0"/>
              <a:t> </a:t>
            </a:r>
            <a:r>
              <a:rPr lang="zh-CN" altLang="en-US" dirty="0"/>
              <a:t>和 </a:t>
            </a:r>
            <a:r>
              <a:rPr lang="en-US" dirty="0"/>
              <a:t>update </a:t>
            </a:r>
            <a:r>
              <a:rPr lang="zh-CN" altLang="en-US" dirty="0"/>
              <a:t>的返回值是 </a:t>
            </a:r>
            <a:r>
              <a:rPr lang="en-US" dirty="0"/>
              <a:t>std::</a:t>
            </a:r>
            <a:r>
              <a:rPr lang="en-US" dirty="0" err="1"/>
              <a:t>unique_ptr</a:t>
            </a:r>
            <a:r>
              <a:rPr lang="en-US" dirty="0"/>
              <a:t>&lt;</a:t>
            </a:r>
            <a:r>
              <a:rPr lang="en-US" dirty="0" err="1"/>
              <a:t>PlayerState</a:t>
            </a:r>
            <a:r>
              <a:rPr lang="en-US" dirty="0"/>
              <a:t>&gt;。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67121E-E327-D098-2987-B8DBEE016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286607"/>
              </p:ext>
            </p:extLst>
          </p:nvPr>
        </p:nvGraphicFramePr>
        <p:xfrm>
          <a:off x="1209040" y="2756284"/>
          <a:ext cx="8127999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1510264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362446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90262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含义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226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nullptr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状态不改变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保持当前状态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34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std::make_unique&lt;NewState&gt;()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切换到新状态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PlayerComponent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zh-CN" altLang="en-US" dirty="0">
                          <a:effectLst/>
                        </a:rPr>
                        <a:t>执行状态切换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713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63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3791-E70C-2AD7-C821-D6C5F9326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上下文：</a:t>
            </a:r>
            <a:r>
              <a:rPr lang="en-US" b="1" dirty="0" err="1"/>
              <a:t>PlayerComponent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2B3CD-B1AF-E51E-3573-01252FF7A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PlayerComponent</a:t>
            </a:r>
            <a:r>
              <a:rPr lang="en-US" dirty="0"/>
              <a:t> </a:t>
            </a:r>
            <a:r>
              <a:rPr lang="zh-CN" altLang="en-US" dirty="0"/>
              <a:t>是状态机的管理者。它继承自引擎的 </a:t>
            </a:r>
            <a:r>
              <a:rPr lang="en-US" dirty="0"/>
              <a:t>Component，</a:t>
            </a:r>
            <a:r>
              <a:rPr lang="zh-CN" altLang="en-US" dirty="0"/>
              <a:t>将被添加到玩家 </a:t>
            </a:r>
            <a:r>
              <a:rPr lang="en-US" dirty="0" err="1"/>
              <a:t>GameObject</a:t>
            </a:r>
            <a:r>
              <a:rPr lang="en-US" dirty="0"/>
              <a:t> </a:t>
            </a:r>
            <a:r>
              <a:rPr lang="zh-CN" altLang="en-US" dirty="0"/>
              <a:t>上。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</a:t>
            </a:r>
            <a:r>
              <a:rPr lang="en-US" b="1" dirty="0" err="1"/>
              <a:t>player_component.h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  <a:endParaRPr lang="en-US" altLang="zh-CN" b="1" dirty="0"/>
          </a:p>
          <a:p>
            <a:r>
              <a:rPr lang="en-US" b="1" dirty="0" err="1"/>
              <a:t>src</a:t>
            </a:r>
            <a:r>
              <a:rPr lang="en-US" b="1" dirty="0"/>
              <a:t>/game/component/player_component.cpp（</a:t>
            </a:r>
            <a:r>
              <a:rPr lang="zh-CN" altLang="en-US" b="1" dirty="0"/>
              <a:t>新建文件）</a:t>
            </a:r>
          </a:p>
          <a:p>
            <a:endParaRPr lang="zh-CN" alt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375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D17D-974C-1E73-49AB-6E73CDD3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PlayerComponent</a:t>
            </a:r>
            <a:r>
              <a:rPr lang="en-US" b="1" dirty="0"/>
              <a:t> </a:t>
            </a:r>
            <a:r>
              <a:rPr lang="zh-CN" altLang="en-US" b="1" dirty="0"/>
              <a:t>逻辑详解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DCD9BA-CC81-5CAB-6D05-C73544BC8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1737437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379747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8470771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14410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成员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451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组件缓存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Transform*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Physics*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Sprite*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避免每次调用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getComponent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310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移动参数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move_force_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max_speed_</a:t>
                      </a:r>
                      <a:r>
                        <a:rPr lang="en-US">
                          <a:effectLst/>
                        </a:rPr>
                        <a:t> 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玩家专属的物理参数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798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当前状态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unique_ptr&lt;PlayerState&gt;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持有当前状态对象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929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059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45A4-FC00-1FA2-1584-F6FF52C1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C1D86A-58E5-4CC4-74BE-CA5113091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50" y="252895"/>
            <a:ext cx="3571816" cy="635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30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9091-7AF4-9642-D84D-DC31802D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委托模式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CEB9ED-AA40-9530-9569-0B5E92742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786628"/>
              </p:ext>
            </p:extLst>
          </p:nvPr>
        </p:nvGraphicFramePr>
        <p:xfrm>
          <a:off x="838200" y="1825625"/>
          <a:ext cx="10515597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07514461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92641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2377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67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handleInput()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委托给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current_state_-&gt;handleInput()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不做具体逻辑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643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update()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委托给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current_state_-&gt;update()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只负责状态切换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465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702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B8EB-A6B5-8DDD-2258-EA0F8D46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实现具体状态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D01BEC-6A20-5E39-7B4B-B49978FBA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017" y="1690688"/>
            <a:ext cx="7288993" cy="403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74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A8F1-5902-E6A8-0BF7-D23D13CA9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状态转换表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EE0076-2077-5B22-92C0-9717C3364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8053271"/>
              </p:ext>
            </p:extLst>
          </p:nvPr>
        </p:nvGraphicFramePr>
        <p:xfrm>
          <a:off x="838200" y="1825625"/>
          <a:ext cx="10515597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167937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146932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37552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当前状态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触发条件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目标状态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567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Idle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按下移动键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Walk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336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Idle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按下跳跃键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Jump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57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Idle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脚下无地面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946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Walk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松开移动键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283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Walk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按下跳跃键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Jump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469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Walk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脚下无地面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41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Jump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速度向下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36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Fall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着地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无速度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852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Fall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着地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有速度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Walk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8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118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B67C-FBDD-8C3D-E4AF-7F8E513F0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3.1 </a:t>
            </a:r>
            <a:r>
              <a:rPr lang="zh-CN" altLang="en-US" b="1" dirty="0"/>
              <a:t>站立状态 </a:t>
            </a:r>
            <a:r>
              <a:rPr lang="en-US" b="1" dirty="0" err="1"/>
              <a:t>IdleState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4D284-D6F2-3E3F-64B9-DF24AD5BA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idle_state.h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/game/component/state/idle_state.cpp（</a:t>
            </a:r>
            <a:r>
              <a:rPr lang="zh-CN" altLang="en-US" b="1" dirty="0"/>
              <a:t>新建文件）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111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13C5-C510-60C7-E22B-53A0AC4A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IdleState</a:t>
            </a:r>
            <a:r>
              <a:rPr lang="en-US" b="1" dirty="0"/>
              <a:t> </a:t>
            </a:r>
            <a:r>
              <a:rPr lang="zh-CN" altLang="en-US" b="1" dirty="0"/>
              <a:t>逻辑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B6E527-A25F-6B01-0203-C7B3E59C5A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0331984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3413590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9707045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84732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045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handleInput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检查移动键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按下 → 返回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WalkState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022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检查跳跃键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按下 → 返回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JumpState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998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update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应用摩擦力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velocity.x *= friction_factor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12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检查地面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无地面 → 返回 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FallState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845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063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6456-D268-7C3E-2889-2072A952A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3.2 </a:t>
            </a:r>
            <a:r>
              <a:rPr lang="zh-CN" altLang="en-US" b="1" dirty="0"/>
              <a:t>行走状态 </a:t>
            </a:r>
            <a:r>
              <a:rPr lang="en-US" b="1" dirty="0" err="1"/>
              <a:t>WalkState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92B8F7-CA59-8456-6B7D-836C93EA5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walk_state.h（新建文件</a:t>
            </a:r>
            <a:r>
              <a:rPr lang="en-US" b="1" dirty="0"/>
              <a:t>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walk_state.cpp（新建文件</a:t>
            </a:r>
            <a:r>
              <a:rPr lang="en-US" b="1" dirty="0"/>
              <a:t>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339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F08D-2CC6-A084-54C6-572DF1D7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WalkState</a:t>
            </a:r>
            <a:r>
              <a:rPr lang="en-US" b="1" dirty="0"/>
              <a:t> </a:t>
            </a:r>
            <a:r>
              <a:rPr lang="zh-CN" altLang="en-US" b="1" dirty="0"/>
              <a:t>逻辑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C45944-247C-7338-C0F4-BE52CAD53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0993131"/>
              </p:ext>
            </p:extLst>
          </p:nvPr>
        </p:nvGraphicFramePr>
        <p:xfrm>
          <a:off x="838200" y="1825625"/>
          <a:ext cx="10515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8515378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898751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89004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707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handleInput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优先检测跳跃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按下 → 返回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JumpState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143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检测左移动键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施加向左的力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翻转精灵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039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检测右移动键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施加向右的力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取消翻转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95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无移动键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返回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IdleState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918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update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限制最大速度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glm::clamp()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19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检查地面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无地面 → 返回 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FallState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7718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6A4F2C8-EABF-00B0-CDAD-0BA5FC6878B0}"/>
              </a:ext>
            </a:extLst>
          </p:cNvPr>
          <p:cNvSpPr txBox="1"/>
          <p:nvPr/>
        </p:nvSpPr>
        <p:spPr>
          <a:xfrm>
            <a:off x="937260" y="481543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-apple-system"/>
              </a:rPr>
              <a:t>💡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操控优化技巧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7215E-B3A6-CC75-13B1-7AE0F68C4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866" y="4685764"/>
            <a:ext cx="5150115" cy="6286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FD9697-E4EA-9A6A-B758-FC52A91E1D54}"/>
              </a:ext>
            </a:extLst>
          </p:cNvPr>
          <p:cNvSpPr txBox="1"/>
          <p:nvPr/>
        </p:nvSpPr>
        <p:spPr>
          <a:xfrm>
            <a:off x="3047306" y="544412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效果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：让玩家转向更灵敏，提升操控手感。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220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1FAD-DC6A-7D19-DB73-FBBCEB1B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3.3 </a:t>
            </a:r>
            <a:r>
              <a:rPr lang="zh-CN" altLang="en-US" b="1" dirty="0"/>
              <a:t>跳跃状态 </a:t>
            </a:r>
            <a:r>
              <a:rPr lang="en-US" b="1" dirty="0" err="1"/>
              <a:t>JumpState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A9827-BB33-8325-5F8B-EF72EA767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jump_state.h（新建文件</a:t>
            </a:r>
            <a:r>
              <a:rPr lang="en-US" b="1" dirty="0"/>
              <a:t>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jump_state.cpp（新建文件</a:t>
            </a:r>
            <a:r>
              <a:rPr lang="en-US" b="1" dirty="0"/>
              <a:t>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667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CE61-733F-FFA1-B0AA-01A9CED3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JumpState</a:t>
            </a:r>
            <a:r>
              <a:rPr lang="en-US" b="1" dirty="0"/>
              <a:t> </a:t>
            </a:r>
            <a:r>
              <a:rPr lang="zh-CN" altLang="en-US" b="1" dirty="0"/>
              <a:t>逻辑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C676B4-8B81-EB57-FE50-EE3F2E09B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935050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492123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311729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85491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78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enter()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设置向上速度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velocity.y = -jump_force_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893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这是跳跃的核心实现！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142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handleInput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允许空中左右移动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空中控制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960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update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限制水平速度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glm::clamp()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91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检查垂直速度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velocity.y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 &gt; 0</a:t>
                      </a:r>
                      <a:r>
                        <a:rPr lang="en-US" dirty="0">
                          <a:effectLst/>
                        </a:rPr>
                        <a:t> → </a:t>
                      </a:r>
                      <a:r>
                        <a:rPr lang="zh-CN" altLang="en-US" dirty="0">
                          <a:effectLst/>
                        </a:rPr>
                        <a:t>返回 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FallState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443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983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3725-06DF-CB17-CABC-B93E1D99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849A98-4533-BD37-C8B5-07DFF11A1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633" y="365125"/>
            <a:ext cx="4990891" cy="608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8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FB05-A16E-D93D-8AED-B8D556C8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3.4 </a:t>
            </a:r>
            <a:r>
              <a:rPr lang="zh-CN" altLang="en-US" b="1" dirty="0"/>
              <a:t>下落状态 </a:t>
            </a:r>
            <a:r>
              <a:rPr lang="en-US" b="1" dirty="0" err="1"/>
              <a:t>FallState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2BBB3-D709-F411-FB41-D82113EE0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fall_state.h（新建文件</a:t>
            </a:r>
            <a:r>
              <a:rPr lang="en-US" b="1" dirty="0"/>
              <a:t>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fall_state.cpp（新建文件</a:t>
            </a:r>
            <a:r>
              <a:rPr lang="en-US" b="1" dirty="0"/>
              <a:t>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709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24FCD-0899-C66F-71E2-46093661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FallState</a:t>
            </a:r>
            <a:r>
              <a:rPr lang="en-US" b="1" dirty="0"/>
              <a:t> </a:t>
            </a:r>
            <a:r>
              <a:rPr lang="zh-CN" altLang="en-US" b="1" dirty="0"/>
              <a:t>逻辑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C99D7D-989C-C770-B7BB-B335643A06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482865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9192863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37745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57485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605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handleInput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允许空中左右移动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与 </a:t>
                      </a:r>
                      <a:r>
                        <a:rPr lang="en-US">
                          <a:effectLst/>
                        </a:rPr>
                        <a:t>JumpState </a:t>
                      </a:r>
                      <a:r>
                        <a:rPr lang="zh-CN" altLang="en-US">
                          <a:effectLst/>
                        </a:rPr>
                        <a:t>相同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816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update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限制水平速度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glm::clamp()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13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检查是否着地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hasCollidedBelow()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54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着地后判断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速度小 →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IdleState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348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速度大 → 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WalkState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664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60BA2B-5A65-9D84-B18A-E842109F8516}"/>
              </a:ext>
            </a:extLst>
          </p:cNvPr>
          <p:cNvSpPr txBox="1"/>
          <p:nvPr/>
        </p:nvSpPr>
        <p:spPr>
          <a:xfrm>
            <a:off x="904010" y="4316676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💡 着地逻辑优化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C559FC-9FC7-94B7-A198-856A009D8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594" y="4316676"/>
            <a:ext cx="4692891" cy="958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633D3D-89C6-7C72-FBA8-F8463E3A0BC5}"/>
              </a:ext>
            </a:extLst>
          </p:cNvPr>
          <p:cNvSpPr txBox="1"/>
          <p:nvPr/>
        </p:nvSpPr>
        <p:spPr>
          <a:xfrm>
            <a:off x="3264823" y="5541586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效果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：落地后如果有水平速度，会继续行走，感觉更自然。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158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AEDEC-B982-7B28-A62A-DF95DD31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集成到 </a:t>
            </a:r>
            <a:r>
              <a:rPr lang="en-US" b="1" dirty="0" err="1"/>
              <a:t>GameScene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E229-A885-B776-5860-9E20A6DA1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现在，万事俱备，我们只需要在 </a:t>
            </a:r>
            <a:r>
              <a:rPr lang="en-US" dirty="0" err="1"/>
              <a:t>GameScene</a:t>
            </a:r>
            <a:r>
              <a:rPr lang="en-US" dirty="0"/>
              <a:t> </a:t>
            </a:r>
            <a:r>
              <a:rPr lang="zh-CN" altLang="en-US" dirty="0"/>
              <a:t>中使用新的 </a:t>
            </a:r>
            <a:r>
              <a:rPr lang="en-US" dirty="0" err="1"/>
              <a:t>PlayerComponent</a:t>
            </a:r>
            <a:r>
              <a:rPr lang="en-US" dirty="0"/>
              <a:t>，</a:t>
            </a:r>
            <a:r>
              <a:rPr lang="zh-CN" altLang="en-US" dirty="0"/>
              <a:t>并移除旧的测试代码。</a:t>
            </a:r>
            <a:endParaRPr lang="en-US" altLang="zh-CN" dirty="0"/>
          </a:p>
          <a:p>
            <a:r>
              <a:rPr lang="en-US" b="1" dirty="0" err="1"/>
              <a:t>src</a:t>
            </a:r>
            <a:r>
              <a:rPr lang="en-US" b="1" dirty="0"/>
              <a:t>/game/scene/</a:t>
            </a:r>
            <a:r>
              <a:rPr lang="en-US" b="1" dirty="0" err="1"/>
              <a:t>game_scene.h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244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6AAA-B5E4-8D56-20F0-B63156FC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重构要点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63547C-F95F-60B1-5A68-A8350CE0FC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323015"/>
              </p:ext>
            </p:extLst>
          </p:nvPr>
        </p:nvGraphicFramePr>
        <p:xfrm>
          <a:off x="838200" y="1825625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16368764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6629944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99633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371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移除测试函数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删除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TestPlayer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代码更简洁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030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拆分 </a:t>
                      </a:r>
                      <a:r>
                        <a:rPr lang="en-US" b="1">
                          <a:effectLst/>
                        </a:rPr>
                        <a:t>init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initLevel()</a:t>
                      </a:r>
                      <a:r>
                        <a:rPr lang="en-US">
                          <a:effectLst/>
                        </a:rPr>
                        <a:t> +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initPlayer()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职责更单一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698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添加 </a:t>
                      </a:r>
                      <a:r>
                        <a:rPr lang="en-US" b="1">
                          <a:effectLst/>
                        </a:rPr>
                        <a:t>PlayerComponent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addComponent&lt;PlayerComponent&gt;()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状态机自动运转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230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简化循环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只调用基类方法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引擎自动处理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810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026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774B-B816-5EC7-97F9-E2B16684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A8A0BA-727D-ED45-6D0D-C189A0F08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803" y="1589076"/>
            <a:ext cx="2923422" cy="435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37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43EC-6F39-8C29-C00F-E348368E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39B8-CC05-D604-7FCB-8FC5C97C8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✅ </a:t>
            </a:r>
            <a:r>
              <a:rPr lang="zh-CN" altLang="en-US" b="1" dirty="0"/>
              <a:t>状态设计模式</a:t>
            </a:r>
            <a:r>
              <a:rPr lang="zh-CN" altLang="en-US" dirty="0"/>
              <a:t>：优雅的状态管理架构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四种基本状态</a:t>
            </a:r>
            <a:r>
              <a:rPr lang="zh-CN" altLang="en-US" dirty="0"/>
              <a:t>：</a:t>
            </a:r>
            <a:r>
              <a:rPr lang="en-US" altLang="zh-CN" dirty="0"/>
              <a:t>Idle</a:t>
            </a:r>
            <a:r>
              <a:rPr lang="zh-CN" altLang="en-US" dirty="0"/>
              <a:t>、</a:t>
            </a:r>
            <a:r>
              <a:rPr lang="en-US" altLang="zh-CN" dirty="0"/>
              <a:t>Walk</a:t>
            </a:r>
            <a:r>
              <a:rPr lang="zh-CN" altLang="en-US" dirty="0"/>
              <a:t>、</a:t>
            </a:r>
            <a:r>
              <a:rPr lang="en-US" altLang="zh-CN" dirty="0"/>
              <a:t>Jump</a:t>
            </a:r>
            <a:r>
              <a:rPr lang="zh-CN" altLang="en-US" dirty="0"/>
              <a:t>、</a:t>
            </a:r>
            <a:r>
              <a:rPr lang="en-US" altLang="zh-CN" dirty="0"/>
              <a:t>Fall</a:t>
            </a:r>
          </a:p>
          <a:p>
            <a:r>
              <a:rPr lang="en-US" altLang="zh-CN" dirty="0"/>
              <a:t>✅ </a:t>
            </a:r>
            <a:r>
              <a:rPr lang="zh-CN" altLang="en-US" b="1" dirty="0"/>
              <a:t>碰撞信息系统</a:t>
            </a:r>
            <a:r>
              <a:rPr lang="zh-CN" altLang="en-US" dirty="0"/>
              <a:t>：物理引擎提供状态判断依据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组件化设计</a:t>
            </a:r>
            <a:r>
              <a:rPr lang="zh-CN" altLang="en-US" dirty="0"/>
              <a:t>：</a:t>
            </a:r>
            <a:r>
              <a:rPr lang="en-US" altLang="zh-CN" dirty="0" err="1"/>
              <a:t>PlayerComponent</a:t>
            </a:r>
            <a:r>
              <a:rPr lang="en-US" altLang="zh-CN" dirty="0"/>
              <a:t> </a:t>
            </a:r>
            <a:r>
              <a:rPr lang="zh-CN" altLang="en-US" dirty="0"/>
              <a:t>完全解耦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自动状态切换</a:t>
            </a:r>
            <a:r>
              <a:rPr lang="zh-CN" altLang="en-US" dirty="0"/>
              <a:t>：基于输入和物理状态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易于扩展</a:t>
            </a:r>
            <a:r>
              <a:rPr lang="zh-CN" altLang="en-US" dirty="0"/>
              <a:t>：轻松添加新状态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99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FD783-4ADE-FA00-9207-FEF38C9FE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状态模式的优势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47461A-B67F-C6F1-1D53-B570CE3E89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864314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982437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679367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02828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对比项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传统 </a:t>
                      </a:r>
                      <a:r>
                        <a:rPr lang="en-US" b="1">
                          <a:effectLst/>
                        </a:rPr>
                        <a:t>if-else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状态模式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25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可读性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 </a:t>
                      </a:r>
                      <a:r>
                        <a:rPr lang="zh-CN" altLang="en-US">
                          <a:effectLst/>
                        </a:rPr>
                        <a:t>嵌套复杂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 </a:t>
                      </a:r>
                      <a:r>
                        <a:rPr lang="zh-CN" altLang="en-US">
                          <a:effectLst/>
                        </a:rPr>
                        <a:t>清晰明了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380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可维护性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 </a:t>
                      </a:r>
                      <a:r>
                        <a:rPr lang="zh-CN" altLang="en-US">
                          <a:effectLst/>
                        </a:rPr>
                        <a:t>难以修改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 </a:t>
                      </a:r>
                      <a:r>
                        <a:rPr lang="zh-CN" altLang="en-US">
                          <a:effectLst/>
                        </a:rPr>
                        <a:t>独立修改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79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可扩展性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需要修改多处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✅ 只需添加新类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98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状态明确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难以判断当前状态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 </a:t>
                      </a:r>
                      <a:r>
                        <a:rPr lang="zh-CN" altLang="en-US">
                          <a:effectLst/>
                        </a:rPr>
                        <a:t>一目了然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8165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逻辑分散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集中在一个函数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✅ 每个状态独立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155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8717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F73F-C1CC-B2A2-4542-82917174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6077" y="18255"/>
            <a:ext cx="10515600" cy="1325563"/>
          </a:xfrm>
        </p:spPr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A9CD2-B0E3-1F39-0E63-EB0DD0D35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7" y="1163782"/>
            <a:ext cx="11962015" cy="5611091"/>
          </a:xfrm>
        </p:spPr>
        <p:txBody>
          <a:bodyPr>
            <a:normAutofit/>
          </a:bodyPr>
          <a:lstStyle/>
          <a:p>
            <a:r>
              <a:rPr lang="zh-CN" altLang="en-US" b="1" dirty="0"/>
              <a:t>关键要点：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🎯 状态设计模式将行为封装成独立对象</a:t>
            </a:r>
          </a:p>
          <a:p>
            <a:pPr marL="0" indent="0">
              <a:buNone/>
            </a:pPr>
            <a:r>
              <a:rPr lang="zh-CN" altLang="en-US" dirty="0"/>
              <a:t>🔄 </a:t>
            </a:r>
            <a:r>
              <a:rPr lang="en-US" altLang="zh-CN" dirty="0" err="1"/>
              <a:t>PlayerComponent</a:t>
            </a:r>
            <a:r>
              <a:rPr lang="en-US" altLang="zh-CN" dirty="0"/>
              <a:t> </a:t>
            </a:r>
            <a:r>
              <a:rPr lang="zh-CN" altLang="en-US" dirty="0"/>
              <a:t>作为上下文管理状态</a:t>
            </a:r>
          </a:p>
          <a:p>
            <a:pPr marL="0" indent="0">
              <a:buNone/>
            </a:pPr>
            <a:r>
              <a:rPr lang="zh-CN" altLang="en-US" dirty="0"/>
              <a:t>📊 物理引擎提供碰撞信息供状态判断</a:t>
            </a:r>
          </a:p>
          <a:p>
            <a:pPr marL="0" indent="0">
              <a:buNone/>
            </a:pPr>
            <a:r>
              <a:rPr lang="zh-CN" altLang="en-US" dirty="0"/>
              <a:t>🎮 四种基本状态覆盖常见玩家行为</a:t>
            </a:r>
          </a:p>
          <a:p>
            <a:pPr marL="0" indent="0">
              <a:buNone/>
            </a:pPr>
            <a:r>
              <a:rPr lang="zh-CN" altLang="en-US" dirty="0"/>
              <a:t>🧩 每个状态独立实现，易于维护</a:t>
            </a:r>
          </a:p>
          <a:p>
            <a:pPr marL="0" indent="0">
              <a:buNone/>
            </a:pPr>
            <a:r>
              <a:rPr lang="zh-CN" altLang="en-US" dirty="0"/>
              <a:t>⚡ 自动委托机制让代码清晰简洁</a:t>
            </a:r>
          </a:p>
          <a:p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：状态模式是面向对象设计的经典模式之一。它通过将每种行为封装成独立的类，避免了复杂的 </a:t>
            </a:r>
            <a:r>
              <a:rPr lang="en-US" altLang="zh-CN" dirty="0"/>
              <a:t>if-else </a:t>
            </a:r>
            <a:r>
              <a:rPr lang="zh-CN" altLang="en-US" dirty="0"/>
              <a:t>嵌套，让代码结构异常清晰。这不仅让当前的逻辑更易维护，也为未来添加更复杂的行为（如攻击、攀爬、受伤）打下了坚实的基础。这是从</a:t>
            </a:r>
            <a:r>
              <a:rPr lang="en-US" altLang="zh-CN" dirty="0"/>
              <a:t>"</a:t>
            </a:r>
            <a:r>
              <a:rPr lang="zh-CN" altLang="en-US" dirty="0"/>
              <a:t>能运行</a:t>
            </a:r>
            <a:r>
              <a:rPr lang="en-US" altLang="zh-CN" dirty="0"/>
              <a:t>"</a:t>
            </a:r>
            <a:r>
              <a:rPr lang="zh-CN" altLang="en-US" dirty="0"/>
              <a:t>到</a:t>
            </a:r>
            <a:r>
              <a:rPr lang="en-US" altLang="zh-CN" dirty="0"/>
              <a:t>"</a:t>
            </a:r>
            <a:r>
              <a:rPr lang="zh-CN" altLang="en-US" dirty="0"/>
              <a:t>好维护</a:t>
            </a:r>
            <a:r>
              <a:rPr lang="en-US" altLang="zh-CN" dirty="0"/>
              <a:t>"</a:t>
            </a:r>
            <a:r>
              <a:rPr lang="zh-CN" altLang="en-US" dirty="0"/>
              <a:t>的关键一步！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50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91398-E659-2804-F7D0-C7BF835D9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现在我们将实现 </a:t>
            </a:r>
            <a:r>
              <a:rPr lang="zh-CN" altLang="en-US" b="1" dirty="0"/>
              <a:t>动画组件与动画载入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F7A95-DB1B-4528-5E96-0F1B30896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🎬 动画系统架构</a:t>
            </a:r>
          </a:p>
          <a:p>
            <a:r>
              <a:rPr lang="zh-CN" altLang="en-US" dirty="0"/>
              <a:t>📽️ 序列帧动画播放</a:t>
            </a:r>
          </a:p>
          <a:p>
            <a:r>
              <a:rPr lang="zh-CN" altLang="en-US" dirty="0"/>
              <a:t>🔗 状态与动画联动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4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1550</Words>
  <Application>Microsoft Office PowerPoint</Application>
  <PresentationFormat>Widescreen</PresentationFormat>
  <Paragraphs>287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-apple-system</vt:lpstr>
      <vt:lpstr>source-code-pro</vt:lpstr>
      <vt:lpstr>Aptos</vt:lpstr>
      <vt:lpstr>Aptos Display</vt:lpstr>
      <vt:lpstr>Arial</vt:lpstr>
      <vt:lpstr>Office Theme</vt:lpstr>
      <vt:lpstr>玩家组件与状态机</vt:lpstr>
      <vt:lpstr>📌 问题背景</vt:lpstr>
      <vt:lpstr>PowerPoint Presentation</vt:lpstr>
      <vt:lpstr>💡 解决方案：状态设计模式</vt:lpstr>
      <vt:lpstr>🎯 本课目标</vt:lpstr>
      <vt:lpstr>1. 物理引擎升级：提供碰撞信息</vt:lpstr>
      <vt:lpstr>1.1 PhysicsComponent 中添加碰撞标志</vt:lpstr>
      <vt:lpstr>⚠️ 重要细节</vt:lpstr>
      <vt:lpstr>1.2 PhysicsEngine 记录碰撞信息</vt:lpstr>
      <vt:lpstr>2. 构建状态机框架</vt:lpstr>
      <vt:lpstr>架构组成</vt:lpstr>
      <vt:lpstr>2.1 状态基类：PlayerState</vt:lpstr>
      <vt:lpstr>PowerPoint Presentation</vt:lpstr>
      <vt:lpstr>💡 核心设计</vt:lpstr>
      <vt:lpstr>2.2 上下文：PlayerComponent</vt:lpstr>
      <vt:lpstr>PlayerComponent 逻辑详解</vt:lpstr>
      <vt:lpstr>PowerPoint Presentation</vt:lpstr>
      <vt:lpstr>委托模式</vt:lpstr>
      <vt:lpstr>3. 实现具体状态</vt:lpstr>
      <vt:lpstr>状态转换表</vt:lpstr>
      <vt:lpstr>3.1 站立状态 IdleState</vt:lpstr>
      <vt:lpstr>IdleState 逻辑</vt:lpstr>
      <vt:lpstr>3.2 行走状态 WalkState</vt:lpstr>
      <vt:lpstr>WalkState 逻辑</vt:lpstr>
      <vt:lpstr>3.3 跳跃状态 JumpState</vt:lpstr>
      <vt:lpstr>JumpState 逻辑</vt:lpstr>
      <vt:lpstr>PowerPoint Presentation</vt:lpstr>
      <vt:lpstr>3.4 下落状态 FallState</vt:lpstr>
      <vt:lpstr>FallState 逻辑</vt:lpstr>
      <vt:lpstr>4. 集成到 GameScene</vt:lpstr>
      <vt:lpstr>重构要点</vt:lpstr>
      <vt:lpstr>🎯 系统架构总结</vt:lpstr>
      <vt:lpstr>核心成就</vt:lpstr>
      <vt:lpstr>状态模式的优势</vt:lpstr>
      <vt:lpstr>📚 总结</vt:lpstr>
      <vt:lpstr>现在我们将实现 动画组件与动画载入：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2</cp:revision>
  <dcterms:created xsi:type="dcterms:W3CDTF">2025-11-15T09:26:54Z</dcterms:created>
  <dcterms:modified xsi:type="dcterms:W3CDTF">2025-11-16T05:11:13Z</dcterms:modified>
</cp:coreProperties>
</file>