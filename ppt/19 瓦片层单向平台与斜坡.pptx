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0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CE0C-8481-8E30-037D-E98BE06E9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41492-D46D-62D6-E036-1913C75F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D0821-80BD-DE60-898F-25EDEF85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92747-260F-48AD-1B0F-8BF9855A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4E6F7-F3E2-3FB3-E28A-D217E4F9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103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2463-CAA6-5753-AD48-A5F29FED5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B357C2-A5F7-EB17-5C49-EF7EC39C0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0213B-6EE8-30E3-DA29-AE0B6E781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5D060-7C2B-D719-8977-352850137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3717B-160C-5326-6527-749975CE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72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920F-0BF0-5E0D-1A16-38533413E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011623-6132-A8EC-9726-163D429EA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EED02-1392-F851-20F2-9E983964F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0DE62-DECE-F351-6D8F-C5ABAF33F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D63F9-7C9A-53A8-574A-D20627D9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628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911D-B6FC-7673-ABDB-B8493F53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D047E-B534-90A6-3F03-3270D6383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1A94FC-7C30-5F08-8B7E-0E35F5A5FB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8E9BA-B72A-9C1E-DFED-46CB7592A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A6764-6682-5393-BA00-3559AD31F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6EBA-3F39-BC0E-4FD5-902550E1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70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59D8B-4C33-929E-1EB2-836703AA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0D863E-D8DD-97FF-EC1B-D9AA5980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C86BF-3C63-C37D-647F-33161F4DD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9FFF-BA7C-2D17-99B3-09FC9761AF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13805-99BF-1DC5-90DB-ECA340900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F2B6A0-7401-14A8-C45C-2567A26C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44387-3B22-A8D6-A072-EE52894E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F2D83F-8706-CEB4-86F7-EB6CCB2A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99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A47A-486A-F25E-8FA5-7A6354FB8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F55F1D-5E4D-2BAB-8D2D-CB37EB1BC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DA476-7CAF-6E8F-7BE0-551979122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DA75F-A3ED-DA28-42EC-01BC52E9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70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F5159-AFC3-87F0-7AD1-68EA7FCD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590E9F-BC5D-897F-AA9C-54702E980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B85A6-597D-A14E-5A72-B43FD4C8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7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78AC7-BE57-AD07-367A-A5F576FE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23E8C-A571-56CC-7397-2757D769C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774EE-604C-AE94-67FC-81AFAA4C9C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B4980-6166-3929-379A-081136D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575D8-9E1C-EF9A-9499-BDC4DBF0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7826B-975B-9B65-700D-0F98D31CD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6804-817B-B6B1-8167-285E27093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CB1093-A3C0-37FA-9964-430AE5AB1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0EA70-8FDF-BF3D-C9CD-A28AD4F22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51192-EF92-A2A5-A4B1-576290468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E3B8D-57C7-D6A4-35B9-01C4636E0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8F734-2F69-2B71-7DCC-A7F0697E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03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41D63-CC77-F5B7-D69B-C1B5237E0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DF526-72EA-BFB5-71EF-31EDBD76C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1825-6573-415C-72E4-472C6594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3C13F-E9F3-AD93-F8C3-609BBC00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C982BC-B171-FCE0-D19E-5C2025B3E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1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FB6ACA-40E5-A43D-DB68-8B37B8E992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626E8-45CF-E542-F577-680F36D34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2418B-2A8B-BE50-26A7-ED04B3278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5CABB-0980-1C10-8420-7F361EFE1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5AAAC-27C3-83FD-D963-EA1E23501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86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EAD31-44FF-EF9F-31A2-F013AB4F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B4C6F-5646-5BD3-9A01-5655F61F9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485A5-3AE1-0D3C-C6C6-CC44D63CD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6069F-DD8A-499F-A69C-7418DC42B8A5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5D1F3D-FEEA-BF7A-F9F3-A9942A6FE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E6438-0DA2-8728-54EE-3CD886696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2FA31-91A7-4086-8BAA-7EA3A4222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27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A6056-9D9F-4955-3616-88FEDF91EE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瓦片层单向平台与斜坡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718C52-7223-F39D-B66B-2E9D53B25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8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66536-FA7C-66A2-E2FD-089B07325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📌 </a:t>
            </a:r>
            <a:r>
              <a:rPr lang="zh-CN" altLang="en-US" b="1" dirty="0"/>
              <a:t>问题背景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F285B-7ED7-C039-7A7C-DA6BF877E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我们的物理世界已经有了坚实的地面和障碍物，但一个优秀的平台游戏需要更丰富的地形来增加趣味性和挑战性。本节课，我们将为引擎引入两个经典的地形特性：</a:t>
            </a:r>
            <a:r>
              <a:rPr lang="zh-CN" altLang="en-US" b="1" dirty="0"/>
              <a:t>单向平台（</a:t>
            </a:r>
            <a:r>
              <a:rPr lang="en-US" altLang="zh-CN" b="1" dirty="0"/>
              <a:t>One-Way Platforms</a:t>
            </a:r>
            <a:r>
              <a:rPr lang="zh-CN" altLang="en-US" b="1" dirty="0"/>
              <a:t>）</a:t>
            </a:r>
            <a:r>
              <a:rPr lang="zh-CN" altLang="en-US" dirty="0"/>
              <a:t> 和 </a:t>
            </a:r>
            <a:r>
              <a:rPr lang="zh-CN" altLang="en-US" b="1" dirty="0"/>
              <a:t>斜坡（</a:t>
            </a:r>
            <a:r>
              <a:rPr lang="en-US" altLang="zh-CN" b="1" dirty="0"/>
              <a:t>Slopes</a:t>
            </a:r>
            <a:r>
              <a:rPr lang="zh-CN" altLang="en-US" b="1" dirty="0"/>
              <a:t>）</a:t>
            </a:r>
            <a:r>
              <a:rPr lang="zh-CN" altLang="en-US" dirty="0"/>
              <a:t>。</a:t>
            </a:r>
          </a:p>
          <a:p>
            <a:r>
              <a:rPr lang="zh-CN" altLang="en-US" dirty="0"/>
              <a:t>同时，为了提升游戏体验，我们还会实现一个 </a:t>
            </a:r>
            <a:r>
              <a:rPr lang="zh-CN" altLang="en-US" b="1" dirty="0"/>
              <a:t>平滑跟随玩家的相机</a:t>
            </a:r>
            <a:r>
              <a:rPr lang="zh-CN" altLang="en-US" dirty="0"/>
              <a:t>，并设置 </a:t>
            </a:r>
            <a:r>
              <a:rPr lang="zh-CN" altLang="en-US" b="1" dirty="0"/>
              <a:t>世界边界</a:t>
            </a:r>
            <a:r>
              <a:rPr lang="zh-CN" altLang="en-US" dirty="0"/>
              <a:t> 来防止玩家掉出地图。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471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7E5A-1DF0-85E0-8CC9-4D3397D55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🎯 </a:t>
            </a:r>
            <a:r>
              <a:rPr lang="zh-CN" altLang="en-US" b="1" dirty="0"/>
              <a:t>本课目标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5FAE90-9CA3-454E-A685-4CC48CF80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2607946"/>
              </p:ext>
            </p:extLst>
          </p:nvPr>
        </p:nvGraphicFramePr>
        <p:xfrm>
          <a:off x="838200" y="1825625"/>
          <a:ext cx="105156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935505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9049470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目标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42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单向平台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可以从下方跳上，不能从上方穿下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251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斜坡系统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支持多种角度的斜坡，平滑移动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80132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平滑相机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自动跟随玩家，线性插值平滑移动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441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世界边界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防止玩家掉出地图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3623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914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F0FA-BBB0-1399-B2D1-BA81242ED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710FCD-C117-2956-86DE-C49E9F548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0032" y="933175"/>
            <a:ext cx="8533301" cy="4647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564C-ACCA-3847-2B87-C64097403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1. </a:t>
            </a:r>
            <a:r>
              <a:rPr lang="zh-CN" altLang="en-US" b="1" dirty="0"/>
              <a:t>单向平台（</a:t>
            </a:r>
            <a:r>
              <a:rPr lang="en-US" b="1" dirty="0"/>
              <a:t>Uni-directional Solid）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A2DB6-53B2-D67C-6522-27D5D4601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单向平台，也常被称为 </a:t>
            </a:r>
            <a:r>
              <a:rPr lang="en-US" altLang="zh-CN" b="1" dirty="0"/>
              <a:t>"</a:t>
            </a:r>
            <a:r>
              <a:rPr lang="zh-CN" altLang="en-US" b="1" dirty="0"/>
              <a:t>跳台</a:t>
            </a:r>
            <a:r>
              <a:rPr lang="en-US" altLang="zh-CN" b="1" dirty="0"/>
              <a:t>"</a:t>
            </a:r>
            <a:r>
              <a:rPr lang="zh-CN" altLang="en-US" dirty="0"/>
              <a:t>，是一种玩家可以从下方跳上来，但不能从上方穿下去的平台。这是平台游戏中的经典设计，极大地丰富了关卡的立体感。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3EE878-0391-7486-51FF-87660F601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682" y="3064767"/>
            <a:ext cx="3238666" cy="3295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31B9-C0CC-F8AB-DAEB-BC2319A7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Tiled </a:t>
            </a:r>
            <a:r>
              <a:rPr lang="zh-CN" altLang="en-US" b="1" dirty="0"/>
              <a:t>设置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FA9591-B7F6-E530-4219-8E49444BC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我们在图块集（</a:t>
            </a:r>
            <a:r>
              <a:rPr lang="en-US" altLang="zh-CN" dirty="0"/>
              <a:t>.</a:t>
            </a:r>
            <a:r>
              <a:rPr lang="en-US" altLang="zh-CN" dirty="0" err="1"/>
              <a:t>tsj</a:t>
            </a:r>
            <a:r>
              <a:rPr lang="zh-CN" altLang="en-US" dirty="0"/>
              <a:t>）中，为用作单向平台的瓦片添加一个新的自定义属性：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F2E530-BBC9-B0A2-38AA-D8A5A1ED3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943520"/>
              </p:ext>
            </p:extLst>
          </p:nvPr>
        </p:nvGraphicFramePr>
        <p:xfrm>
          <a:off x="1017954" y="2771205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9660160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444569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属性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76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名称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unisolid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4078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类型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bool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6840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值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true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8471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109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1401-D773-4697-1805-A92B13D89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2. </a:t>
            </a:r>
            <a:r>
              <a:rPr lang="zh-CN" altLang="en-US" b="1" dirty="0"/>
              <a:t>单向平台实现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BC1C-FFFA-8599-AF8E-928615FF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扩展 </a:t>
            </a:r>
            <a:r>
              <a:rPr lang="en-US" b="1" dirty="0" err="1"/>
              <a:t>TileType</a:t>
            </a:r>
            <a:endParaRPr lang="en-US" b="1" dirty="0"/>
          </a:p>
          <a:p>
            <a:pPr marL="0" indent="0">
              <a:buNone/>
            </a:pPr>
            <a:r>
              <a:rPr lang="zh-CN" altLang="en-US" dirty="0"/>
              <a:t>我们在 </a:t>
            </a:r>
            <a:r>
              <a:rPr lang="en-US" dirty="0" err="1"/>
              <a:t>tilelayer_component.h</a:t>
            </a:r>
            <a:r>
              <a:rPr lang="en-US" dirty="0"/>
              <a:t> </a:t>
            </a:r>
            <a:r>
              <a:rPr lang="zh-CN" altLang="en-US" dirty="0"/>
              <a:t>中添加新的类型来识别这种平台。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b="1" dirty="0"/>
              <a:t>engine/component/</a:t>
            </a:r>
            <a:r>
              <a:rPr lang="en-US" b="1" dirty="0" err="1"/>
              <a:t>tilelayer_component.h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pPr marL="0" indent="0">
              <a:buNone/>
            </a:pPr>
            <a:endParaRPr lang="zh-CN" alt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CF8692-3DCA-AE71-82FB-341683F6E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65" y="3844378"/>
            <a:ext cx="7950609" cy="222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53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7B5A-A93A-3402-578F-A33173AB7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更新 </a:t>
            </a:r>
            <a:r>
              <a:rPr lang="en-US" b="1" dirty="0" err="1"/>
              <a:t>LevelLoader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45BDD-1183-B228-5DCB-A025C2D1A6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让 </a:t>
            </a:r>
            <a:r>
              <a:rPr lang="en-US" dirty="0" err="1"/>
              <a:t>LevelLoader</a:t>
            </a:r>
            <a:r>
              <a:rPr lang="en-US" dirty="0"/>
              <a:t> </a:t>
            </a:r>
            <a:r>
              <a:rPr lang="zh-CN" altLang="en-US" dirty="0"/>
              <a:t>能够识别 </a:t>
            </a:r>
            <a:r>
              <a:rPr lang="en-US" dirty="0" err="1"/>
              <a:t>unisolid</a:t>
            </a:r>
            <a:r>
              <a:rPr lang="en-US" dirty="0"/>
              <a:t> </a:t>
            </a:r>
            <a:r>
              <a:rPr lang="zh-CN" altLang="en-US" dirty="0"/>
              <a:t>属性。</a:t>
            </a:r>
          </a:p>
          <a:p>
            <a:r>
              <a:rPr lang="en-US" b="1" dirty="0"/>
              <a:t>engine/scene/level_loader.cpp（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F98D9-79D4-9813-2100-8432123561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334" y="2825182"/>
            <a:ext cx="2787793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61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E9877-7E2D-14B8-8FB1-B1399B9CB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修改 </a:t>
            </a:r>
            <a:r>
              <a:rPr lang="en-US" b="1" dirty="0" err="1"/>
              <a:t>PhysicsEngine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DFF18-3E31-F33E-B676-9E91148E7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这是 </a:t>
            </a:r>
            <a:r>
              <a:rPr lang="zh-CN" altLang="en-US" b="1" dirty="0"/>
              <a:t>关键一步</a:t>
            </a:r>
            <a:r>
              <a:rPr lang="zh-CN" altLang="en-US" dirty="0"/>
              <a:t>。在 </a:t>
            </a:r>
            <a:r>
              <a:rPr lang="en-US" dirty="0" err="1"/>
              <a:t>resolveTileCollisions</a:t>
            </a:r>
            <a:r>
              <a:rPr lang="en-US" dirty="0"/>
              <a:t> </a:t>
            </a:r>
            <a:r>
              <a:rPr lang="zh-CN" altLang="en-US" dirty="0"/>
              <a:t>中，我们只在物体 </a:t>
            </a:r>
            <a:r>
              <a:rPr lang="zh-CN" altLang="en-US" b="1" dirty="0"/>
              <a:t>向下移动</a:t>
            </a:r>
            <a:r>
              <a:rPr lang="zh-CN" altLang="en-US" dirty="0"/>
              <a:t> 时才将 </a:t>
            </a:r>
            <a:r>
              <a:rPr lang="en-US" dirty="0"/>
              <a:t>UNISOLID </a:t>
            </a:r>
            <a:r>
              <a:rPr lang="zh-CN" altLang="en-US" dirty="0"/>
              <a:t>瓦片视为障碍物。</a:t>
            </a:r>
          </a:p>
          <a:p>
            <a:r>
              <a:rPr lang="en-US" b="1" dirty="0"/>
              <a:t>engine/physics/physics_engine.cpp（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35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3504C-4A1E-E0A3-A7A3-1C62AE4D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碰撞检测逻辑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8A0982-614D-484A-4EF5-30465022F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802266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38734699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153711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218735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352237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移动方向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SOLID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UNISOLID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8366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向下 ↓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产生碰撞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产生碰撞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可以站立在上面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9271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向上 ↑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产生碰撞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不碰撞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可以从下方穿过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210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水平 ←→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产生碰撞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不碰撞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不阻挡横向移动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8217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67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D8855-F8FA-6CB3-B70E-2A3AB0E47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3. </a:t>
            </a:r>
            <a:r>
              <a:rPr lang="zh-CN" altLang="en-US" b="1" dirty="0"/>
              <a:t>斜坡（</a:t>
            </a:r>
            <a:r>
              <a:rPr lang="en-US" b="1" dirty="0"/>
              <a:t>Slopes）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3521C-1605-D0CD-4CD9-982300C9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处理斜坡是平台游戏物理引擎中的一个 </a:t>
            </a:r>
            <a:r>
              <a:rPr lang="zh-CN" altLang="en-US" b="1" dirty="0"/>
              <a:t>经典难题</a:t>
            </a:r>
            <a:r>
              <a:rPr lang="zh-CN" altLang="en-US" dirty="0"/>
              <a:t>。我们的目标是让角色能够在斜坡上平滑地上下行走，而不是被卡住或抖动。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E67F6-0BF6-983A-A649-ACF2A75FE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793" y="2892592"/>
            <a:ext cx="5359675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22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DBF9-53E7-E595-3F6B-DD584DBC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Tiled </a:t>
            </a:r>
            <a:r>
              <a:rPr lang="zh-CN" altLang="en-US" b="1" dirty="0"/>
              <a:t>设置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3C6A7-172B-3060-E742-43C9574E3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040"/>
            <a:ext cx="10515600" cy="4351338"/>
          </a:xfrm>
        </p:spPr>
        <p:txBody>
          <a:bodyPr/>
          <a:lstStyle/>
          <a:p>
            <a:r>
              <a:rPr lang="zh-CN" altLang="en-US" dirty="0"/>
              <a:t>我们为斜坡瓦片定义一个 </a:t>
            </a:r>
            <a:r>
              <a:rPr lang="en-US" altLang="zh-CN" dirty="0"/>
              <a:t>slope</a:t>
            </a:r>
            <a:r>
              <a:rPr lang="zh-CN" altLang="en-US" dirty="0"/>
              <a:t>（字符串类型）的自定义属性。属性的值描述了斜坡的形状，格式为 </a:t>
            </a:r>
            <a:r>
              <a:rPr lang="en-US" altLang="zh-CN" b="1" dirty="0"/>
              <a:t>"</a:t>
            </a:r>
            <a:r>
              <a:rPr lang="zh-CN" altLang="en-US" b="1" dirty="0"/>
              <a:t>左侧高度</a:t>
            </a:r>
            <a:r>
              <a:rPr lang="en-US" altLang="zh-CN" b="1" dirty="0"/>
              <a:t>_</a:t>
            </a:r>
            <a:r>
              <a:rPr lang="zh-CN" altLang="en-US" b="1" dirty="0"/>
              <a:t>右侧高度</a:t>
            </a:r>
            <a:r>
              <a:rPr lang="en-US" altLang="zh-CN" b="1" dirty="0"/>
              <a:t>"</a:t>
            </a:r>
            <a:r>
              <a:rPr lang="zh-CN" altLang="en-US" dirty="0"/>
              <a:t>，高度单位是瓦片高度的倍数（</a:t>
            </a:r>
            <a:r>
              <a:rPr lang="en-US" altLang="zh-CN" dirty="0"/>
              <a:t>0, 1, 2 </a:t>
            </a:r>
            <a:r>
              <a:rPr lang="zh-CN" altLang="en-US" dirty="0"/>
              <a:t>分别代表 </a:t>
            </a:r>
            <a:r>
              <a:rPr lang="en-US" altLang="zh-CN" dirty="0"/>
              <a:t>0, 0.5, 1.0</a:t>
            </a:r>
            <a:r>
              <a:rPr lang="zh-CN" altLang="en-US" dirty="0"/>
              <a:t>）。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2E1450-A624-40D0-387A-A80B04DD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3059396"/>
            <a:ext cx="7062138" cy="357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008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081BD-6045-9864-1788-DA37F9CC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BD986E-EB03-6AFB-B98F-482F0B59D7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224" y="159790"/>
            <a:ext cx="2494838" cy="653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31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7F42C-02E0-695E-9043-28C547BB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4. </a:t>
            </a:r>
            <a:r>
              <a:rPr lang="zh-CN" altLang="en-US" b="1" dirty="0"/>
              <a:t>斜坡实现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B5F15-1F93-33F4-ED38-653BD5609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zh-CN" altLang="en-US" b="1" dirty="0"/>
              <a:t>扩展 </a:t>
            </a:r>
            <a:r>
              <a:rPr lang="en-US" b="1" dirty="0" err="1"/>
              <a:t>TileType</a:t>
            </a:r>
            <a:endParaRPr lang="en-US" b="1" dirty="0"/>
          </a:p>
          <a:p>
            <a:r>
              <a:rPr lang="zh-CN" altLang="en-US" dirty="0"/>
              <a:t>为所有斜坡类型添加枚举值。</a:t>
            </a:r>
          </a:p>
          <a:p>
            <a:r>
              <a:rPr lang="en-US" b="1" dirty="0"/>
              <a:t>engine/component/</a:t>
            </a:r>
            <a:r>
              <a:rPr lang="en-US" b="1" dirty="0" err="1"/>
              <a:t>tilelayer_component.h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94A114-AEDD-CBE8-E728-AE199C03E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985" y="2865031"/>
            <a:ext cx="7215268" cy="358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29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180C0-8507-F53E-FB24-B64A6D350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更新 </a:t>
            </a:r>
            <a:r>
              <a:rPr lang="en-US" b="1" dirty="0" err="1"/>
              <a:t>LevelLoader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7F28B-9AC8-C8B3-7BFE-A511D9CBC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解析 </a:t>
            </a:r>
            <a:r>
              <a:rPr lang="en-US" dirty="0"/>
              <a:t>slope </a:t>
            </a:r>
            <a:r>
              <a:rPr lang="zh-CN" altLang="en-US" dirty="0"/>
              <a:t>字符串并映射到对应的 </a:t>
            </a:r>
            <a:r>
              <a:rPr lang="en-US" dirty="0" err="1"/>
              <a:t>TileType</a:t>
            </a:r>
            <a:r>
              <a:rPr lang="en-US" dirty="0"/>
              <a:t>。</a:t>
            </a:r>
          </a:p>
          <a:p>
            <a:r>
              <a:rPr lang="en-US" b="1" dirty="0"/>
              <a:t>engine/scene/level_loader.cpp（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89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CADA6-0BC7-F7E6-2610-29D0143C4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5. </a:t>
            </a:r>
            <a:r>
              <a:rPr lang="zh-CN" altLang="en-US" b="1" dirty="0"/>
              <a:t>核心斜坡算法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9E22-61A0-DC62-662F-C4E4BF454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我们将创建一个辅助函数 </a:t>
            </a:r>
            <a:r>
              <a:rPr lang="en-US" dirty="0" err="1"/>
              <a:t>getTileHeightAtWidth</a:t>
            </a:r>
            <a:r>
              <a:rPr lang="en-US" dirty="0"/>
              <a:t>，</a:t>
            </a:r>
            <a:r>
              <a:rPr lang="zh-CN" altLang="en-US" dirty="0"/>
              <a:t>用于计算在斜坡瓦片内部的 </a:t>
            </a:r>
            <a:r>
              <a:rPr lang="zh-CN" altLang="en-US" b="1" dirty="0"/>
              <a:t>任意水平位置</a:t>
            </a:r>
            <a:r>
              <a:rPr lang="zh-CN" altLang="en-US" dirty="0"/>
              <a:t> 上，地面的精确高度。</a:t>
            </a:r>
          </a:p>
          <a:p>
            <a:r>
              <a:rPr lang="en-US" b="1" dirty="0"/>
              <a:t>engine/physics/</a:t>
            </a:r>
            <a:r>
              <a:rPr lang="en-US" b="1" dirty="0" err="1"/>
              <a:t>physics_engine.h</a:t>
            </a:r>
            <a:r>
              <a:rPr lang="en-US" b="1" dirty="0"/>
              <a:t>（</a:t>
            </a:r>
            <a:r>
              <a:rPr lang="zh-CN" altLang="en-US" b="1" dirty="0"/>
              <a:t>更新）</a:t>
            </a:r>
          </a:p>
          <a:p>
            <a:r>
              <a:rPr lang="en-US" b="1" dirty="0"/>
              <a:t>engine/physics/physics_engine.cpp（</a:t>
            </a:r>
            <a:r>
              <a:rPr lang="zh-CN" altLang="en-US" b="1" dirty="0"/>
              <a:t>实现）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977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4328-4675-273B-4B3E-28A79B890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算法详解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2C66224-05DA-48E4-56CA-3D572ABF76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586893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74043039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0234267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328577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含义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范围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23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width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物体角点在瓦片内的 </a:t>
                      </a:r>
                      <a:r>
                        <a:rPr lang="en-US" altLang="zh-CN">
                          <a:effectLst/>
                        </a:rPr>
                        <a:t>X </a:t>
                      </a:r>
                      <a:r>
                        <a:rPr lang="zh-CN" altLang="en-US">
                          <a:effectLst/>
                        </a:rPr>
                        <a:t>坐标偏移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0 ~ tile_size.x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771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rel_x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归一化的相对位置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0.0 ~ 1.0</a:t>
                      </a:r>
                      <a:endParaRPr lang="en-US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775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返回值</a:t>
                      </a:r>
                      <a:endParaRPr lang="zh-CN" alt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该位置的地面高度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0 ~ 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  <a:effectLst/>
                          <a:latin typeface="source-code-pro"/>
                        </a:rPr>
                        <a:t>tile_size.y</a:t>
                      </a:r>
                      <a:endParaRPr lang="en-US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18297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4ABBCA-A6B5-0D8B-F1BA-919A7DCBDF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547080"/>
              </p:ext>
            </p:extLst>
          </p:nvPr>
        </p:nvGraphicFramePr>
        <p:xfrm>
          <a:off x="838200" y="4260035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45734661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096801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464658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斜坡类型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公式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161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SLOPE_0_1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rel_x * h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0 </a:t>
                      </a:r>
                      <a:r>
                        <a:rPr lang="zh-CN" altLang="en-US">
                          <a:effectLst/>
                        </a:rPr>
                        <a:t>线性增长到 </a:t>
                      </a:r>
                      <a:r>
                        <a:rPr lang="en-US">
                          <a:effectLst/>
                        </a:rPr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477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SLOPE_1_0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(1 -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rel_x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) * h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>
                          <a:effectLst/>
                        </a:rPr>
                        <a:t>h </a:t>
                      </a:r>
                      <a:r>
                        <a:rPr lang="zh-CN" altLang="en-US">
                          <a:effectLst/>
                        </a:rPr>
                        <a:t>线性下降到 </a:t>
                      </a:r>
                      <a:r>
                        <a:rPr lang="en-US" altLang="zh-CN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483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SLOPE_0_2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rel_x * h * 0.5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 </a:t>
                      </a:r>
                      <a:r>
                        <a:rPr lang="en-US" altLang="zh-CN">
                          <a:effectLst/>
                        </a:rPr>
                        <a:t>0 </a:t>
                      </a:r>
                      <a:r>
                        <a:rPr lang="zh-CN" altLang="en-US">
                          <a:effectLst/>
                        </a:rPr>
                        <a:t>增长到 </a:t>
                      </a:r>
                      <a:r>
                        <a:rPr lang="en-US" altLang="zh-CN">
                          <a:effectLst/>
                        </a:rPr>
                        <a:t>0.5</a:t>
                      </a:r>
                      <a:r>
                        <a:rPr lang="en-US">
                          <a:effectLst/>
                        </a:rPr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3407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SLOPE_2_1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rel_x * h * 0.5 + 0.5h</a:t>
                      </a:r>
                      <a:endParaRPr lang="pt-BR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从 </a:t>
                      </a:r>
                      <a:r>
                        <a:rPr lang="en-US" altLang="zh-CN" dirty="0">
                          <a:effectLst/>
                        </a:rPr>
                        <a:t>0.5</a:t>
                      </a:r>
                      <a:r>
                        <a:rPr lang="en-US" dirty="0">
                          <a:effectLst/>
                        </a:rPr>
                        <a:t>h </a:t>
                      </a:r>
                      <a:r>
                        <a:rPr lang="zh-CN" altLang="en-US" dirty="0">
                          <a:effectLst/>
                        </a:rPr>
                        <a:t>增长到 </a:t>
                      </a:r>
                      <a:r>
                        <a:rPr lang="en-US" dirty="0">
                          <a:effectLst/>
                        </a:rPr>
                        <a:t>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8781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62A0DD-D688-051E-6910-1618649A6B48}"/>
              </a:ext>
            </a:extLst>
          </p:cNvPr>
          <p:cNvSpPr txBox="1"/>
          <p:nvPr/>
        </p:nvSpPr>
        <p:spPr>
          <a:xfrm>
            <a:off x="838200" y="36663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高度计算公式</a:t>
            </a:r>
          </a:p>
        </p:txBody>
      </p:sp>
    </p:spTree>
    <p:extLst>
      <p:ext uri="{BB962C8B-B14F-4D97-AF65-F5344CB8AC3E}">
        <p14:creationId xmlns:p14="http://schemas.microsoft.com/office/powerpoint/2010/main" val="1047771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9307E-9119-D409-9547-C1BC074DD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1AA5AF-D416-B22B-C803-F4DD36A9DC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3245017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2711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307C2-D966-9A6A-2FB1-5F681E40B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6. </a:t>
            </a:r>
            <a:r>
              <a:rPr lang="zh-CN" altLang="en-US" b="1" dirty="0"/>
              <a:t>斜坡碰撞解析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1583B-1709-8E07-DDEB-A768394F6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然后，我们在 </a:t>
            </a:r>
            <a:r>
              <a:rPr lang="en-US" dirty="0" err="1"/>
              <a:t>resolveTileCollisions</a:t>
            </a:r>
            <a:r>
              <a:rPr lang="en-US" dirty="0"/>
              <a:t> </a:t>
            </a:r>
            <a:r>
              <a:rPr lang="zh-CN" altLang="en-US" dirty="0"/>
              <a:t>中，当向下移动且未碰到 </a:t>
            </a:r>
            <a:r>
              <a:rPr lang="en-US" dirty="0"/>
              <a:t>SOLID </a:t>
            </a:r>
            <a:r>
              <a:rPr lang="zh-CN" altLang="en-US" dirty="0"/>
              <a:t>或 </a:t>
            </a:r>
            <a:r>
              <a:rPr lang="en-US" dirty="0"/>
              <a:t>UNISOLID </a:t>
            </a:r>
            <a:r>
              <a:rPr lang="zh-CN" altLang="en-US" dirty="0"/>
              <a:t>瓦片时，检查脚下是否为斜坡。</a:t>
            </a:r>
          </a:p>
          <a:p>
            <a:r>
              <a:rPr lang="en-US" b="1" dirty="0"/>
              <a:t>engine/physics/physics_engine.cpp（</a:t>
            </a:r>
            <a:r>
              <a:rPr lang="zh-CN" altLang="en-US" b="1" dirty="0"/>
              <a:t>更新）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6C995-A88C-FB0A-8AA4-A4CFDC299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907" y="3198791"/>
            <a:ext cx="2639976" cy="343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29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53C3E-C443-1D9F-7C91-6212F8CE9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关键细节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49B1E1-AA16-63A7-171D-720F25F45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343195"/>
              </p:ext>
            </p:extLst>
          </p:nvPr>
        </p:nvGraphicFramePr>
        <p:xfrm>
          <a:off x="838200" y="1825625"/>
          <a:ext cx="10515597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8430443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5688706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29217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原因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3140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检测两个角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左下角 </a:t>
                      </a:r>
                      <a:r>
                        <a:rPr lang="en-US" altLang="zh-CN">
                          <a:effectLst/>
                        </a:rPr>
                        <a:t>+ </a:t>
                      </a:r>
                      <a:r>
                        <a:rPr lang="zh-CN" altLang="en-US">
                          <a:effectLst/>
                        </a:rPr>
                        <a:t>右下角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确保物体完整接触地面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8205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取较高值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max(height_left, height_right)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防止物体陷入斜坡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9758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世界坐标转换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ground_y = (tile_y + 1) * tile_size.y - height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从瓦片局部坐标转为世界坐标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0229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穿透检测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obj_bottom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 &gt;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ground_y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只有穿过才调整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761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2388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ECC3C-6081-7081-789A-CBFD5959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7. </a:t>
            </a:r>
            <a:r>
              <a:rPr lang="zh-CN" altLang="en-US" b="1" dirty="0"/>
              <a:t>水平移动时的斜坡处理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DF6C9-9670-26A7-DF7D-461D357FA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我们还需要在处理 </a:t>
            </a:r>
            <a:r>
              <a:rPr lang="zh-CN" altLang="en-US" b="1" dirty="0"/>
              <a:t>水平移动</a:t>
            </a:r>
            <a:r>
              <a:rPr lang="zh-CN" altLang="en-US" dirty="0"/>
              <a:t> 时也考虑斜坡，以确保角色能平滑地 </a:t>
            </a:r>
            <a:r>
              <a:rPr lang="en-US" altLang="zh-CN" b="1" dirty="0"/>
              <a:t>"</a:t>
            </a:r>
            <a:r>
              <a:rPr lang="zh-CN" altLang="en-US" b="1" dirty="0"/>
              <a:t>走上</a:t>
            </a:r>
            <a:r>
              <a:rPr lang="en-US" altLang="zh-CN" b="1" dirty="0"/>
              <a:t>"</a:t>
            </a:r>
            <a:r>
              <a:rPr lang="zh-CN" altLang="en-US" dirty="0"/>
              <a:t> 斜坡而不是被卡住。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50D78-1FAC-683A-4F3A-7D6AB4211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553" y="2608031"/>
            <a:ext cx="2341992" cy="403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1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4A22-64E1-A452-BCEB-239055B7A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32DF1-4716-CF29-ACFB-BA6BF063B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b="1" dirty="0"/>
              <a:t>实现逻辑</a:t>
            </a:r>
          </a:p>
          <a:p>
            <a:r>
              <a:rPr lang="zh-CN" altLang="en-US" dirty="0"/>
              <a:t>逻辑与垂直检测类似，计算角色侧面进入斜坡瓦片时的地面高度，并调整其 </a:t>
            </a:r>
            <a:r>
              <a:rPr lang="en-US" altLang="zh-CN" dirty="0"/>
              <a:t>Y </a:t>
            </a:r>
            <a:r>
              <a:rPr lang="zh-CN" altLang="en-US" dirty="0"/>
              <a:t>坐标。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1E0EC-361B-3D94-7FE5-B6B5528D8D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78" y="3374013"/>
            <a:ext cx="3168813" cy="13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49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8320-045D-DC0C-CD0B-4A19D17B4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8. </a:t>
            </a:r>
            <a:r>
              <a:rPr lang="zh-CN" altLang="en-US" b="1" dirty="0"/>
              <a:t>平滑相机与世界边界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16D2D-AC20-D79A-4696-218026453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为了让游戏体验更上一层楼，我们不再手动控制相机，而是让它 </a:t>
            </a:r>
            <a:r>
              <a:rPr lang="zh-CN" altLang="en-US" b="1" dirty="0"/>
              <a:t>自动、平滑地</a:t>
            </a:r>
            <a:r>
              <a:rPr lang="zh-CN" altLang="en-US" dirty="0"/>
              <a:t> 跟随玩家。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2CCF19-9430-9324-F03D-343C78B50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464" y="2826653"/>
            <a:ext cx="4229317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846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0C0DA-8AB6-50DA-7305-DBDB14FBB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平滑跟随的优势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2BEA2CC-9CAB-A155-F48C-41637AB742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216480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92192222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389094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077263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效果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373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❌ 直接设置位置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相机瞬移，突兀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camera.pos = player.pos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86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✅ </a:t>
                      </a:r>
                      <a:r>
                        <a:rPr lang="zh-CN" altLang="en-US">
                          <a:effectLst/>
                        </a:rPr>
                        <a:t>线性插值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平滑过渡，舒适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glm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::mix()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769040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7920CCB-A411-7606-990A-3FBA3D7C90D8}"/>
              </a:ext>
            </a:extLst>
          </p:cNvPr>
          <p:cNvSpPr txBox="1"/>
          <p:nvPr/>
        </p:nvSpPr>
        <p:spPr>
          <a:xfrm>
            <a:off x="1025770" y="355052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latin typeface="-apple-system"/>
              </a:rPr>
              <a:t>engine/render/</a:t>
            </a:r>
            <a:r>
              <a:rPr lang="en-US" b="1" i="0" dirty="0" err="1">
                <a:solidFill>
                  <a:srgbClr val="FF0000"/>
                </a:solidFill>
                <a:effectLst/>
                <a:latin typeface="-apple-system"/>
              </a:rPr>
              <a:t>camera.h</a:t>
            </a:r>
            <a:r>
              <a:rPr lang="en-US" b="1" i="0" dirty="0">
                <a:solidFill>
                  <a:srgbClr val="FF0000"/>
                </a:solidFill>
                <a:effectLst/>
                <a:latin typeface="-apple-system"/>
              </a:rPr>
              <a:t> &amp; camera.cpp（</a:t>
            </a:r>
            <a:r>
              <a:rPr lang="zh-CN" altLang="en-US" b="1" i="0" dirty="0">
                <a:solidFill>
                  <a:srgbClr val="FF0000"/>
                </a:solidFill>
                <a:effectLst/>
                <a:latin typeface="-apple-system"/>
              </a:rPr>
              <a:t>更新</a:t>
            </a:r>
            <a:r>
              <a:rPr lang="zh-CN" altLang="en-US" b="1" i="0" dirty="0">
                <a:solidFill>
                  <a:srgbClr val="C8C3BC"/>
                </a:solidFill>
                <a:effectLst/>
                <a:latin typeface="-apple-system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24787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AB09-B829-55CC-7201-8C015EA6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关键参数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31C193-D572-484F-11ED-CDC009F21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1093474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34030689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98436536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656611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参数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作用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推荐值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0537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smooth_speed_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控制跟随速度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5.0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1374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target_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跟随的目标对象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rgbClr val="FF0000"/>
                          </a:solidFill>
                          <a:effectLst/>
                        </a:rPr>
                        <a:t>玩家的 </a:t>
                      </a:r>
                      <a:r>
                        <a:rPr lang="en-US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TransformComponent</a:t>
                      </a:r>
                      <a:endParaRPr lang="en-US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6678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desired_position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目标位置（居中）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target_pos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 - </a:t>
                      </a:r>
                      <a:r>
                        <a:rPr lang="en-US" dirty="0" err="1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viewport_size</a:t>
                      </a:r>
                      <a:r>
                        <a:rPr lang="en-US" dirty="0">
                          <a:solidFill>
                            <a:srgbClr val="FF0000"/>
                          </a:solidFill>
                          <a:effectLst/>
                          <a:latin typeface="source-code-pro"/>
                        </a:rPr>
                        <a:t> / 2</a:t>
                      </a:r>
                      <a:endParaRPr 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6652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0887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D7CB6-152E-4D84-0E72-5BB0FBDC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79C613-44DA-81DC-C1C8-A290811A88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47593"/>
            <a:ext cx="3921369" cy="368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42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2DED3-27F8-D46B-D34A-C9E8B156F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9. </a:t>
            </a:r>
            <a:r>
              <a:rPr lang="zh-CN" altLang="en-US" b="1" dirty="0"/>
              <a:t>场景整合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C2E5-4865-B162-70D2-C0EA245F0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现在，场景的 </a:t>
            </a:r>
            <a:r>
              <a:rPr lang="en-US" dirty="0"/>
              <a:t>update </a:t>
            </a:r>
            <a:r>
              <a:rPr lang="zh-CN" altLang="en-US" dirty="0"/>
              <a:t>会先更新物理，再更新相机。</a:t>
            </a:r>
            <a:r>
              <a:rPr lang="en-US" dirty="0" err="1"/>
              <a:t>GameScene</a:t>
            </a:r>
            <a:r>
              <a:rPr lang="en-US" dirty="0"/>
              <a:t> </a:t>
            </a:r>
            <a:r>
              <a:rPr lang="zh-CN" altLang="en-US" dirty="0"/>
              <a:t>在初始化时会设置好相机的跟随目标和边界。</a:t>
            </a:r>
          </a:p>
          <a:p>
            <a:r>
              <a:rPr lang="en-US" b="1" dirty="0"/>
              <a:t>engine/scene/scene.cpp（</a:t>
            </a:r>
            <a:r>
              <a:rPr lang="zh-CN" altLang="en-US" b="1" dirty="0"/>
              <a:t>更新）</a:t>
            </a:r>
            <a:endParaRPr lang="en-US" altLang="zh-CN" b="1" dirty="0"/>
          </a:p>
          <a:p>
            <a:r>
              <a:rPr lang="en-US" b="1" dirty="0"/>
              <a:t>game/scene/game_scene.cpp（</a:t>
            </a:r>
            <a:r>
              <a:rPr lang="zh-CN" altLang="en-US" b="1" dirty="0"/>
              <a:t>更新）</a:t>
            </a:r>
          </a:p>
          <a:p>
            <a:endParaRPr lang="zh-CN" alt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767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26729-EA64-07D0-21F0-F79D64BE5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6BBC45-F845-3230-FB52-9BE83E819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9493" y="365125"/>
            <a:ext cx="25944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5164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B2480-ACB8-11E2-6642-79D85351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59EC98-F239-245D-B624-9A48B626FA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8777" y="1632211"/>
            <a:ext cx="7912507" cy="170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215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3C57A-D53B-66D4-9ABD-9B83EDB7C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🎯 系统架构总结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73BBE2F-6D5A-25E7-984B-E9658FBEBD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6257" y="1635813"/>
            <a:ext cx="2178162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345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6A32-5077-5E5A-0ECD-28673160D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核心成就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9E09-DEB7-8857-2AA0-F0D2B35EDD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✅ </a:t>
            </a:r>
            <a:r>
              <a:rPr lang="zh-CN" altLang="en-US" b="1" dirty="0"/>
              <a:t>单向平台</a:t>
            </a:r>
            <a:r>
              <a:rPr lang="zh-CN" altLang="en-US" dirty="0"/>
              <a:t>：可以从下方穿过的平台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斜坡系统</a:t>
            </a:r>
            <a:r>
              <a:rPr lang="zh-CN" altLang="en-US" dirty="0"/>
              <a:t>：多种角度的斜坡支持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高度计算</a:t>
            </a:r>
            <a:r>
              <a:rPr lang="zh-CN" altLang="en-US" dirty="0"/>
              <a:t>：精确的斜坡地面高度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平滑移动</a:t>
            </a:r>
            <a:r>
              <a:rPr lang="zh-CN" altLang="en-US" dirty="0"/>
              <a:t>：在斜坡上自然行走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平滑相机</a:t>
            </a:r>
            <a:r>
              <a:rPr lang="zh-CN" altLang="en-US" dirty="0"/>
              <a:t>：线性插值跟随玩家</a:t>
            </a:r>
          </a:p>
          <a:p>
            <a:r>
              <a:rPr lang="zh-CN" altLang="en-US" dirty="0"/>
              <a:t>✅ </a:t>
            </a:r>
            <a:r>
              <a:rPr lang="zh-CN" altLang="en-US" b="1" dirty="0"/>
              <a:t>世界边界</a:t>
            </a:r>
            <a:r>
              <a:rPr lang="zh-CN" altLang="en-US" dirty="0"/>
              <a:t>：防止掉出地图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097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B3BD1-898F-F594-8E04-52226DEEE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地形类型对比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972DF1-34AE-41DF-D071-52907F6EE7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9939403"/>
              </p:ext>
            </p:extLst>
          </p:nvPr>
        </p:nvGraphicFramePr>
        <p:xfrm>
          <a:off x="838200" y="1825625"/>
          <a:ext cx="1051559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666739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49795413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83961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地形类型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碰撞逻辑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使用场景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987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SOLID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全方向阻挡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地面、墙壁、天花板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9068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UNISOLID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仅向下阻挡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跳台、平台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9854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SLOPE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高度计算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山坡、楼梯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8502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NORMAL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无碰撞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背景、装饰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4622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41340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1F7B0-4662-83D7-2009-E0F470895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1AA54F-2A45-23B5-8A77-AE675BA4C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365125"/>
            <a:ext cx="2076557" cy="313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B2D9D-AA55-09D6-84F3-A4C58E17A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320E4A0-E0F6-899C-71FD-B20C6D220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4351893"/>
              </p:ext>
            </p:extLst>
          </p:nvPr>
        </p:nvGraphicFramePr>
        <p:xfrm>
          <a:off x="838200" y="1825625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976726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137951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1829305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 dirty="0">
                          <a:effectLst/>
                        </a:rPr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b="1">
                          <a:effectLst/>
                        </a:rPr>
                        <a:t>优势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8609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平滑跟随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线性插值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视觉舒适，不突兀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84832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居中显示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目标在视口中心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视野均衡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3817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b="1">
                          <a:effectLst/>
                        </a:rPr>
                        <a:t>边界限制</a:t>
                      </a:r>
                      <a:endParaRPr lang="zh-CN" alt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effectLst/>
                        </a:rPr>
                        <a:t>不超出地图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dirty="0">
                          <a:effectLst/>
                        </a:rPr>
                        <a:t>避免显示空白区域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676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88107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4021-BE8F-5BED-03BC-9B8F1993C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📚 总结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846B8-E5CB-B888-04C9-E18C2CC86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016"/>
            <a:ext cx="10515600" cy="52284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我们已经实现了丰富的地形系统和平滑的相机！</a:t>
            </a:r>
          </a:p>
          <a:p>
            <a:pPr marL="0" indent="0">
              <a:buNone/>
            </a:pPr>
            <a:r>
              <a:rPr lang="zh-CN" altLang="en-US" b="1" dirty="0"/>
              <a:t>关键要点：</a:t>
            </a:r>
            <a:endParaRPr lang="zh-CN" altLang="en-US" dirty="0"/>
          </a:p>
          <a:p>
            <a:r>
              <a:rPr lang="zh-CN" altLang="en-US" dirty="0"/>
              <a:t>🪜 单向平台只在向下移动时碰撞</a:t>
            </a:r>
          </a:p>
          <a:p>
            <a:r>
              <a:rPr lang="zh-CN" altLang="en-US" dirty="0"/>
              <a:t>⛰️ 斜坡通过高度计算实现平滑移动</a:t>
            </a:r>
          </a:p>
          <a:p>
            <a:r>
              <a:rPr lang="zh-CN" altLang="en-US" dirty="0"/>
              <a:t>📐 线性插值公式实现地面高度</a:t>
            </a:r>
          </a:p>
          <a:p>
            <a:r>
              <a:rPr lang="zh-CN" altLang="en-US" dirty="0"/>
              <a:t>🎥 相机使用 </a:t>
            </a:r>
            <a:r>
              <a:rPr lang="en-US" altLang="zh-CN" dirty="0" err="1"/>
              <a:t>glm</a:t>
            </a:r>
            <a:r>
              <a:rPr lang="en-US" altLang="zh-CN" dirty="0"/>
              <a:t>::mix()</a:t>
            </a:r>
            <a:r>
              <a:rPr lang="zh-CN" altLang="en-US" dirty="0"/>
              <a:t> 平滑跟随</a:t>
            </a:r>
          </a:p>
          <a:p>
            <a:r>
              <a:rPr lang="zh-CN" altLang="en-US" dirty="0"/>
              <a:t>🌍 世界边界防止物体掉出地图</a:t>
            </a:r>
          </a:p>
          <a:p>
            <a:r>
              <a:rPr lang="zh-CN" altLang="en-US" dirty="0"/>
              <a:t>🎮 完整的平台游戏地形系统</a:t>
            </a:r>
          </a:p>
          <a:p>
            <a:pPr marL="0" indent="0">
              <a:buNone/>
            </a:pPr>
            <a:r>
              <a:rPr lang="zh-CN" altLang="en-US" dirty="0"/>
              <a:t>💡 </a:t>
            </a:r>
            <a:r>
              <a:rPr lang="zh-CN" altLang="en-US" b="1" dirty="0"/>
              <a:t>设计哲学</a:t>
            </a:r>
            <a:r>
              <a:rPr lang="zh-CN" altLang="en-US" dirty="0"/>
              <a:t>：平台游戏的核心在于地形设计。单向平台增加了垂直探索的可能性，斜坡让移动更加流畅自然。这些看似简单的特性，却能极大地丰富游戏玩法和关卡设计的深度！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5362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0A553-E789-37E4-D490-92A16D11B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🚀 下一步展望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A91F0-7DC3-DBFB-92AC-17B0F9EB0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968"/>
            <a:ext cx="10515600" cy="48943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现在我们有了完整的地形系统和流畅的相机！但游戏还需要更多内容：</a:t>
            </a:r>
          </a:p>
          <a:p>
            <a:r>
              <a:rPr lang="zh-CN" altLang="en-US" dirty="0"/>
              <a:t>❓ 如何实现玩家的状态管理（跑步、跳跃、攻击）？</a:t>
            </a:r>
          </a:p>
          <a:p>
            <a:r>
              <a:rPr lang="zh-CN" altLang="en-US" dirty="0"/>
              <a:t>❓ 如何添加动画让游戏更生动？</a:t>
            </a:r>
          </a:p>
          <a:p>
            <a:r>
              <a:rPr lang="zh-CN" altLang="en-US" dirty="0"/>
              <a:t>❓ 如何处理玩家与敌人的交互？</a:t>
            </a:r>
          </a:p>
          <a:p>
            <a:pPr marL="0" indent="0">
              <a:buNone/>
            </a:pPr>
            <a:r>
              <a:rPr lang="zh-CN" altLang="en-US" dirty="0"/>
              <a:t>下一课，我们将实现 </a:t>
            </a:r>
            <a:r>
              <a:rPr lang="zh-CN" altLang="en-US" b="1" dirty="0"/>
              <a:t>玩家组件与状态机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🎮 玩家控制器</a:t>
            </a:r>
          </a:p>
          <a:p>
            <a:r>
              <a:rPr lang="zh-CN" altLang="en-US" dirty="0"/>
              <a:t>🔄 状态机系统</a:t>
            </a:r>
          </a:p>
          <a:p>
            <a:r>
              <a:rPr lang="zh-CN" altLang="en-US" dirty="0"/>
              <a:t>🏃 多种角色状态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42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1348</Words>
  <Application>Microsoft Office PowerPoint</Application>
  <PresentationFormat>Widescreen</PresentationFormat>
  <Paragraphs>207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-apple-system</vt:lpstr>
      <vt:lpstr>source-code-pro</vt:lpstr>
      <vt:lpstr>Aptos</vt:lpstr>
      <vt:lpstr>Aptos Display</vt:lpstr>
      <vt:lpstr>Arial</vt:lpstr>
      <vt:lpstr>Office Theme</vt:lpstr>
      <vt:lpstr>瓦片层单向平台与斜坡</vt:lpstr>
      <vt:lpstr>📌 问题背景</vt:lpstr>
      <vt:lpstr>🎯 本课目标</vt:lpstr>
      <vt:lpstr>PowerPoint Presentation</vt:lpstr>
      <vt:lpstr>1. 单向平台（Uni-directional Solid）</vt:lpstr>
      <vt:lpstr>Tiled 设置</vt:lpstr>
      <vt:lpstr>2. 单向平台实现</vt:lpstr>
      <vt:lpstr>更新 LevelLoader</vt:lpstr>
      <vt:lpstr>修改 PhysicsEngine</vt:lpstr>
      <vt:lpstr>碰撞检测逻辑</vt:lpstr>
      <vt:lpstr>3. 斜坡（Slopes）</vt:lpstr>
      <vt:lpstr>Tiled 设置</vt:lpstr>
      <vt:lpstr>PowerPoint Presentation</vt:lpstr>
      <vt:lpstr>4. 斜坡实现</vt:lpstr>
      <vt:lpstr>更新 LevelLoader</vt:lpstr>
      <vt:lpstr>5. 核心斜坡算法</vt:lpstr>
      <vt:lpstr>算法详解</vt:lpstr>
      <vt:lpstr>PowerPoint Presentation</vt:lpstr>
      <vt:lpstr>6. 斜坡碰撞解析</vt:lpstr>
      <vt:lpstr>关键细节</vt:lpstr>
      <vt:lpstr>7. 水平移动时的斜坡处理</vt:lpstr>
      <vt:lpstr>PowerPoint Presentation</vt:lpstr>
      <vt:lpstr>8. 平滑相机与世界边界</vt:lpstr>
      <vt:lpstr>平滑跟随的优势</vt:lpstr>
      <vt:lpstr>关键参数</vt:lpstr>
      <vt:lpstr>PowerPoint Presentation</vt:lpstr>
      <vt:lpstr>9. 场景整合</vt:lpstr>
      <vt:lpstr>PowerPoint Presentation</vt:lpstr>
      <vt:lpstr>PowerPoint Presentation</vt:lpstr>
      <vt:lpstr>🎯 系统架构总结</vt:lpstr>
      <vt:lpstr>核心成就</vt:lpstr>
      <vt:lpstr>地形类型对比</vt:lpstr>
      <vt:lpstr>PowerPoint Presentation</vt:lpstr>
      <vt:lpstr>PowerPoint Presentation</vt:lpstr>
      <vt:lpstr>📚 总结</vt:lpstr>
      <vt:lpstr>🚀 下一步展望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佳浩 华</dc:creator>
  <cp:lastModifiedBy>佳浩 华</cp:lastModifiedBy>
  <cp:revision>1</cp:revision>
  <dcterms:created xsi:type="dcterms:W3CDTF">2025-11-13T21:17:46Z</dcterms:created>
  <dcterms:modified xsi:type="dcterms:W3CDTF">2025-11-13T21:55:59Z</dcterms:modified>
</cp:coreProperties>
</file>