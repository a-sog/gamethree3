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7876F-6601-6D44-14BD-13C35E1C3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57E21-F6A4-089A-3637-AF5563EB7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EA1D6-F938-25CC-9C20-A5D29B76F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030A-8F8A-4A1E-B3D7-EB11AB2059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3890F-2A1B-09A0-6C3E-8DDFF5A0B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E758F-A052-3943-8190-C5B239C7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CDDA7-E856-4BB9-A10B-A69545C6D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13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6EE0-2961-F5F4-2030-9839DEE5A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92CDA-3F38-1E21-B2EF-8D62D1C40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7EB10-F5F6-F27C-18D4-5773603A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030A-8F8A-4A1E-B3D7-EB11AB2059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5CC8E-E090-3530-38D3-272317130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30F72-0B69-A419-429E-7BD0C449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CDDA7-E856-4BB9-A10B-A69545C6D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38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4E91-5629-F5AC-987C-9E7955CD6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5DDCE-9E6D-0FFD-03B7-5B619D80A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127AC-0AAD-D6FD-E00F-BFA1AF150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030A-8F8A-4A1E-B3D7-EB11AB2059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77EB5-CAE7-871E-BFA5-73A3F2DDC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B778-0CF1-3469-AD5A-75F74F67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CDDA7-E856-4BB9-A10B-A69545C6D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0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EB0B7-314E-157E-1D97-BB1C898E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31441-A358-4010-D9FF-73C314999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48F22-B8E8-F89D-ED08-41983900C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1413B-99A1-8796-5B58-A2513E614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030A-8F8A-4A1E-B3D7-EB11AB2059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0ADF8-AB6A-1838-CFC5-6754FF3B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A1BA7-D25F-B8DF-620E-4EA204E05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CDDA7-E856-4BB9-A10B-A69545C6D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7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E9F5-B8B3-39E4-FF9A-41A7A00D8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FDB62-DE14-A6C4-2384-E4E8D1761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01077-A227-9461-BDAE-EE52B07DB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2A090C-D0F5-0F42-46FC-E3969FB04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2B9715-DE5E-B6A8-54FF-8950165A2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F9D5E7-2BC7-6943-6AD2-397F9383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030A-8F8A-4A1E-B3D7-EB11AB2059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C33672-B7F8-0613-23B3-ED29C119A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A8C7C7-DECE-162D-640C-9908529C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CDDA7-E856-4BB9-A10B-A69545C6D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1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B4233-2CE8-3C3D-36CE-8D19945A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2A7C3-EC9E-937A-6D37-5A47DB15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030A-8F8A-4A1E-B3D7-EB11AB2059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C08E51-E3DE-2A70-A211-6B9F41EAC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D756E-16D8-684D-C9E0-CC90D894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CDDA7-E856-4BB9-A10B-A69545C6D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57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E0004-8EF4-EC6B-A719-2EA30EA51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030A-8F8A-4A1E-B3D7-EB11AB2059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9E42BC-0932-4086-02CA-676F60ED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F3C5E-0E3A-E748-E313-5F3E740F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CDDA7-E856-4BB9-A10B-A69545C6D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3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1E8D-6129-3FB9-C689-7C4B44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E35BC-E61F-E702-D75B-215645C02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B3DCDB-0496-A1D0-7F2F-AB26284FD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B70CD-9EF8-996C-2700-EEADF742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030A-8F8A-4A1E-B3D7-EB11AB2059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4F166-7E3E-8EA2-759E-EDDC1268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60DF0-6C26-F323-1B3C-9A2A057E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CDDA7-E856-4BB9-A10B-A69545C6D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2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3A4D2-06EB-E8CF-D8C2-7CED750C5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46BE6-AA03-A223-E2E5-1B3D8C1736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6E916-0356-939F-A212-5A031FADD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FF758-B592-E736-B356-15A9EF9E9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030A-8F8A-4A1E-B3D7-EB11AB2059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B5E57-8E68-79C1-801D-5C8E677A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8DB5D-D648-0449-A947-D0975043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CDDA7-E856-4BB9-A10B-A69545C6D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1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2A372-D36A-6424-6E16-112ACE1C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16C90-C919-2112-4682-BA46056C5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334AD-7D3B-DA3C-CB2A-76F1B5812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030A-8F8A-4A1E-B3D7-EB11AB2059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B1A18-1DE4-D435-6909-2B7681A84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C0182-EE1B-4790-279D-0DF69DE4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CDDA7-E856-4BB9-A10B-A69545C6D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56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0AA775-55E2-678E-D894-A36337953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6ECD01-2163-5E4B-E670-247A391F7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1F962-E537-846E-9DDF-84B201CB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030A-8F8A-4A1E-B3D7-EB11AB2059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9AA46-5C02-4355-3A79-F4890C56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E06A0-22BC-3580-B438-69066D7E2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CDDA7-E856-4BB9-A10B-A69545C6D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27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F26EA4-5833-639D-BFFE-20A300901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E8856-D567-A1B7-4734-E9CACD31C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17ECD-6C1F-3573-9C55-3B8DB1AEF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F030A-8F8A-4A1E-B3D7-EB11AB2059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021A7-BDFD-2728-3103-9F164B1EC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E97CB-1F1C-7049-ADC0-4A2160627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CDDA7-E856-4BB9-A10B-A69545C6D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44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A0EDC-0BB6-422F-906E-517068AFF2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瓦片地图层碰撞解析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58409-A112-2A3F-F984-3D5B37678A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EFE67-B976-54C6-14AB-2CCE47FC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9465E-198F-422F-DF52-6E12CF8DB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我们已经成功地让物理引擎能够检测到物体间的重叠。现在，是时候让这些碰撞 </a:t>
            </a:r>
            <a:r>
              <a:rPr lang="zh-CN" altLang="en-US" b="1" dirty="0"/>
              <a:t>产生实际效果</a:t>
            </a:r>
            <a:r>
              <a:rPr lang="zh-CN" altLang="en-US" dirty="0"/>
              <a:t> 了。本节课我们将实现 </a:t>
            </a:r>
            <a:r>
              <a:rPr lang="zh-CN" altLang="en-US" b="1" dirty="0"/>
              <a:t>碰撞解析（</a:t>
            </a:r>
            <a:r>
              <a:rPr lang="en-US" altLang="zh-CN" b="1" dirty="0"/>
              <a:t>Collision Resolution</a:t>
            </a:r>
            <a:r>
              <a:rPr lang="zh-CN" altLang="en-US" b="1" dirty="0"/>
              <a:t>）</a:t>
            </a:r>
            <a:r>
              <a:rPr lang="zh-CN" altLang="en-US" dirty="0"/>
              <a:t>，首先解决最核心的需求：让动态的游戏对象能够与静态的瓦片地图层（如地面、墙壁）发生真实的物理交互，而不是直接穿过去。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629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393A3-26AE-8612-8A9C-FE4A50F8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🎯 </a:t>
            </a:r>
            <a:r>
              <a:rPr lang="zh-CN" altLang="en-US" b="1" dirty="0"/>
              <a:t>本课目标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5EFED0-FE6D-7164-E514-66B0B4E6F0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5409594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8279267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03772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5301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定义实体瓦片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在 </a:t>
                      </a:r>
                      <a:r>
                        <a:rPr lang="en-US">
                          <a:effectLst/>
                        </a:rPr>
                        <a:t>Tiled </a:t>
                      </a:r>
                      <a:r>
                        <a:rPr lang="zh-CN" altLang="en-US">
                          <a:effectLst/>
                        </a:rPr>
                        <a:t>中标记哪些瓦片是可碰撞的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4260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读取瓦片属性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让引擎理解瓦片的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solid</a:t>
                      </a:r>
                      <a:r>
                        <a:rPr lang="en-US">
                          <a:effectLst/>
                        </a:rPr>
                        <a:t> </a:t>
                      </a:r>
                      <a:r>
                        <a:rPr lang="zh-CN" altLang="en-US">
                          <a:effectLst/>
                        </a:rPr>
                        <a:t>属性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868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瓦片碰撞检测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高效检测动态对象与瓦片的碰撞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565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轴分离解析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分别处理 </a:t>
                      </a:r>
                      <a:r>
                        <a:rPr lang="en-US">
                          <a:effectLst/>
                        </a:rPr>
                        <a:t>X </a:t>
                      </a:r>
                      <a:r>
                        <a:rPr lang="zh-CN" altLang="en-US">
                          <a:effectLst/>
                        </a:rPr>
                        <a:t>和 </a:t>
                      </a:r>
                      <a:r>
                        <a:rPr lang="en-US">
                          <a:effectLst/>
                        </a:rPr>
                        <a:t>Y </a:t>
                      </a:r>
                      <a:r>
                        <a:rPr lang="zh-CN" altLang="en-US">
                          <a:effectLst/>
                        </a:rPr>
                        <a:t>轴的碰撞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197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速度控制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通过物理引擎统一管理运动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173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412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F4631-90B5-DE63-18AB-2CDF15144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在 </a:t>
            </a:r>
            <a:r>
              <a:rPr lang="en-US" b="1" dirty="0"/>
              <a:t>Tiled </a:t>
            </a:r>
            <a:r>
              <a:rPr lang="zh-CN" altLang="en-US" b="1" dirty="0"/>
              <a:t>中定义</a:t>
            </a:r>
            <a:r>
              <a:rPr lang="en-US" altLang="zh-CN" b="1" dirty="0"/>
              <a:t>"</a:t>
            </a:r>
            <a:r>
              <a:rPr lang="zh-CN" altLang="en-US" b="1" dirty="0"/>
              <a:t>实体</a:t>
            </a:r>
            <a:r>
              <a:rPr lang="en-US" altLang="zh-CN" b="1" dirty="0"/>
              <a:t>"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095A3-27BA-CE8A-1FD4-8FB999CE0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首先，我们需要一种方法来告诉引擎，哪些瓦片是 </a:t>
            </a:r>
            <a:r>
              <a:rPr lang="en-US" altLang="zh-CN" b="1" dirty="0"/>
              <a:t>"</a:t>
            </a:r>
            <a:r>
              <a:rPr lang="zh-CN" altLang="en-US" b="1" dirty="0"/>
              <a:t>实体</a:t>
            </a:r>
            <a:r>
              <a:rPr lang="en-US" altLang="zh-CN" b="1" dirty="0"/>
              <a:t>"</a:t>
            </a:r>
            <a:r>
              <a:rPr lang="zh-CN" altLang="en-US" b="1" dirty="0"/>
              <a:t>（</a:t>
            </a:r>
            <a:r>
              <a:rPr lang="en-US" b="1" dirty="0"/>
              <a:t>Solid）</a:t>
            </a:r>
            <a:r>
              <a:rPr lang="en-US" dirty="0"/>
              <a:t>，</a:t>
            </a:r>
            <a:r>
              <a:rPr lang="zh-CN" altLang="en-US" dirty="0"/>
              <a:t>哪些只是背景。</a:t>
            </a:r>
            <a:r>
              <a:rPr lang="en-US" dirty="0"/>
              <a:t>Tiled </a:t>
            </a:r>
            <a:r>
              <a:rPr lang="zh-CN" altLang="en-US" dirty="0"/>
              <a:t>的 </a:t>
            </a:r>
            <a:r>
              <a:rPr lang="zh-CN" altLang="en-US" b="1" dirty="0"/>
              <a:t>自定义属性（</a:t>
            </a:r>
            <a:r>
              <a:rPr lang="en-US" b="1" dirty="0"/>
              <a:t>Custom Properties）</a:t>
            </a:r>
            <a:r>
              <a:rPr lang="en-US" dirty="0"/>
              <a:t> </a:t>
            </a:r>
            <a:r>
              <a:rPr lang="zh-CN" altLang="en-US" dirty="0"/>
              <a:t>功能就是为此而生的。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937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CE35-417B-B58F-A580-82985208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📝 </a:t>
            </a:r>
            <a:r>
              <a:rPr lang="zh-CN" altLang="en-US" b="1" dirty="0"/>
              <a:t>操作步骤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60F625-90C3-D5B7-2FBF-AED96C6F76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8587889"/>
              </p:ext>
            </p:extLst>
          </p:nvPr>
        </p:nvGraphicFramePr>
        <p:xfrm>
          <a:off x="838200" y="1825625"/>
          <a:ext cx="10515600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182047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32360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192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1. </a:t>
                      </a:r>
                      <a:r>
                        <a:rPr lang="zh-CN" altLang="en-US" b="1">
                          <a:effectLst/>
                        </a:rPr>
                        <a:t>打开图块集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在 </a:t>
                      </a:r>
                      <a:r>
                        <a:rPr lang="en-US" altLang="zh-CN">
                          <a:effectLst/>
                        </a:rPr>
                        <a:t>Tiled </a:t>
                      </a:r>
                      <a:r>
                        <a:rPr lang="zh-CN" altLang="en-US">
                          <a:effectLst/>
                        </a:rPr>
                        <a:t>中，打开你的图块集（</a:t>
                      </a:r>
                      <a:r>
                        <a:rPr lang="en-US" altLang="zh-CN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.tsj</a:t>
                      </a:r>
                      <a:r>
                        <a:rPr lang="zh-CN" altLang="en-US">
                          <a:effectLst/>
                        </a:rPr>
                        <a:t> 文件）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762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2. </a:t>
                      </a:r>
                      <a:r>
                        <a:rPr lang="zh-CN" altLang="en-US" b="1">
                          <a:effectLst/>
                        </a:rPr>
                        <a:t>选择瓦片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选择一个你希望作为</a:t>
                      </a:r>
                      <a:r>
                        <a:rPr lang="en-US" altLang="zh-CN">
                          <a:effectLst/>
                        </a:rPr>
                        <a:t>"</a:t>
                      </a:r>
                      <a:r>
                        <a:rPr lang="zh-CN" altLang="en-US">
                          <a:effectLst/>
                        </a:rPr>
                        <a:t>实体</a:t>
                      </a:r>
                      <a:r>
                        <a:rPr lang="en-US" altLang="zh-CN">
                          <a:effectLst/>
                        </a:rPr>
                        <a:t>"</a:t>
                      </a:r>
                      <a:r>
                        <a:rPr lang="zh-CN" altLang="en-US">
                          <a:effectLst/>
                        </a:rPr>
                        <a:t>的瓦片（例如，一块草地）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9716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3. </a:t>
                      </a:r>
                      <a:r>
                        <a:rPr lang="zh-CN" altLang="en-US" b="1">
                          <a:effectLst/>
                        </a:rPr>
                        <a:t>添加属性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在左侧的</a:t>
                      </a:r>
                      <a:r>
                        <a:rPr lang="en-US" altLang="zh-CN">
                          <a:effectLst/>
                        </a:rPr>
                        <a:t>"</a:t>
                      </a:r>
                      <a:r>
                        <a:rPr lang="zh-CN" altLang="en-US">
                          <a:effectLst/>
                        </a:rPr>
                        <a:t>属性</a:t>
                      </a:r>
                      <a:r>
                        <a:rPr lang="en-US" altLang="zh-CN">
                          <a:effectLst/>
                        </a:rPr>
                        <a:t>"</a:t>
                      </a:r>
                      <a:r>
                        <a:rPr lang="zh-CN" altLang="en-US">
                          <a:effectLst/>
                        </a:rPr>
                        <a:t>面板中，点击加号（</a:t>
                      </a:r>
                      <a:r>
                        <a:rPr lang="en-US" altLang="zh-CN">
                          <a:effectLst/>
                        </a:rPr>
                        <a:t>+</a:t>
                      </a:r>
                      <a:r>
                        <a:rPr lang="zh-CN" altLang="en-US">
                          <a:effectLst/>
                        </a:rPr>
                        <a:t>）按钮，添加一个新属性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862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4. </a:t>
                      </a:r>
                      <a:r>
                        <a:rPr lang="zh-CN" altLang="en-US" b="1">
                          <a:effectLst/>
                        </a:rPr>
                        <a:t>设置属性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将属性类型设置为 </a:t>
                      </a:r>
                      <a:r>
                        <a:rPr lang="en-US" altLang="zh-CN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bool</a:t>
                      </a:r>
                      <a:r>
                        <a:rPr lang="zh-CN" altLang="en-US">
                          <a:effectLst/>
                        </a:rPr>
                        <a:t>，名称设置为 </a:t>
                      </a:r>
                      <a:r>
                        <a:rPr lang="en-US" altLang="zh-CN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solid</a:t>
                      </a:r>
                      <a:r>
                        <a:rPr lang="zh-CN" altLang="en-US">
                          <a:effectLst/>
                        </a:rPr>
                        <a:t>，并勾选其值（设置为 </a:t>
                      </a:r>
                      <a:r>
                        <a:rPr lang="en-US" altLang="zh-CN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true</a:t>
                      </a:r>
                      <a:r>
                        <a:rPr lang="zh-CN" altLang="en-US">
                          <a:effectLst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835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5. </a:t>
                      </a:r>
                      <a:r>
                        <a:rPr lang="zh-CN" altLang="en-US" b="1">
                          <a:effectLst/>
                        </a:rPr>
                        <a:t>保存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保存图块集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3307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039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CA7E-C632-ACFE-00A3-E68859C1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JSON </a:t>
            </a:r>
            <a:r>
              <a:rPr lang="zh-CN" altLang="en-US" b="1" dirty="0"/>
              <a:t>结构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68D9B-1C54-F0C0-C998-B1A2A7ABE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保存图块集后，这个信息会被记录在 </a:t>
            </a:r>
            <a:r>
              <a:rPr lang="en-US" altLang="zh-CN" dirty="0"/>
              <a:t>JSON </a:t>
            </a:r>
            <a:r>
              <a:rPr lang="zh-CN" altLang="en-US" dirty="0"/>
              <a:t>文件中：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FD0150-1A6F-1F6B-3B44-AB0A10FE4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07" y="2417824"/>
            <a:ext cx="3359323" cy="23623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F22895-7371-0E6B-2EE3-170F15C76B82}"/>
              </a:ext>
            </a:extLst>
          </p:cNvPr>
          <p:cNvSpPr txBox="1"/>
          <p:nvPr/>
        </p:nvSpPr>
        <p:spPr>
          <a:xfrm>
            <a:off x="5695785" y="38166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可视化效果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FC13A4-EB07-AD03-0DD4-C1DF3287B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901" y="4320897"/>
            <a:ext cx="4419827" cy="132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8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6C017-AA15-0A47-FC0B-E1956EFA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读取瓦片类型（</a:t>
            </a:r>
            <a:r>
              <a:rPr lang="en-US" b="1" dirty="0" err="1"/>
              <a:t>LevelLoader</a:t>
            </a:r>
            <a:r>
              <a:rPr lang="en-US" b="1" dirty="0"/>
              <a:t>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21C1D-327C-1CFD-39B1-8CE06E4BF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现在，我们需要让 </a:t>
            </a:r>
            <a:r>
              <a:rPr lang="en-US" altLang="zh-CN" dirty="0" err="1"/>
              <a:t>LevelLoader</a:t>
            </a:r>
            <a:r>
              <a:rPr lang="zh-CN" altLang="en-US" dirty="0"/>
              <a:t> 能够读取并理解这个 </a:t>
            </a:r>
            <a:r>
              <a:rPr lang="en-US" altLang="zh-CN" dirty="0"/>
              <a:t>solid</a:t>
            </a:r>
            <a:r>
              <a:rPr lang="zh-CN" altLang="en-US" dirty="0"/>
              <a:t> 属性。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0AD5B-2F8E-9489-7485-9019A64B0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00" y="2596583"/>
            <a:ext cx="2692538" cy="304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954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EFE71-D1C0-8303-4954-3297C6C6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瓦片类型枚举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5CFD1-85D9-506E-7485-F08D76E8A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首先定义瓦片类型：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8E2074-3D78-DF58-6674-069E00E1F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817" y="681037"/>
            <a:ext cx="5696243" cy="328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04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7C881-4ECA-34B9-6266-24CDFCADA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1B08D-E5F2-6D74-46C4-694B96287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engine/scene/</a:t>
            </a:r>
            <a:r>
              <a:rPr lang="en-US" b="1" dirty="0" err="1"/>
              <a:t>level_loader.h（更新</a:t>
            </a:r>
            <a:r>
              <a:rPr lang="en-US" b="1" dirty="0"/>
              <a:t>）</a:t>
            </a:r>
          </a:p>
          <a:p>
            <a:r>
              <a:rPr lang="en-US" b="1" dirty="0"/>
              <a:t>engine/scene/</a:t>
            </a:r>
            <a:r>
              <a:rPr lang="en-US" b="1" dirty="0" err="1"/>
              <a:t>level_loader.cpp（更新</a:t>
            </a:r>
            <a:r>
              <a:rPr lang="en-US" b="1" dirty="0"/>
              <a:t>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830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FADFA-5488-184A-9463-C78DE44C2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方法职责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D5D5D80-80DE-E5DC-6CE2-3CDDDD847F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7801700"/>
              </p:ext>
            </p:extLst>
          </p:nvPr>
        </p:nvGraphicFramePr>
        <p:xfrm>
          <a:off x="838200" y="1825625"/>
          <a:ext cx="105156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5886156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6567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职责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41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getTileType()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从单个 </a:t>
                      </a:r>
                      <a:r>
                        <a:rPr lang="en-US">
                          <a:effectLst/>
                        </a:rPr>
                        <a:t>tile </a:t>
                      </a:r>
                      <a:r>
                        <a:rPr lang="zh-CN" altLang="en-US">
                          <a:effectLst/>
                        </a:rPr>
                        <a:t>的 </a:t>
                      </a:r>
                      <a:r>
                        <a:rPr lang="en-US">
                          <a:effectLst/>
                        </a:rPr>
                        <a:t>JSON </a:t>
                      </a:r>
                      <a:r>
                        <a:rPr lang="zh-CN" altLang="en-US">
                          <a:effectLst/>
                        </a:rPr>
                        <a:t>中解析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properties</a:t>
                      </a:r>
                      <a:r>
                        <a:rPr lang="en-US">
                          <a:effectLst/>
                        </a:rPr>
                        <a:t> </a:t>
                      </a:r>
                      <a:r>
                        <a:rPr lang="zh-CN" altLang="en-US">
                          <a:effectLst/>
                        </a:rPr>
                        <a:t>数组，提取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solid</a:t>
                      </a:r>
                      <a:r>
                        <a:rPr lang="en-US">
                          <a:effectLst/>
                        </a:rPr>
                        <a:t> </a:t>
                      </a:r>
                      <a:r>
                        <a:rPr lang="zh-CN" altLang="en-US">
                          <a:effectLst/>
                        </a:rPr>
                        <a:t>属性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530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getTileTypeById()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根据 </a:t>
                      </a:r>
                      <a:r>
                        <a:rPr lang="en-US">
                          <a:effectLst/>
                        </a:rPr>
                        <a:t>local_id </a:t>
                      </a:r>
                      <a:r>
                        <a:rPr lang="zh-CN" altLang="en-US">
                          <a:effectLst/>
                        </a:rPr>
                        <a:t>在图块集的 </a:t>
                      </a:r>
                      <a:r>
                        <a:rPr lang="en-US">
                          <a:effectLst/>
                        </a:rPr>
                        <a:t>tiles </a:t>
                      </a:r>
                      <a:r>
                        <a:rPr lang="zh-CN" altLang="en-US">
                          <a:effectLst/>
                        </a:rPr>
                        <a:t>数组中查找对应的 </a:t>
                      </a:r>
                      <a:r>
                        <a:rPr lang="en-US">
                          <a:effectLst/>
                        </a:rPr>
                        <a:t>tile，</a:t>
                      </a:r>
                      <a:r>
                        <a:rPr lang="zh-CN" altLang="en-US">
                          <a:effectLst/>
                        </a:rPr>
                        <a:t>然后调用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getTileType()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434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getTileInfoByGid()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更新后在创建 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TileInfo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  <a:r>
                        <a:rPr lang="zh-CN" altLang="en-US" dirty="0">
                          <a:effectLst/>
                        </a:rPr>
                        <a:t>时能正确设置 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TileType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6135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A8A7C29-64FE-179F-86E4-28291BDEBBCB}"/>
              </a:ext>
            </a:extLst>
          </p:cNvPr>
          <p:cNvSpPr txBox="1"/>
          <p:nvPr/>
        </p:nvSpPr>
        <p:spPr>
          <a:xfrm>
            <a:off x="996462" y="422605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我们添加了两个辅助函数来解析 </a:t>
            </a:r>
            <a:r>
              <a:rPr lang="en-US" b="0" i="0" dirty="0">
                <a:solidFill>
                  <a:srgbClr val="333333"/>
                </a:solidFill>
                <a:effectLst/>
                <a:latin typeface="source-code-pro"/>
              </a:rPr>
              <a:t>properties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数组，并更新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code-pro"/>
              </a:rPr>
              <a:t>getTileInfoByGid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使其在创建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code-pro"/>
              </a:rPr>
              <a:t>TileInfo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时能正确设置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ource-code-pro"/>
              </a:rPr>
              <a:t>TileType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146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9E8C-98CD-421F-D604-FB8014B7F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物理引擎与瓦片层的交互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E6A65-8262-B7C2-FA60-7BBF1E49B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PhysicsEngine</a:t>
            </a:r>
            <a:r>
              <a:rPr lang="en-US" dirty="0"/>
              <a:t> </a:t>
            </a:r>
            <a:r>
              <a:rPr lang="zh-CN" altLang="en-US" dirty="0"/>
              <a:t>需要知道哪些 </a:t>
            </a:r>
            <a:r>
              <a:rPr lang="en-US" dirty="0" err="1"/>
              <a:t>TileLayerComponent</a:t>
            </a:r>
            <a:r>
              <a:rPr lang="en-US" dirty="0"/>
              <a:t> </a:t>
            </a:r>
            <a:r>
              <a:rPr lang="zh-CN" altLang="en-US" dirty="0"/>
              <a:t>是需要参与碰撞检测的。我们将为此添加注册</a:t>
            </a:r>
            <a:r>
              <a:rPr lang="en-US" altLang="zh-CN" dirty="0"/>
              <a:t>/</a:t>
            </a:r>
            <a:r>
              <a:rPr lang="zh-CN" altLang="en-US" dirty="0"/>
              <a:t>注销机制。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b="1" dirty="0"/>
              <a:t>engine/physics/</a:t>
            </a:r>
            <a:r>
              <a:rPr lang="en-US" b="1" dirty="0" err="1"/>
              <a:t>physics_engine.h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</a:p>
          <a:p>
            <a:pPr marL="0" indent="0">
              <a:buNone/>
            </a:pPr>
            <a:r>
              <a:rPr lang="en-US" b="1" dirty="0" err="1"/>
              <a:t>src</a:t>
            </a:r>
            <a:r>
              <a:rPr lang="en-US" b="1" dirty="0"/>
              <a:t>/game/scene/game_scene.cpp（</a:t>
            </a:r>
            <a:r>
              <a:rPr lang="zh-CN" altLang="en-US" b="1" dirty="0"/>
              <a:t>注册图层）</a:t>
            </a:r>
          </a:p>
          <a:p>
            <a:pPr marL="0" indent="0">
              <a:buNone/>
            </a:pPr>
            <a:endParaRPr lang="zh-CN" altLang="en-US" dirty="0"/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C25DBD-85D8-1473-1E8C-558F9933E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45" y="4254040"/>
            <a:ext cx="3103777" cy="234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49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B254AC5-31BF-E446-D7E4-81A2A455E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046" y="1122363"/>
            <a:ext cx="10843846" cy="2387600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核心</a:t>
            </a:r>
            <a:r>
              <a:rPr lang="zh-CN" altLang="en-US" b="1" dirty="0"/>
              <a:t>：轴分离碰撞解析算法</a:t>
            </a:r>
            <a:endParaRPr lang="en-US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937C16B-4184-C807-8235-8B0104EECC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现在到了 </a:t>
            </a:r>
            <a:r>
              <a:rPr lang="zh-CN" altLang="en-US" b="1" dirty="0"/>
              <a:t>最核心的部分</a:t>
            </a:r>
            <a:r>
              <a:rPr lang="zh-CN" altLang="en-US" dirty="0"/>
              <a:t>。当一个物体将要移动到一个新位置时，我们如何判断它是否会撞上瓦片，以及如何阻止它？</a:t>
            </a:r>
          </a:p>
          <a:p>
            <a:r>
              <a:rPr lang="zh-CN" altLang="en-US" dirty="0"/>
              <a:t>我们将使用一种经典而高效的方法：</a:t>
            </a:r>
            <a:r>
              <a:rPr lang="zh-CN" altLang="en-US" b="1" dirty="0"/>
              <a:t>轴分离碰撞解析（</a:t>
            </a:r>
            <a:r>
              <a:rPr lang="en-US" b="1" dirty="0"/>
              <a:t>Axis-Separated Collision Resolution）</a:t>
            </a:r>
            <a:r>
              <a:rPr 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233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32CAA-810F-8B95-D9B8-46DDA101C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核心思想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EA223-ACC2-8F19-9B9D-CB4713B4D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将物体的移动分解为 </a:t>
            </a:r>
            <a:r>
              <a:rPr lang="zh-CN" altLang="en-US" b="1" dirty="0"/>
              <a:t>水平（</a:t>
            </a:r>
            <a:r>
              <a:rPr lang="en-US" altLang="zh-CN" b="1" dirty="0"/>
              <a:t>X </a:t>
            </a:r>
            <a:r>
              <a:rPr lang="zh-CN" altLang="en-US" b="1" dirty="0"/>
              <a:t>轴）</a:t>
            </a:r>
            <a:r>
              <a:rPr lang="zh-CN" altLang="en-US" dirty="0"/>
              <a:t> 和 </a:t>
            </a:r>
            <a:r>
              <a:rPr lang="zh-CN" altLang="en-US" b="1" dirty="0"/>
              <a:t>垂直（</a:t>
            </a:r>
            <a:r>
              <a:rPr lang="en-US" altLang="zh-CN" b="1" dirty="0"/>
              <a:t>Y </a:t>
            </a:r>
            <a:r>
              <a:rPr lang="zh-CN" altLang="en-US" b="1" dirty="0"/>
              <a:t>轴）</a:t>
            </a:r>
            <a:r>
              <a:rPr lang="zh-CN" altLang="en-US" dirty="0"/>
              <a:t> 两个独立的部分：</a:t>
            </a:r>
          </a:p>
          <a:p>
            <a:r>
              <a:rPr lang="zh-CN" altLang="en-US" b="1" dirty="0"/>
              <a:t>先处理 </a:t>
            </a:r>
            <a:r>
              <a:rPr lang="en-US" altLang="zh-CN" b="1" dirty="0"/>
              <a:t>Y </a:t>
            </a:r>
            <a:r>
              <a:rPr lang="zh-CN" altLang="en-US" b="1" dirty="0"/>
              <a:t>轴碰撞</a:t>
            </a:r>
            <a:r>
              <a:rPr lang="zh-CN" altLang="en-US" dirty="0"/>
              <a:t>，校正其位置</a:t>
            </a:r>
          </a:p>
          <a:p>
            <a:r>
              <a:rPr lang="zh-CN" altLang="en-US" b="1" dirty="0"/>
              <a:t>再用校正后的位置处理 </a:t>
            </a:r>
            <a:r>
              <a:rPr lang="en-US" altLang="zh-CN" b="1" dirty="0"/>
              <a:t>X </a:t>
            </a:r>
            <a:r>
              <a:rPr lang="zh-CN" altLang="en-US" b="1" dirty="0"/>
              <a:t>轴碰撞</a:t>
            </a:r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46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3667-F4D8-BD8B-AB81-60D42083E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为什么要分离？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02A885-A2FF-B6E6-1284-AF95E419A2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114477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437471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64301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不分离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轴分离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4695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❌ 对角移动时难以判断碰撞方向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✅ 清晰的碰撞方向判断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897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❌ 可能出现</a:t>
                      </a:r>
                      <a:r>
                        <a:rPr lang="en-US" altLang="zh-CN">
                          <a:effectLst/>
                        </a:rPr>
                        <a:t>"</a:t>
                      </a:r>
                      <a:r>
                        <a:rPr lang="zh-CN" altLang="en-US">
                          <a:effectLst/>
                        </a:rPr>
                        <a:t>卡住</a:t>
                      </a:r>
                      <a:r>
                        <a:rPr lang="en-US" altLang="zh-CN">
                          <a:effectLst/>
                        </a:rPr>
                        <a:t>"</a:t>
                      </a:r>
                      <a:r>
                        <a:rPr lang="zh-CN" altLang="en-US">
                          <a:effectLst/>
                        </a:rPr>
                        <a:t>的情况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✅ 自然的滑墙效果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5057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❌ 复杂的碰撞响应计算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✅ 简单高效的算法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9997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99529A9-C367-5774-894A-DDBEF2A73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02" y="3372713"/>
            <a:ext cx="2438331" cy="312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779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65029-9F8C-7803-398F-61DF776D2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检测点策略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6B32A5-6045-136A-A527-0B3A417B9E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584805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62661007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8274393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30223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移动方向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检测点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原因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097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向下移动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左下角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右下角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检测脚下的瓦片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0582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向上移动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左上角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右上角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检测头顶的瓦片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6756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向右移动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右上角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右下角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检测右侧的瓦片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272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向左移动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左上角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左下角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检测左侧的瓦片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001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470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E29D-17E9-94FB-622D-A84DE0D1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0C744E-3CAC-727B-0870-CBD95ADA5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4019757" cy="2343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ADF74E-F800-C5D3-A097-1112890EB54B}"/>
              </a:ext>
            </a:extLst>
          </p:cNvPr>
          <p:cNvSpPr txBox="1"/>
          <p:nvPr/>
        </p:nvSpPr>
        <p:spPr>
          <a:xfrm>
            <a:off x="8382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-apple-system"/>
              </a:rPr>
              <a:t>engine/physics/physics_engine.cpp（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核心逻辑更新）</a:t>
            </a:r>
          </a:p>
        </p:txBody>
      </p:sp>
    </p:spTree>
    <p:extLst>
      <p:ext uri="{BB962C8B-B14F-4D97-AF65-F5344CB8AC3E}">
        <p14:creationId xmlns:p14="http://schemas.microsoft.com/office/powerpoint/2010/main" val="1616862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ED385-6D54-35C9-8497-7CE562F0E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DB0E671-F5AE-56B5-FECA-B91DBD687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9231" y="2181925"/>
            <a:ext cx="6553537" cy="363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304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F3EC3-DDBD-7ECA-6052-7FEB61A7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FAB47F-2591-75C6-0A6D-9411947A01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9437501"/>
              </p:ext>
            </p:extLst>
          </p:nvPr>
        </p:nvGraphicFramePr>
        <p:xfrm>
          <a:off x="838200" y="1825625"/>
          <a:ext cx="10515597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39579148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97059300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037051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959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1. </a:t>
                      </a:r>
                      <a:r>
                        <a:rPr lang="zh-CN" altLang="en-US" b="1">
                          <a:effectLst/>
                        </a:rPr>
                        <a:t>获取当前状态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获取物体的碰撞盒、位置、尺寸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基础数据准备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789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2. </a:t>
                      </a:r>
                      <a:r>
                        <a:rPr lang="zh-CN" altLang="en-US" b="1">
                          <a:effectLst/>
                        </a:rPr>
                        <a:t>计算潜在位置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new_pos = pos + velocity * dt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如果没有碰撞会到达的位置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2707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3. Y </a:t>
                      </a:r>
                      <a:r>
                        <a:rPr lang="zh-CN" altLang="en-US" b="1">
                          <a:effectLst/>
                        </a:rPr>
                        <a:t>轴碰撞检测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检测脚下</a:t>
                      </a:r>
                      <a:r>
                        <a:rPr lang="en-US" altLang="zh-CN">
                          <a:effectLst/>
                        </a:rPr>
                        <a:t>/</a:t>
                      </a:r>
                      <a:r>
                        <a:rPr lang="zh-CN" altLang="en-US">
                          <a:effectLst/>
                        </a:rPr>
                        <a:t>头顶的瓦片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先处理垂直方向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670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4. Y </a:t>
                      </a:r>
                      <a:r>
                        <a:rPr lang="zh-CN" altLang="en-US" b="1">
                          <a:effectLst/>
                        </a:rPr>
                        <a:t>轴位置校正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如果碰撞，调整 </a:t>
                      </a:r>
                      <a:r>
                        <a:rPr lang="en-US">
                          <a:effectLst/>
                        </a:rPr>
                        <a:t>Y </a:t>
                      </a:r>
                      <a:r>
                        <a:rPr lang="zh-CN" altLang="en-US">
                          <a:effectLst/>
                        </a:rPr>
                        <a:t>坐标并清零 </a:t>
                      </a:r>
                      <a:r>
                        <a:rPr lang="en-US">
                          <a:effectLst/>
                        </a:rPr>
                        <a:t>Y </a:t>
                      </a:r>
                      <a:r>
                        <a:rPr lang="zh-CN" altLang="en-US">
                          <a:effectLst/>
                        </a:rPr>
                        <a:t>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站在地面或顶到天花板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3061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5. X </a:t>
                      </a:r>
                      <a:r>
                        <a:rPr lang="zh-CN" altLang="en-US" b="1">
                          <a:effectLst/>
                        </a:rPr>
                        <a:t>轴碰撞检测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使用校正后的 </a:t>
                      </a:r>
                      <a:r>
                        <a:rPr lang="en-US">
                          <a:effectLst/>
                        </a:rPr>
                        <a:t>Y </a:t>
                      </a:r>
                      <a:r>
                        <a:rPr lang="zh-CN" altLang="en-US">
                          <a:effectLst/>
                        </a:rPr>
                        <a:t>坐标检测左右瓦片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再处理水平方向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389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6. X </a:t>
                      </a:r>
                      <a:r>
                        <a:rPr lang="zh-CN" altLang="en-US" b="1">
                          <a:effectLst/>
                        </a:rPr>
                        <a:t>轴位置校正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如果碰撞，调整 </a:t>
                      </a:r>
                      <a:r>
                        <a:rPr lang="en-US" altLang="zh-CN">
                          <a:effectLst/>
                        </a:rPr>
                        <a:t>X </a:t>
                      </a:r>
                      <a:r>
                        <a:rPr lang="zh-CN" altLang="en-US">
                          <a:effectLst/>
                        </a:rPr>
                        <a:t>坐标并清零 </a:t>
                      </a:r>
                      <a:r>
                        <a:rPr lang="en-US" altLang="zh-CN">
                          <a:effectLst/>
                        </a:rPr>
                        <a:t>X </a:t>
                      </a:r>
                      <a:r>
                        <a:rPr lang="zh-CN" altLang="en-US">
                          <a:effectLst/>
                        </a:rPr>
                        <a:t>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贴墙停止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042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b="1">
                          <a:effectLst/>
                        </a:rPr>
                        <a:t>7. </a:t>
                      </a:r>
                      <a:r>
                        <a:rPr lang="zh-CN" altLang="en-US" b="1">
                          <a:effectLst/>
                        </a:rPr>
                        <a:t>应用最终位置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setPosition(new_pos)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更新物体位置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041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3401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5C959-D9AF-84D4-3292-1CB2A7EB0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关键细节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AE93D-921D-FD3E-9D63-C20932EDC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746" y="1462209"/>
            <a:ext cx="10515600" cy="4926867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b="1" dirty="0"/>
              <a:t>Tolerance（</a:t>
            </a:r>
            <a:r>
              <a:rPr lang="zh-CN" altLang="en-US" b="1" dirty="0"/>
              <a:t>容差）</a:t>
            </a:r>
            <a:endParaRPr lang="en-US" altLang="zh-CN" b="1" dirty="0"/>
          </a:p>
          <a:p>
            <a:pPr marL="514350" indent="-514350">
              <a:buAutoNum type="arabicPeriod"/>
            </a:pPr>
            <a:endParaRPr lang="en-US" altLang="zh-CN" b="1" dirty="0"/>
          </a:p>
          <a:p>
            <a:pPr marL="0" indent="0">
              <a:buNone/>
            </a:pPr>
            <a:r>
              <a:rPr lang="zh-CN" altLang="en-US" sz="2000" b="1" dirty="0"/>
              <a:t>原因</a:t>
            </a:r>
            <a:r>
              <a:rPr lang="zh-CN" altLang="en-US" sz="2000" dirty="0"/>
              <a:t>：防止浮点数精度问题导致物体卡在两个瓦片之间。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b="1" dirty="0"/>
          </a:p>
          <a:p>
            <a:pPr marL="0" indent="0"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位置校正公式</a:t>
            </a:r>
            <a:endParaRPr lang="en-US" altLang="zh-CN" b="1" dirty="0"/>
          </a:p>
          <a:p>
            <a:pPr marL="0" indent="0">
              <a:buNone/>
            </a:pPr>
            <a:endParaRPr lang="zh-CN" altLang="en-US" b="1" dirty="0"/>
          </a:p>
          <a:p>
            <a:pPr marL="0" indent="0">
              <a:buNone/>
            </a:pPr>
            <a:endParaRPr lang="en-US" altLang="zh-CN" sz="2000" b="1" dirty="0"/>
          </a:p>
          <a:p>
            <a:pPr marL="514350" indent="-514350">
              <a:buAutoNum type="arabicPeriod"/>
            </a:pPr>
            <a:endParaRPr lang="zh-CN" altLang="en-US" b="1" dirty="0"/>
          </a:p>
          <a:p>
            <a:pPr marL="0" indent="0">
              <a:buNone/>
            </a:pPr>
            <a:r>
              <a:rPr lang="zh-CN" altLang="en-US" sz="2000" b="1" dirty="0"/>
              <a:t>逻辑</a:t>
            </a:r>
            <a:r>
              <a:rPr lang="zh-CN" altLang="en-US" sz="2000" dirty="0"/>
              <a:t>：</a:t>
            </a:r>
          </a:p>
          <a:p>
            <a:r>
              <a:rPr lang="en-US" sz="2000" dirty="0" err="1"/>
              <a:t>tile_y</a:t>
            </a:r>
            <a:r>
              <a:rPr lang="en-US" sz="2000" dirty="0"/>
              <a:t> * </a:t>
            </a:r>
            <a:r>
              <a:rPr lang="en-US" sz="2000" dirty="0" err="1"/>
              <a:t>tile_size.y</a:t>
            </a:r>
            <a:r>
              <a:rPr lang="en-US" sz="2000" dirty="0"/>
              <a:t>：</a:t>
            </a:r>
            <a:r>
              <a:rPr lang="zh-CN" altLang="en-US" sz="2000" dirty="0"/>
              <a:t>瓦片顶部的世界坐标</a:t>
            </a:r>
          </a:p>
          <a:p>
            <a:r>
              <a:rPr lang="zh-CN" altLang="en-US" sz="2000" dirty="0"/>
              <a:t>减去物体尺寸：得到物体左上角应该在的位置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338F0-0F91-5804-545B-F432C6479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54" y="1859151"/>
            <a:ext cx="7467984" cy="4572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6838BB-C7F6-14D2-3F08-6BEA5C80C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44" y="3651728"/>
            <a:ext cx="4254719" cy="102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6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126E6-4287-95C1-B154-8A01AF232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BA1CA-2E64-6387-8A56-5FBFF9A03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/>
              <a:t>3. </a:t>
            </a:r>
            <a:r>
              <a:rPr lang="zh-CN" altLang="en-US" b="1" dirty="0"/>
              <a:t>速度清零</a:t>
            </a:r>
            <a:endParaRPr lang="en-US" altLang="zh-CN" b="1" dirty="0"/>
          </a:p>
          <a:p>
            <a:pPr marL="0" indent="0">
              <a:buNone/>
            </a:pPr>
            <a:endParaRPr lang="zh-CN" altLang="en-US" b="1" dirty="0"/>
          </a:p>
          <a:p>
            <a:endParaRPr lang="en-US" dirty="0"/>
          </a:p>
          <a:p>
            <a:pPr marL="0" indent="0">
              <a:buNone/>
            </a:pPr>
            <a:r>
              <a:rPr lang="zh-CN" altLang="en-US" sz="2000" b="1" dirty="0"/>
              <a:t>效果</a:t>
            </a:r>
            <a:r>
              <a:rPr lang="zh-CN" altLang="en-US" sz="2000" dirty="0"/>
              <a:t>：</a:t>
            </a:r>
          </a:p>
          <a:p>
            <a:r>
              <a:rPr lang="zh-CN" altLang="en-US" sz="2000" dirty="0"/>
              <a:t>落地后不再继续下沉</a:t>
            </a:r>
          </a:p>
          <a:p>
            <a:r>
              <a:rPr lang="zh-CN" altLang="en-US" sz="2000" dirty="0"/>
              <a:t>撞墙后可以沿墙滑动（另一轴速度保留）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CAB0D-E5AE-EA32-DC24-98A3702A7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666" y="2388563"/>
            <a:ext cx="3486329" cy="53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30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4138C-5119-6B40-5B62-13AE3B655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 </a:t>
            </a:r>
            <a:r>
              <a:rPr lang="zh-CN" altLang="en-US" b="1" dirty="0"/>
              <a:t>切换到速度控制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AD824-8BE3-62E7-7134-AAE8435AC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最后，为了让物理引擎 </a:t>
            </a:r>
            <a:r>
              <a:rPr lang="zh-CN" altLang="en-US" b="1" dirty="0"/>
              <a:t>完全接管运动</a:t>
            </a:r>
            <a:r>
              <a:rPr lang="zh-CN" altLang="en-US" dirty="0"/>
              <a:t>，我们需要改变测试代码的逻辑：不再直接修改 </a:t>
            </a:r>
            <a:r>
              <a:rPr lang="en-US" dirty="0"/>
              <a:t>Transform </a:t>
            </a:r>
            <a:r>
              <a:rPr lang="zh-CN" altLang="en-US" dirty="0"/>
              <a:t>的位置，而是修改 </a:t>
            </a:r>
            <a:r>
              <a:rPr lang="en-US" dirty="0" err="1"/>
              <a:t>PhysicsComponent</a:t>
            </a:r>
            <a:r>
              <a:rPr lang="en-US" dirty="0"/>
              <a:t> </a:t>
            </a:r>
            <a:r>
              <a:rPr lang="zh-CN" altLang="en-US" dirty="0"/>
              <a:t>的速度。</a:t>
            </a:r>
            <a:endParaRPr lang="en-US" altLang="zh-CN" dirty="0"/>
          </a:p>
          <a:p>
            <a:endParaRPr lang="en-US" dirty="0"/>
          </a:p>
          <a:p>
            <a:r>
              <a:rPr lang="en-US" b="1" dirty="0" err="1"/>
              <a:t>src</a:t>
            </a:r>
            <a:r>
              <a:rPr lang="en-US" b="1" dirty="0"/>
              <a:t>/game/scene/game_scene.cpp（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133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3E52A-D2CD-FE79-CAC8-26159E73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控制方式对比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C6AAF2-AF08-15E1-9676-79D0F5DDD8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4261"/>
              </p:ext>
            </p:extLst>
          </p:nvPr>
        </p:nvGraphicFramePr>
        <p:xfrm>
          <a:off x="838200" y="1825625"/>
          <a:ext cx="10515597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177541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089446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328043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旧方法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新方法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8718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移动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直接修改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Transform.position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设置 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Physics.velocity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836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跳跃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设置速度（已是新方法）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设置速度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85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停止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无（持续移动）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摩擦力模拟（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source-code-pro"/>
                        </a:rPr>
                        <a:t>velocity *= 0.9</a:t>
                      </a:r>
                      <a:r>
                        <a:rPr lang="en-US">
                          <a:effectLst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012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优势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简单直接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✅ 物理引擎统一管理</a:t>
                      </a:r>
                      <a:br>
                        <a:rPr lang="zh-CN" altLang="en-US" dirty="0">
                          <a:effectLst/>
                        </a:rPr>
                      </a:br>
                      <a:r>
                        <a:rPr lang="zh-CN" altLang="en-US" dirty="0">
                          <a:effectLst/>
                        </a:rPr>
                        <a:t>✅ 自动处理碰撞</a:t>
                      </a:r>
                      <a:br>
                        <a:rPr lang="zh-CN" altLang="en-US" dirty="0">
                          <a:effectLst/>
                        </a:rPr>
                      </a:br>
                      <a:r>
                        <a:rPr lang="zh-CN" altLang="en-US" dirty="0">
                          <a:effectLst/>
                        </a:rPr>
                        <a:t>✅ 更真实的物理效果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147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0746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BA6A8-E181-BB3D-4A70-196ABFAF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摩擦力模拟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A91DB0-EBCF-A1E5-2AD6-452044058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7626" y="1690688"/>
            <a:ext cx="2178162" cy="3302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BE89AB-CD54-C52B-1A68-7C56EDE56C38}"/>
              </a:ext>
            </a:extLst>
          </p:cNvPr>
          <p:cNvSpPr txBox="1"/>
          <p:nvPr/>
        </p:nvSpPr>
        <p:spPr>
          <a:xfrm>
            <a:off x="937846" y="231888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效果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每帧速度衰减到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90%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让物体逐渐停下来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模拟地面摩擦力</a:t>
            </a:r>
          </a:p>
        </p:txBody>
      </p:sp>
    </p:spTree>
    <p:extLst>
      <p:ext uri="{BB962C8B-B14F-4D97-AF65-F5344CB8AC3E}">
        <p14:creationId xmlns:p14="http://schemas.microsoft.com/office/powerpoint/2010/main" val="36262724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E750B-4601-93BB-4488-FB736930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系统架构总结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E6B894-B557-6849-8193-919FA8E32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0018" y="1632152"/>
            <a:ext cx="3092609" cy="39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306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1A608-3BAF-1A31-6E37-3F9565837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核心成就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DA9B-EC3F-7EB7-A2A1-47F2B1381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定义实体瓦片</a:t>
            </a:r>
            <a:r>
              <a:rPr lang="zh-CN" altLang="en-US" dirty="0"/>
              <a:t>：在 </a:t>
            </a:r>
            <a:r>
              <a:rPr lang="en-US" altLang="zh-CN" dirty="0"/>
              <a:t>Tiled </a:t>
            </a:r>
            <a:r>
              <a:rPr lang="zh-CN" altLang="en-US" dirty="0"/>
              <a:t>中标记可碰撞瓦片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属性解析</a:t>
            </a:r>
            <a:r>
              <a:rPr lang="zh-CN" altLang="en-US" dirty="0"/>
              <a:t>：读取并理解瓦片的 </a:t>
            </a:r>
            <a:r>
              <a:rPr lang="en-US" altLang="zh-CN" dirty="0"/>
              <a:t>solid</a:t>
            </a:r>
            <a:r>
              <a:rPr lang="zh-CN" altLang="en-US" dirty="0"/>
              <a:t> 属性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注册机制</a:t>
            </a:r>
            <a:r>
              <a:rPr lang="zh-CN" altLang="en-US" dirty="0"/>
              <a:t>：将瓦片层注册到物理引擎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轴分离算法</a:t>
            </a:r>
            <a:r>
              <a:rPr lang="zh-CN" altLang="en-US" dirty="0"/>
              <a:t>：实现高效的碰撞解析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速度控制</a:t>
            </a:r>
            <a:r>
              <a:rPr lang="zh-CN" altLang="en-US" dirty="0"/>
              <a:t>：统一的物理驱动运动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真实交互</a:t>
            </a:r>
            <a:r>
              <a:rPr lang="zh-CN" altLang="en-US" dirty="0"/>
              <a:t>：物体不再穿透地面和墙壁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005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2C0F-B0F5-EFBB-EC8B-631D5F765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7929"/>
            <a:ext cx="10515600" cy="1325563"/>
          </a:xfrm>
        </p:spPr>
        <p:txBody>
          <a:bodyPr/>
          <a:lstStyle/>
          <a:p>
            <a:r>
              <a:rPr lang="zh-CN" altLang="en-US" b="1" dirty="0"/>
              <a:t>算法优势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D3E79E-780B-F81B-8B65-1300584B36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0877206"/>
              </p:ext>
            </p:extLst>
          </p:nvPr>
        </p:nvGraphicFramePr>
        <p:xfrm>
          <a:off x="838200" y="905363"/>
          <a:ext cx="1051559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47198606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0374756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7330144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优势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9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轴分离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分别处理 </a:t>
                      </a:r>
                      <a:r>
                        <a:rPr lang="en-US">
                          <a:effectLst/>
                        </a:rPr>
                        <a:t>X </a:t>
                      </a:r>
                      <a:r>
                        <a:rPr lang="zh-CN" altLang="en-US">
                          <a:effectLst/>
                        </a:rPr>
                        <a:t>和 </a:t>
                      </a:r>
                      <a:r>
                        <a:rPr lang="en-US">
                          <a:effectLst/>
                        </a:rPr>
                        <a:t>Y </a:t>
                      </a:r>
                      <a:r>
                        <a:rPr lang="zh-CN" altLang="en-US">
                          <a:effectLst/>
                        </a:rPr>
                        <a:t>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清晰的碰撞方向，自然的滑墙效果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59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高效检测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只检测相关的几个瓦片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O(1) </a:t>
                      </a:r>
                      <a:r>
                        <a:rPr lang="zh-CN" altLang="en-US">
                          <a:effectLst/>
                        </a:rPr>
                        <a:t>而非 </a:t>
                      </a:r>
                      <a:r>
                        <a:rPr lang="en-US">
                          <a:effectLst/>
                        </a:rPr>
                        <a:t>O(n)，</a:t>
                      </a:r>
                      <a:r>
                        <a:rPr lang="zh-CN" altLang="en-US">
                          <a:effectLst/>
                        </a:rPr>
                        <a:t>适合大地图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328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精确定位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直接计算瓦片坐标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无需遍历所有瓦片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9630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容差处理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避免浮点数误差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更稳定的碰撞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498113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D369668-A7C8-FE43-5C02-B5F045886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107" y="3360565"/>
            <a:ext cx="2997354" cy="193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449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E680-EC14-B048-68EC-7041BAB1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📚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F229-0E1F-EB57-DBFF-977E1D92B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1262"/>
            <a:ext cx="10515600" cy="5064369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我们已经实现了瓦片地图层的碰撞解析！</a:t>
            </a:r>
          </a:p>
          <a:p>
            <a:pPr marL="0" indent="0">
              <a:buNone/>
            </a:pPr>
            <a:r>
              <a:rPr lang="zh-CN" altLang="en-US" b="1" dirty="0"/>
              <a:t>关键要点：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🏷️ </a:t>
            </a:r>
            <a:r>
              <a:rPr lang="en-US" altLang="zh-CN" dirty="0"/>
              <a:t>Tiled </a:t>
            </a:r>
            <a:r>
              <a:rPr lang="zh-CN" altLang="en-US" dirty="0"/>
              <a:t>自定义属性标记实体瓦片</a:t>
            </a:r>
          </a:p>
          <a:p>
            <a:pPr marL="0" indent="0">
              <a:buNone/>
            </a:pPr>
            <a:r>
              <a:rPr lang="zh-CN" altLang="en-US" dirty="0"/>
              <a:t>📖 </a:t>
            </a:r>
            <a:r>
              <a:rPr lang="en-US" altLang="zh-CN" dirty="0" err="1"/>
              <a:t>LevelLoader</a:t>
            </a:r>
            <a:r>
              <a:rPr lang="en-US" altLang="zh-CN" dirty="0"/>
              <a:t> </a:t>
            </a:r>
            <a:r>
              <a:rPr lang="zh-CN" altLang="en-US" dirty="0"/>
              <a:t>解析瓦片类型</a:t>
            </a:r>
          </a:p>
          <a:p>
            <a:pPr marL="0" indent="0">
              <a:buNone/>
            </a:pPr>
            <a:r>
              <a:rPr lang="zh-CN" altLang="en-US" dirty="0"/>
              <a:t>📝 注册机制连接瓦片层和物理引擎</a:t>
            </a:r>
          </a:p>
          <a:p>
            <a:pPr marL="0" indent="0">
              <a:buNone/>
            </a:pPr>
            <a:r>
              <a:rPr lang="zh-CN" altLang="en-US" dirty="0"/>
              <a:t>🔀 轴分离算法清晰处理碰撞</a:t>
            </a:r>
          </a:p>
          <a:p>
            <a:pPr marL="0" indent="0">
              <a:buNone/>
            </a:pPr>
            <a:r>
              <a:rPr lang="zh-CN" altLang="en-US" dirty="0"/>
              <a:t>🎮 速度控制实现真实物理</a:t>
            </a:r>
          </a:p>
          <a:p>
            <a:pPr marL="0" indent="0">
              <a:buNone/>
            </a:pPr>
            <a:r>
              <a:rPr lang="zh-CN" altLang="en-US" dirty="0"/>
              <a:t>⚡ 高效检测适合大型地图</a:t>
            </a:r>
          </a:p>
          <a:p>
            <a:r>
              <a:rPr lang="zh-CN" altLang="en-US" dirty="0"/>
              <a:t>💡 </a:t>
            </a:r>
            <a:r>
              <a:rPr lang="zh-CN" altLang="en-US" b="1" dirty="0"/>
              <a:t>设计哲学</a:t>
            </a:r>
            <a:r>
              <a:rPr lang="zh-CN" altLang="en-US" dirty="0"/>
              <a:t>：轴分离碰撞解析不仅高效，而且产生的物理效果非常自然。这是 </a:t>
            </a:r>
            <a:r>
              <a:rPr lang="en-US" altLang="zh-CN" dirty="0"/>
              <a:t>2D </a:t>
            </a:r>
            <a:r>
              <a:rPr lang="zh-CN" altLang="en-US" dirty="0"/>
              <a:t>平台游戏中最常用的碰撞算法之一，简单但强大！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728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2B92F-6E05-D051-695E-55DF332A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🚀 下一步展望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FC55C-1579-305B-0DD7-96798D0E2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923"/>
            <a:ext cx="10515600" cy="4565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现在我们的物体可以与瓦片地图正确交互了！但还有一些问题：</a:t>
            </a:r>
          </a:p>
          <a:p>
            <a:pPr marL="0" indent="0">
              <a:buNone/>
            </a:pPr>
            <a:r>
              <a:rPr lang="zh-CN" altLang="en-US" dirty="0"/>
              <a:t>❓ 如果两个动态对象（如玩家和敌人）碰撞呢？</a:t>
            </a:r>
          </a:p>
          <a:p>
            <a:pPr marL="0" indent="0">
              <a:buNone/>
            </a:pPr>
            <a:r>
              <a:rPr lang="zh-CN" altLang="en-US" dirty="0"/>
              <a:t>❓ 如何实现单向平台（只能从下方穿过）？</a:t>
            </a:r>
          </a:p>
          <a:p>
            <a:pPr marL="0" indent="0">
              <a:buNone/>
            </a:pPr>
            <a:r>
              <a:rPr lang="zh-CN" altLang="en-US" dirty="0"/>
              <a:t>❓ 如何支持斜坡？</a:t>
            </a:r>
          </a:p>
          <a:p>
            <a:pPr marL="0" indent="0">
              <a:buNone/>
            </a:pPr>
            <a:r>
              <a:rPr lang="zh-CN" altLang="en-US" dirty="0"/>
              <a:t>下一课，我们将实现 </a:t>
            </a:r>
            <a:r>
              <a:rPr lang="zh-CN" altLang="en-US" b="1" dirty="0"/>
              <a:t>动态对象之间的碰撞解析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🎮 玩家与敌人的碰撞</a:t>
            </a:r>
          </a:p>
          <a:p>
            <a:r>
              <a:rPr lang="zh-CN" altLang="en-US" dirty="0"/>
              <a:t>⚔️ 攻击判定</a:t>
            </a:r>
          </a:p>
          <a:p>
            <a:r>
              <a:rPr lang="zh-CN" altLang="en-US" dirty="0"/>
              <a:t>💰 道具拾取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56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1369</Words>
  <Application>Microsoft Office PowerPoint</Application>
  <PresentationFormat>Widescreen</PresentationFormat>
  <Paragraphs>200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-apple-system</vt:lpstr>
      <vt:lpstr>source-code-pro</vt:lpstr>
      <vt:lpstr>Aptos</vt:lpstr>
      <vt:lpstr>Aptos Display</vt:lpstr>
      <vt:lpstr>Arial</vt:lpstr>
      <vt:lpstr>Office Theme</vt:lpstr>
      <vt:lpstr>瓦片地图层碰撞解析</vt:lpstr>
      <vt:lpstr>📌 问题背景</vt:lpstr>
      <vt:lpstr>🎯 本课目标</vt:lpstr>
      <vt:lpstr>1. 在 Tiled 中定义"实体"</vt:lpstr>
      <vt:lpstr>📝 操作步骤</vt:lpstr>
      <vt:lpstr>JSON 结构</vt:lpstr>
      <vt:lpstr>2. 读取瓦片类型（LevelLoader）</vt:lpstr>
      <vt:lpstr>瓦片类型枚举</vt:lpstr>
      <vt:lpstr>PowerPoint Presentation</vt:lpstr>
      <vt:lpstr>方法职责</vt:lpstr>
      <vt:lpstr>3. 物理引擎与瓦片层的交互</vt:lpstr>
      <vt:lpstr>核心：轴分离碰撞解析算法</vt:lpstr>
      <vt:lpstr>💡 核心思想</vt:lpstr>
      <vt:lpstr>为什么要分离？</vt:lpstr>
      <vt:lpstr>检测点策略</vt:lpstr>
      <vt:lpstr>PowerPoint Presentation</vt:lpstr>
      <vt:lpstr>PowerPoint Presentation</vt:lpstr>
      <vt:lpstr>PowerPoint Presentation</vt:lpstr>
      <vt:lpstr>关键细节</vt:lpstr>
      <vt:lpstr>PowerPoint Presentation</vt:lpstr>
      <vt:lpstr>5. 切换到速度控制</vt:lpstr>
      <vt:lpstr>控制方式对比</vt:lpstr>
      <vt:lpstr>摩擦力模拟</vt:lpstr>
      <vt:lpstr>🎯 系统架构总结</vt:lpstr>
      <vt:lpstr>核心成就</vt:lpstr>
      <vt:lpstr>算法优势</vt:lpstr>
      <vt:lpstr>📚 总结</vt:lpstr>
      <vt:lpstr>🚀 下一步展望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3</cp:revision>
  <dcterms:created xsi:type="dcterms:W3CDTF">2025-11-13T05:40:59Z</dcterms:created>
  <dcterms:modified xsi:type="dcterms:W3CDTF">2025-11-13T05:54:05Z</dcterms:modified>
</cp:coreProperties>
</file>