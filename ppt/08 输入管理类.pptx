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6322-94CD-99F5-51B6-C67EC405F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EF370-EAA8-5596-92E2-F3C21D85E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6A1A-3668-8F6A-2436-F7E220D4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BE933-F7EB-B7C2-4394-10BC125F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BDD7E-85C0-AAC0-C8CD-630BF14D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5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2B29-E78A-D24F-7016-50822FE1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132F-18C3-362F-6CE5-003D08B92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30EC-E534-C11F-7CFD-1DAF00EA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5B320-18A2-3E84-64F8-2B224652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946B6-9204-B359-599E-C4E0BE7D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2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C47A-A39C-9D76-9BF2-CF7850E4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8895E-07D4-3A2C-A453-7EB2AD556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4CBE-23C3-A05F-1A3D-5C6629DE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590C-2559-01A0-CAE7-04CF26C5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1226B-A16B-15AB-8278-F1261E93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3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427B-FFA3-4194-DDFB-23C9E249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59BA2-562D-7B27-B4EB-0A4524D4D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F8253-357A-9DE6-3A9C-753A0B807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4A44-2083-DE18-E82F-B601AD24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B8196-6B15-801D-D1A5-F24F3FEF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6DE6B-F3C7-4829-A631-087B11A6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1B34-DBC6-C9F3-DA0C-3FAC22C0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5F9D6-C45A-2484-C1D6-F29F627D1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299A5-3D3D-DFD4-160C-C1F0E33BA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7A966-B49B-BA67-1460-AB056BEAE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B114B-9750-8228-F1A1-1E749C900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64BDF-E01D-E81A-39C3-4674EF54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B37E1-69C1-6126-0103-18C7880F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B81BA-6CB5-4603-848C-C54C7015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0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816A-2577-C7DA-2C52-7CE50072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BAECA-B5F0-3AD0-0EA9-BD6D74CD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C899C-B5C4-AD8E-B82D-2A32826F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B5600-6227-9269-F15A-ED893A58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8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095D0-2BE3-267E-9A44-464563A8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EA7B1-9661-D070-E70A-E559D24C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8AA48-8E20-2149-162C-8084607A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6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3455-39F1-A087-EAC8-445C0E0F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5800-22AB-3644-A13C-81FB27FD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4DC23-2A72-1E43-2B49-B7B9C5C31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47E33-CC43-1F6E-5139-799752D9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A316A-4EE5-55EA-E7CD-D6051252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70896-5C49-BC24-2A3A-85F9BF44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2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C080-764F-3FB5-8337-AAC6CB9CA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FFAB1-79E5-607D-100A-E507ECE64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B4D82-E9FF-32B3-6D90-4836785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283B-D7DB-0083-275A-873A0FB4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01F30-3B25-A2E2-EDD6-32A09507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B7945-B4F8-0A97-4B49-9D856D53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70E1-43E4-C41F-9D87-72E50B0A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00731-A66F-779C-B8C5-5938BBAB7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AF60-2C47-8C1C-0D88-0C0C0CC2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3156-0079-ADE1-E644-AF161ED5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628E2-7C73-03CF-E825-341F947D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3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7DE49-3783-0525-0F09-635ACFADD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F5542-4515-092F-1A3A-C6591EE0D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2142A-4AD4-5BFE-3CE6-427AFB8D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C8C0B-FE8E-676F-B73C-51768992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92B21-5A6D-6CAF-49A3-329EC802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4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F431B-EAE5-5C87-424B-BE6C716C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D1FB6-004A-3C64-1290-5553DEDDC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A14F-22C7-FE90-14DE-644657517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693F2-BDB6-4B9C-85B5-1F5293BFD0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B6D5A-968E-F4D7-5345-CBBA00764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4D5E-8927-D2AD-78B4-5327A0B20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C76A0-1780-410A-880E-1613E26A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5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52D0-1846-7711-8D85-BCD6F6E80A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输入管理类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4251F-9E9C-E53D-5E68-97478D3D41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3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25E4-005A-FDD3-820C-EF47CE5E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7CAF-B261-EBF6-DC85-68B5A7914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到目前为止，我们已经能渲染出漂亮的画面，但游戏世界还是静悄悄的</a:t>
            </a:r>
            <a:r>
              <a:rPr lang="en-US" altLang="zh-CN" dirty="0"/>
              <a:t>——</a:t>
            </a:r>
            <a:r>
              <a:rPr lang="zh-CN" altLang="en-US" dirty="0"/>
              <a:t>我们无法与之交互。是时候打破这片沉寂，为引擎装上 </a:t>
            </a:r>
            <a:r>
              <a:rPr lang="en-US" altLang="zh-CN" b="1" dirty="0"/>
              <a:t>"</a:t>
            </a:r>
            <a:r>
              <a:rPr lang="zh-CN" altLang="en-US" b="1" dirty="0"/>
              <a:t>神经系统</a:t>
            </a:r>
            <a:r>
              <a:rPr lang="en-US" altLang="zh-CN" b="1" dirty="0"/>
              <a:t>"</a:t>
            </a:r>
            <a:r>
              <a:rPr lang="zh-CN" altLang="en-US" dirty="0"/>
              <a:t> 了。本节课，我们将构建一个强大且高度可配置的输入管理模块 </a:t>
            </a:r>
            <a:r>
              <a:rPr lang="en-US" altLang="zh-CN" dirty="0" err="1"/>
              <a:t>InputManager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7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2367-1C74-1F53-FFB9-B9EA0A5E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设计目标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F90C10-CDD8-9882-A14F-DB5B024BA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7005" y="2159699"/>
            <a:ext cx="6597989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3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E28D-5C1D-CF08-66AC-73055724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44D6FF-181A-65A2-9FB3-0A6D396D3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362" y="2191451"/>
            <a:ext cx="6331275" cy="36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7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12D8-A547-745E-CECA-9F96039F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我们的目标是建立一个系统，它能：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B0EA-9A1A-34D9-A03D-D680AC88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🎯 </a:t>
            </a:r>
            <a:r>
              <a:rPr lang="zh-CN" altLang="en-US" b="1" dirty="0"/>
              <a:t>抽象化输入</a:t>
            </a:r>
            <a:r>
              <a:rPr lang="zh-CN" altLang="en-US" dirty="0"/>
              <a:t>：游戏逻辑不应该关心玩家按的是</a:t>
            </a:r>
            <a:r>
              <a:rPr lang="en-US" altLang="zh-CN" dirty="0"/>
              <a:t>"W</a:t>
            </a:r>
            <a:r>
              <a:rPr lang="zh-CN" altLang="en-US" dirty="0"/>
              <a:t>键</a:t>
            </a:r>
            <a:r>
              <a:rPr lang="en-US" altLang="zh-CN" dirty="0"/>
              <a:t>"</a:t>
            </a:r>
            <a:r>
              <a:rPr lang="zh-CN" altLang="en-US" dirty="0"/>
              <a:t>还是</a:t>
            </a:r>
            <a:r>
              <a:rPr lang="en-US" altLang="zh-CN" dirty="0"/>
              <a:t>"</a:t>
            </a:r>
            <a:r>
              <a:rPr lang="zh-CN" altLang="en-US" dirty="0"/>
              <a:t>手柄上摇杆</a:t>
            </a:r>
            <a:r>
              <a:rPr lang="en-US" altLang="zh-CN" dirty="0"/>
              <a:t>"</a:t>
            </a:r>
            <a:r>
              <a:rPr lang="zh-CN" altLang="en-US" dirty="0"/>
              <a:t>。它只关心</a:t>
            </a:r>
            <a:r>
              <a:rPr lang="en-US" altLang="zh-CN" dirty="0"/>
              <a:t>"</a:t>
            </a:r>
            <a:r>
              <a:rPr lang="zh-CN" altLang="en-US" dirty="0"/>
              <a:t>向上移动</a:t>
            </a:r>
            <a:r>
              <a:rPr lang="en-US" altLang="zh-CN" dirty="0"/>
              <a:t>"</a:t>
            </a:r>
            <a:r>
              <a:rPr lang="zh-CN" altLang="en-US" dirty="0"/>
              <a:t>这个动作（</a:t>
            </a:r>
            <a:r>
              <a:rPr lang="en-US" altLang="zh-CN" dirty="0"/>
              <a:t>Action</a:t>
            </a:r>
            <a:r>
              <a:rPr lang="zh-CN" altLang="en-US" dirty="0"/>
              <a:t>）。我们将把具体的物理按键（键盘、鼠标、手柄）映射到抽象的游戏动作上</a:t>
            </a:r>
          </a:p>
          <a:p>
            <a:r>
              <a:rPr lang="zh-CN" altLang="en-US" dirty="0"/>
              <a:t>⚙️ </a:t>
            </a:r>
            <a:r>
              <a:rPr lang="zh-CN" altLang="en-US" b="1" dirty="0"/>
              <a:t>易于配置</a:t>
            </a:r>
            <a:r>
              <a:rPr lang="zh-CN" altLang="en-US" dirty="0"/>
              <a:t>：所有的按键映射都将定义在我们的 </a:t>
            </a:r>
            <a:r>
              <a:rPr lang="en-US" altLang="zh-CN" dirty="0" err="1"/>
              <a:t>config.json</a:t>
            </a:r>
            <a:r>
              <a:rPr lang="zh-CN" altLang="en-US" dirty="0"/>
              <a:t> 文件中，玩家（或开发者）可以轻松修改键位，而无需改动一行代码</a:t>
            </a:r>
          </a:p>
          <a:p>
            <a:r>
              <a:rPr lang="zh-CN" altLang="en-US" dirty="0"/>
              <a:t>📊 </a:t>
            </a:r>
            <a:r>
              <a:rPr lang="zh-CN" altLang="en-US" b="1" dirty="0"/>
              <a:t>精确的状态管理</a:t>
            </a:r>
            <a:r>
              <a:rPr lang="zh-CN" altLang="en-US" dirty="0"/>
              <a:t>：区分</a:t>
            </a:r>
            <a:r>
              <a:rPr lang="en-US" altLang="zh-CN" dirty="0"/>
              <a:t>"</a:t>
            </a:r>
            <a:r>
              <a:rPr lang="zh-CN" altLang="en-US" dirty="0"/>
              <a:t>刚刚按下</a:t>
            </a:r>
            <a:r>
              <a:rPr lang="en-US" altLang="zh-CN" dirty="0"/>
              <a:t>"</a:t>
            </a:r>
            <a:r>
              <a:rPr lang="zh-CN" altLang="en-US" dirty="0"/>
              <a:t>、</a:t>
            </a:r>
            <a:r>
              <a:rPr lang="en-US" altLang="zh-CN" dirty="0"/>
              <a:t>"</a:t>
            </a:r>
            <a:r>
              <a:rPr lang="zh-CN" altLang="en-US" dirty="0"/>
              <a:t>持续按住</a:t>
            </a:r>
            <a:r>
              <a:rPr lang="en-US" altLang="zh-CN" dirty="0"/>
              <a:t>"</a:t>
            </a:r>
            <a:r>
              <a:rPr lang="zh-CN" altLang="en-US" dirty="0"/>
              <a:t>和</a:t>
            </a:r>
            <a:r>
              <a:rPr lang="en-US" altLang="zh-CN" dirty="0"/>
              <a:t>"</a:t>
            </a:r>
            <a:r>
              <a:rPr lang="zh-CN" altLang="en-US" dirty="0"/>
              <a:t>刚刚释放</a:t>
            </a:r>
            <a:r>
              <a:rPr lang="en-US" altLang="zh-CN" dirty="0"/>
              <a:t>"</a:t>
            </a:r>
            <a:r>
              <a:rPr lang="zh-CN" altLang="en-US" dirty="0"/>
              <a:t>这三种状态对于实现某些游戏机制（如跳跃、蓄力攻击）至关重要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2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919D-DA9D-3EAE-4996-68D8BEEE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157B-C46D-4345-EC5D-43A01C356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💡 我们将分两步来完成这个模块：首先实现一个功能完整的版本，然后利用现代 </a:t>
            </a:r>
            <a:r>
              <a:rPr lang="en-US" altLang="zh-CN" dirty="0"/>
              <a:t>C++ </a:t>
            </a:r>
            <a:r>
              <a:rPr lang="zh-CN" altLang="en-US" dirty="0"/>
              <a:t>的特性对其进行一次优雅的重构。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1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36648-5966-A396-95B1-BB4FE7B3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第一步：构建功能完备的 </a:t>
            </a:r>
            <a:r>
              <a:rPr lang="en-US" b="1" dirty="0" err="1"/>
              <a:t>InputManager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18C6A-3C45-E6C4-19E0-E8D98026A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8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B16CF7-94F1-7541-56EE-DC471009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架构设计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3DC128-7AF5-CCC5-A047-BB21C763E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661" y="1825625"/>
            <a:ext cx="11406553" cy="4351338"/>
          </a:xfrm>
        </p:spPr>
        <p:txBody>
          <a:bodyPr/>
          <a:lstStyle/>
          <a:p>
            <a:r>
              <a:rPr lang="en-US" altLang="zh-CN" dirty="0" err="1"/>
              <a:t>InputManager</a:t>
            </a:r>
            <a:r>
              <a:rPr lang="zh-CN" altLang="en-US" dirty="0"/>
              <a:t> 将成为我们处理所有输入的唯一入口。它的核心工作流程如下：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1EFAB4-0D1F-0499-8B93-A94E6C722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05801"/>
              </p:ext>
            </p:extLst>
          </p:nvPr>
        </p:nvGraphicFramePr>
        <p:xfrm>
          <a:off x="310662" y="2747758"/>
          <a:ext cx="11406553" cy="377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5630">
                  <a:extLst>
                    <a:ext uri="{9D8B030D-6E8A-4147-A177-3AD203B41FA5}">
                      <a16:colId xmlns:a16="http://schemas.microsoft.com/office/drawing/2014/main" val="2271596838"/>
                    </a:ext>
                  </a:extLst>
                </a:gridCol>
                <a:gridCol w="5700923">
                  <a:extLst>
                    <a:ext uri="{9D8B030D-6E8A-4147-A177-3AD203B41FA5}">
                      <a16:colId xmlns:a16="http://schemas.microsoft.com/office/drawing/2014/main" val="469004114"/>
                    </a:ext>
                  </a:extLst>
                </a:gridCol>
              </a:tblGrid>
              <a:tr h="590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339626"/>
                  </a:ext>
                </a:extLst>
              </a:tr>
              <a:tr h="1211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初始化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在构造时，从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Config</a:t>
                      </a:r>
                      <a:r>
                        <a:rPr lang="zh-CN" altLang="en-US" dirty="0">
                          <a:effectLst/>
                        </a:rPr>
                        <a:t> 模块读取 </a:t>
                      </a: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input_mappings</a:t>
                      </a:r>
                      <a:r>
                        <a:rPr lang="zh-CN" altLang="en-US" dirty="0">
                          <a:effectLst/>
                        </a:rPr>
                        <a:t>。然后，它会建立两个反向映射表：一个是从 </a:t>
                      </a: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SDL_Scancode</a:t>
                      </a:r>
                      <a:r>
                        <a:rPr lang="zh-CN" altLang="en-US" dirty="0">
                          <a:effectLst/>
                        </a:rPr>
                        <a:t>（键盘按键）到动作列表，另一个是从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Uint8</a:t>
                      </a:r>
                      <a:r>
                        <a:rPr lang="zh-CN" altLang="en-US" dirty="0">
                          <a:effectLst/>
                        </a:rPr>
                        <a:t>（鼠标按钮）到动作列表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97026"/>
                  </a:ext>
                </a:extLst>
              </a:tr>
              <a:tr h="984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每帧更新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在游戏主循环的最开始被调用。它会处理所有 </a:t>
                      </a:r>
                      <a:r>
                        <a:rPr lang="en-US" dirty="0">
                          <a:effectLst/>
                        </a:rPr>
                        <a:t>SDL </a:t>
                      </a:r>
                      <a:r>
                        <a:rPr lang="zh-CN" altLang="en-US" dirty="0">
                          <a:effectLst/>
                        </a:rPr>
                        <a:t>事件队列中的事件（如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SDL_EVENT_KEY_DOWN</a:t>
                      </a:r>
                      <a:r>
                        <a:rPr lang="en-US" dirty="0">
                          <a:effectLst/>
                        </a:rPr>
                        <a:t>），</a:t>
                      </a:r>
                      <a:r>
                        <a:rPr lang="zh-CN" altLang="en-US" dirty="0">
                          <a:effectLst/>
                        </a:rPr>
                        <a:t>并据此更新内部所有动作的状态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113775"/>
                  </a:ext>
                </a:extLst>
              </a:tr>
              <a:tr h="984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状态查询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提供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isActionDown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isActionPressed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isActionReleased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等接口，供游戏逻辑的其他部分查询特定动作的当前状态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678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61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B576-67F1-4DC6-6E2C-6C2DC8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动作状态机 </a:t>
            </a:r>
            <a:r>
              <a:rPr lang="en-US" b="1" dirty="0" err="1"/>
              <a:t>ActionState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5808-70EF-F434-1E9D-4C422349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为了精确捕捉按键的每一个瞬间，我们定义了一个枚举类 </a:t>
            </a:r>
            <a:r>
              <a:rPr lang="en-US" altLang="zh-CN" dirty="0" err="1"/>
              <a:t>ActionState</a:t>
            </a:r>
            <a:r>
              <a:rPr lang="zh-CN" altLang="en-US" dirty="0"/>
              <a:t>：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14C26-8AAB-B2FC-F4D5-8C6AB632E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61" y="2795190"/>
            <a:ext cx="5240629" cy="13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2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DD1A-4CBA-0DD9-F9EF-6E2A965A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状态转换说明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0B48F-F688-CA01-D549-9C19B53CB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InputManager</a:t>
            </a:r>
            <a:r>
              <a:rPr lang="en-US" altLang="zh-CN" dirty="0"/>
              <a:t>::update()</a:t>
            </a:r>
            <a:r>
              <a:rPr lang="zh-CN" altLang="en-US" dirty="0"/>
              <a:t> 方法会负责在这个状态机之间进行正确的转换。例如，上一帧是 </a:t>
            </a:r>
            <a:r>
              <a:rPr lang="en-US" altLang="zh-CN" dirty="0"/>
              <a:t>PRESSED_THIS_FRAME</a:t>
            </a:r>
            <a:r>
              <a:rPr lang="zh-CN" altLang="en-US" dirty="0"/>
              <a:t> 的动作，如果在本帧没有收到</a:t>
            </a:r>
            <a:r>
              <a:rPr lang="en-US" altLang="zh-CN" dirty="0"/>
              <a:t>"</a:t>
            </a:r>
            <a:r>
              <a:rPr lang="zh-CN" altLang="en-US" dirty="0"/>
              <a:t>释放</a:t>
            </a:r>
            <a:r>
              <a:rPr lang="en-US" altLang="zh-CN" dirty="0"/>
              <a:t>"</a:t>
            </a:r>
            <a:r>
              <a:rPr lang="zh-CN" altLang="en-US" dirty="0"/>
              <a:t>事件，它的状态就会自动变为 </a:t>
            </a:r>
            <a:r>
              <a:rPr lang="en-US" altLang="zh-CN" dirty="0"/>
              <a:t>HELD_DOWN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0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F738-8F84-071D-6486-110E0B80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实现 </a:t>
            </a:r>
            <a:r>
              <a:rPr lang="en-US" b="1" dirty="0" err="1"/>
              <a:t>InputManager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678B3-1211-A2E7-DBFD-68896C1E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src</a:t>
            </a:r>
            <a:r>
              <a:rPr lang="en-US" dirty="0"/>
              <a:t>/engine/ </a:t>
            </a:r>
            <a:r>
              <a:rPr lang="zh-CN" altLang="en-US" dirty="0"/>
              <a:t>下创建 </a:t>
            </a:r>
            <a:r>
              <a:rPr lang="en-US" dirty="0"/>
              <a:t>input </a:t>
            </a:r>
            <a:r>
              <a:rPr lang="zh-CN" altLang="en-US" dirty="0"/>
              <a:t>目录，并添加 </a:t>
            </a:r>
            <a:r>
              <a:rPr lang="en-US" dirty="0" err="1"/>
              <a:t>input_manager.h</a:t>
            </a:r>
            <a:r>
              <a:rPr lang="en-US" dirty="0"/>
              <a:t> </a:t>
            </a:r>
            <a:r>
              <a:rPr lang="zh-CN" altLang="en-US" dirty="0"/>
              <a:t>和 </a:t>
            </a:r>
            <a:r>
              <a:rPr lang="en-US" dirty="0"/>
              <a:t>input_manager.cpp。</a:t>
            </a:r>
          </a:p>
          <a:p>
            <a:endParaRPr lang="en-US" dirty="0"/>
          </a:p>
          <a:p>
            <a:r>
              <a:rPr lang="zh-CN" altLang="en-US" dirty="0"/>
              <a:t>🎯 </a:t>
            </a:r>
            <a:r>
              <a:rPr lang="zh-CN" altLang="en-US" b="1" dirty="0"/>
              <a:t>重要功能</a:t>
            </a:r>
            <a:r>
              <a:rPr lang="zh-CN" altLang="en-US" dirty="0"/>
              <a:t>：由于我们使用了逻辑分辨率，鼠标的物理窗口坐标需要通过 </a:t>
            </a:r>
            <a:r>
              <a:rPr lang="en-US" altLang="zh-CN" dirty="0" err="1"/>
              <a:t>SDL_RenderCoordinatesFromWindow</a:t>
            </a:r>
            <a:r>
              <a:rPr lang="zh-CN" altLang="en-US" dirty="0"/>
              <a:t> 转换成游戏世界中的逻辑坐标，这对于 </a:t>
            </a:r>
            <a:r>
              <a:rPr lang="en-US" altLang="zh-CN" dirty="0"/>
              <a:t>UI </a:t>
            </a:r>
            <a:r>
              <a:rPr lang="zh-CN" altLang="en-US" dirty="0"/>
              <a:t>交互至关重要。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4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4B7B-DA7E-AAEC-53F5-8168E23D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集成到 </a:t>
            </a:r>
            <a:r>
              <a:rPr lang="en-US" b="1" dirty="0" err="1"/>
              <a:t>GameApp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AC0EB-F720-3735-750B-262487078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109" y="1690688"/>
            <a:ext cx="7369826" cy="41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7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BBE9A5-8242-7D41-954C-91322202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第二步：使用 </a:t>
            </a:r>
            <a:r>
              <a:rPr lang="en-US" b="1" dirty="0"/>
              <a:t>std::variant </a:t>
            </a:r>
            <a:r>
              <a:rPr lang="zh-CN" altLang="en-US" b="1" dirty="0"/>
              <a:t>进行重构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879A9-9029-8305-4401-AF7B6ABC3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77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DFB43C-5B87-0FC6-AC99-A76EBACE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🤔 为什么要重构？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4814E0-C761-674B-7139-2AEB519CA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我们第一版的实现是有效的，但存在一个设计上的小瑕疵：我们用了两个独立的映射表来处理键盘和鼠标输入。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b="1" dirty="0"/>
              <a:t>问题</a:t>
            </a:r>
            <a:r>
              <a:rPr lang="zh-CN" altLang="en-US" dirty="0"/>
              <a:t>：如果未来我们要加入手柄支持，就得再加第三个映射表。这不符合</a:t>
            </a:r>
            <a:r>
              <a:rPr lang="en-US" altLang="zh-CN" dirty="0"/>
              <a:t>"</a:t>
            </a:r>
            <a:r>
              <a:rPr lang="zh-CN" altLang="en-US" dirty="0"/>
              <a:t>开放</a:t>
            </a:r>
            <a:r>
              <a:rPr lang="en-US" altLang="zh-CN" dirty="0"/>
              <a:t>-</a:t>
            </a:r>
            <a:r>
              <a:rPr lang="zh-CN" altLang="en-US" dirty="0"/>
              <a:t>封闭原则</a:t>
            </a:r>
            <a:r>
              <a:rPr lang="en-US" altLang="zh-CN" dirty="0"/>
              <a:t>"</a:t>
            </a:r>
            <a:r>
              <a:rPr lang="zh-CN" altLang="en-US" dirty="0"/>
              <a:t>，扩展性较差。</a:t>
            </a:r>
          </a:p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en-US" altLang="zh-CN" b="1" dirty="0"/>
              <a:t>C++17 </a:t>
            </a:r>
            <a:r>
              <a:rPr lang="zh-CN" altLang="en-US" b="1" dirty="0"/>
              <a:t>的解决方案</a:t>
            </a:r>
            <a:r>
              <a:rPr lang="zh-CN" altLang="en-US" dirty="0"/>
              <a:t>：</a:t>
            </a:r>
            <a:r>
              <a:rPr lang="en-US" altLang="zh-CN" dirty="0"/>
              <a:t>std::variant</a:t>
            </a:r>
            <a:r>
              <a:rPr lang="zh-CN" altLang="en-US" dirty="0"/>
              <a:t> 是一个类型安全的联合体，可以存储多种不同类型的值。我们可以用它来创建一个统一的映射表。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59433-BB44-81E1-19C4-5A5CCEBDD042}"/>
              </a:ext>
            </a:extLst>
          </p:cNvPr>
          <p:cNvSpPr/>
          <p:nvPr/>
        </p:nvSpPr>
        <p:spPr>
          <a:xfrm>
            <a:off x="973016" y="2754923"/>
            <a:ext cx="8223738" cy="1154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// </a:t>
            </a:r>
            <a:r>
              <a:rPr lang="zh-CN" altLang="en-US" dirty="0"/>
              <a:t>旧版 </a:t>
            </a:r>
            <a:r>
              <a:rPr lang="en-US" altLang="zh-CN" dirty="0"/>
              <a:t>- </a:t>
            </a:r>
            <a:r>
              <a:rPr lang="zh-CN" altLang="en-US" dirty="0"/>
              <a:t>不够优雅 </a:t>
            </a:r>
            <a:endParaRPr lang="en-US" altLang="zh-CN" dirty="0"/>
          </a:p>
          <a:p>
            <a:r>
              <a:rPr lang="en-US" dirty="0"/>
              <a:t>std::</a:t>
            </a:r>
            <a:r>
              <a:rPr lang="en-US" dirty="0" err="1"/>
              <a:t>unordered_map</a:t>
            </a:r>
            <a:r>
              <a:rPr lang="en-US" dirty="0"/>
              <a:t>&lt;</a:t>
            </a:r>
            <a:r>
              <a:rPr lang="en-US" dirty="0" err="1"/>
              <a:t>SDL_Scancode</a:t>
            </a:r>
            <a:r>
              <a:rPr lang="en-US" dirty="0"/>
              <a:t>, ...&gt; </a:t>
            </a:r>
            <a:r>
              <a:rPr lang="en-US" dirty="0" err="1"/>
              <a:t>scancode_to_actions_map</a:t>
            </a:r>
            <a:r>
              <a:rPr lang="en-US" dirty="0"/>
              <a:t>_; std::</a:t>
            </a:r>
            <a:r>
              <a:rPr lang="en-US" dirty="0" err="1"/>
              <a:t>unordered_map</a:t>
            </a:r>
            <a:r>
              <a:rPr lang="en-US" dirty="0"/>
              <a:t>&lt;Uint8, ...&gt; </a:t>
            </a:r>
            <a:r>
              <a:rPr lang="en-US" dirty="0" err="1"/>
              <a:t>mouse_button_to_actions_map</a:t>
            </a:r>
            <a:r>
              <a:rPr lang="en-US" dirty="0"/>
              <a:t>_;</a:t>
            </a:r>
          </a:p>
        </p:txBody>
      </p:sp>
    </p:spTree>
    <p:extLst>
      <p:ext uri="{BB962C8B-B14F-4D97-AF65-F5344CB8AC3E}">
        <p14:creationId xmlns:p14="http://schemas.microsoft.com/office/powerpoint/2010/main" val="4094566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1A81-ED4B-9D50-9D33-AB16D809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改进实现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CC03-C715-D0ED-3EA2-40214A3E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input_manager.h</a:t>
            </a:r>
            <a:r>
              <a:rPr lang="en-US" b="1" dirty="0"/>
              <a:t>（</a:t>
            </a:r>
            <a:r>
              <a:rPr lang="zh-CN" altLang="en-US" b="1" dirty="0"/>
              <a:t>重构版）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关键改动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使用 </a:t>
            </a:r>
            <a:r>
              <a:rPr lang="en-US" dirty="0"/>
              <a:t>std::variant&lt;</a:t>
            </a:r>
            <a:r>
              <a:rPr lang="en-US" dirty="0" err="1"/>
              <a:t>SDL_Scancode</a:t>
            </a:r>
            <a:r>
              <a:rPr lang="en-US" dirty="0"/>
              <a:t>, Uint32&gt; </a:t>
            </a:r>
            <a:r>
              <a:rPr lang="zh-CN" altLang="en-US" dirty="0"/>
              <a:t>定义统一的键类型</a:t>
            </a:r>
          </a:p>
          <a:p>
            <a:r>
              <a:rPr lang="zh-CN" altLang="en-US" dirty="0"/>
              <a:t>将两个旧的映射表合并为一个 </a:t>
            </a:r>
            <a:r>
              <a:rPr lang="en-US" dirty="0" err="1"/>
              <a:t>input_to_actions_map</a:t>
            </a:r>
            <a:r>
              <a:rPr lang="en-US" dirty="0"/>
              <a:t>_</a:t>
            </a:r>
          </a:p>
          <a:p>
            <a:pPr marL="0" indent="0">
              <a:buNone/>
            </a:pPr>
            <a:r>
              <a:rPr lang="zh-CN" altLang="en-US" dirty="0"/>
              <a:t>⚠️ </a:t>
            </a:r>
            <a:r>
              <a:rPr lang="zh-CN" altLang="en-US" b="1" dirty="0"/>
              <a:t>注意</a:t>
            </a:r>
            <a:r>
              <a:rPr lang="zh-CN" altLang="en-US" dirty="0"/>
              <a:t>：</a:t>
            </a:r>
            <a:r>
              <a:rPr lang="en-US" dirty="0" err="1"/>
              <a:t>SDL_MouseButtonEvent</a:t>
            </a:r>
            <a:r>
              <a:rPr lang="en-US" dirty="0"/>
              <a:t> </a:t>
            </a:r>
            <a:r>
              <a:rPr lang="zh-CN" altLang="en-US" dirty="0"/>
              <a:t>中的 </a:t>
            </a:r>
            <a:r>
              <a:rPr lang="en-US" dirty="0"/>
              <a:t>button </a:t>
            </a:r>
            <a:r>
              <a:rPr lang="zh-CN" altLang="en-US" dirty="0"/>
              <a:t>在 </a:t>
            </a:r>
            <a:r>
              <a:rPr lang="en-US" dirty="0"/>
              <a:t>SDL3 </a:t>
            </a:r>
            <a:r>
              <a:rPr lang="zh-CN" altLang="en-US" dirty="0"/>
              <a:t>中是 </a:t>
            </a:r>
            <a:r>
              <a:rPr lang="en-US" dirty="0"/>
              <a:t>Uint32 </a:t>
            </a:r>
            <a:r>
              <a:rPr lang="zh-CN" altLang="en-US" dirty="0"/>
              <a:t>类型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0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4E47-F992-E3D0-6D62-5002401B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4CA-C66D-A7AF-4014-EF5E5E94E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input_manager.cpp（</a:t>
            </a:r>
            <a:r>
              <a:rPr lang="zh-CN" altLang="en-US" b="1" dirty="0"/>
              <a:t>重构版）</a:t>
            </a:r>
          </a:p>
          <a:p>
            <a:r>
              <a:rPr lang="zh-CN" altLang="en-US" dirty="0"/>
              <a:t>在 </a:t>
            </a:r>
            <a:r>
              <a:rPr lang="en-US" dirty="0" err="1"/>
              <a:t>initializeMappings</a:t>
            </a:r>
            <a:r>
              <a:rPr lang="en-US" dirty="0"/>
              <a:t> </a:t>
            </a:r>
            <a:r>
              <a:rPr lang="zh-CN" altLang="en-US" dirty="0"/>
              <a:t>和 </a:t>
            </a:r>
            <a:r>
              <a:rPr lang="en-US" dirty="0" err="1"/>
              <a:t>processEvent</a:t>
            </a:r>
            <a:r>
              <a:rPr lang="en-US" dirty="0"/>
              <a:t> </a:t>
            </a:r>
            <a:r>
              <a:rPr lang="zh-CN" altLang="en-US" dirty="0"/>
              <a:t>中，无论是键盘的 </a:t>
            </a:r>
            <a:r>
              <a:rPr lang="en-US" dirty="0" err="1"/>
              <a:t>scancode</a:t>
            </a:r>
            <a:r>
              <a:rPr lang="en-US" dirty="0"/>
              <a:t> </a:t>
            </a:r>
            <a:r>
              <a:rPr lang="zh-CN" altLang="en-US" dirty="0"/>
              <a:t>还是鼠标的 </a:t>
            </a:r>
            <a:r>
              <a:rPr lang="en-US" dirty="0"/>
              <a:t>button，</a:t>
            </a:r>
            <a:r>
              <a:rPr lang="zh-CN" altLang="en-US" dirty="0"/>
              <a:t>都可以直接作为新映射表 </a:t>
            </a:r>
            <a:r>
              <a:rPr lang="en-US" dirty="0" err="1"/>
              <a:t>input_to_actions_map</a:t>
            </a:r>
            <a:r>
              <a:rPr lang="en-US" dirty="0"/>
              <a:t>_ </a:t>
            </a:r>
            <a:r>
              <a:rPr lang="zh-CN" altLang="en-US" dirty="0"/>
              <a:t>的键来使用，</a:t>
            </a:r>
            <a:r>
              <a:rPr lang="en-US" dirty="0"/>
              <a:t>std::variant </a:t>
            </a:r>
            <a:r>
              <a:rPr lang="zh-CN" altLang="en-US" dirty="0"/>
              <a:t>会自动处理底层的类型匹配。代码逻辑变得更加统一和简洁。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15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9633-AA98-7833-C729-9CDE62E1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重构的优势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7C052D-475F-B05C-4F80-54B497869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160640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45771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163976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99984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旧版本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重构版本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94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映射表数量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2 </a:t>
                      </a:r>
                      <a:r>
                        <a:rPr lang="zh-CN" altLang="en-US">
                          <a:effectLst/>
                        </a:rPr>
                        <a:t>个（键盘、鼠标各一个）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1 </a:t>
                      </a:r>
                      <a:r>
                        <a:rPr lang="zh-CN" altLang="en-US">
                          <a:effectLst/>
                        </a:rPr>
                        <a:t>个统一映射表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4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扩展性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每新增输入设备需要新增映射表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只需在 </a:t>
                      </a:r>
                      <a:r>
                        <a:rPr lang="en-US">
                          <a:effectLst/>
                        </a:rPr>
                        <a:t>variant </a:t>
                      </a:r>
                      <a:r>
                        <a:rPr lang="zh-CN" altLang="en-US">
                          <a:effectLst/>
                        </a:rPr>
                        <a:t>中添加新类型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293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代码复杂度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需要分别处理不同输入类型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统一处理逻辑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81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类型安全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一般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强类型安全（</a:t>
                      </a:r>
                      <a:r>
                        <a:rPr lang="en-US" dirty="0">
                          <a:effectLst/>
                        </a:rPr>
                        <a:t>variant）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34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132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80E3-BD36-DF71-9CF6-5C9342A0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✨ 关键要点</a:t>
            </a:r>
            <a:br>
              <a:rPr lang="zh-CN" alt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900D-78B6-49D0-A49A-C6C30D3FF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这次重构没有改变 </a:t>
            </a:r>
            <a:r>
              <a:rPr lang="en-US" altLang="zh-CN" dirty="0" err="1"/>
              <a:t>InputManager</a:t>
            </a:r>
            <a:r>
              <a:rPr lang="zh-CN" altLang="en-US" dirty="0"/>
              <a:t> 的任何外部行为，但其内部结构变得更加：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优雅</a:t>
            </a:r>
            <a:r>
              <a:rPr lang="zh-CN" altLang="en-US" dirty="0"/>
              <a:t>：单一映射表，代码更简洁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健壮</a:t>
            </a:r>
            <a:r>
              <a:rPr lang="zh-CN" altLang="en-US" dirty="0"/>
              <a:t>：类型安全的 </a:t>
            </a:r>
            <a:r>
              <a:rPr lang="en-US" altLang="zh-CN" dirty="0"/>
              <a:t>variant</a:t>
            </a:r>
          </a:p>
          <a:p>
            <a:pPr marL="0" indent="0">
              <a:buNone/>
            </a:pPr>
            <a:r>
              <a:rPr lang="en-US" altLang="zh-CN" dirty="0"/>
              <a:t>✅ </a:t>
            </a:r>
            <a:r>
              <a:rPr lang="zh-CN" altLang="en-US" b="1" dirty="0"/>
              <a:t>可扩展</a:t>
            </a:r>
            <a:r>
              <a:rPr lang="zh-CN" altLang="en-US" dirty="0"/>
              <a:t>：为未来支持更多输入设备（手柄、触摸屏等）做好了准备</a:t>
            </a:r>
          </a:p>
          <a:p>
            <a:pPr marL="0" indent="0">
              <a:buNone/>
            </a:pPr>
            <a:r>
              <a:rPr lang="zh-CN" altLang="en-US" dirty="0"/>
              <a:t>💡 这正是一个优秀系统设计的体现：在不改变外部接口的情况下，优化内部实现。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501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0773-20C8-DE96-2C9F-FDC8D268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D7D7-44CD-3AD5-5DAD-FCEE9939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通过本节课，我们为引擎构建了一个强大的输入管理系统：</a:t>
            </a:r>
          </a:p>
          <a:p>
            <a:r>
              <a:rPr lang="zh-CN" altLang="en-US" b="1" dirty="0"/>
              <a:t>抽象化设计</a:t>
            </a:r>
            <a:r>
              <a:rPr lang="zh-CN" altLang="en-US" dirty="0"/>
              <a:t>：将物理按键映射到游戏动作，解耦输入和逻辑</a:t>
            </a:r>
          </a:p>
          <a:p>
            <a:r>
              <a:rPr lang="zh-CN" altLang="en-US" b="1" dirty="0"/>
              <a:t>精确状态管理</a:t>
            </a:r>
            <a:r>
              <a:rPr lang="zh-CN" altLang="en-US" dirty="0"/>
              <a:t>：实现了完整的按键状态机</a:t>
            </a:r>
          </a:p>
          <a:p>
            <a:r>
              <a:rPr lang="zh-CN" altLang="en-US" b="1" dirty="0"/>
              <a:t>配置驱动</a:t>
            </a:r>
            <a:r>
              <a:rPr lang="zh-CN" altLang="en-US" dirty="0"/>
              <a:t>：所有按键映射可通过 </a:t>
            </a:r>
            <a:r>
              <a:rPr lang="en-US" altLang="zh-CN" dirty="0"/>
              <a:t>JSON </a:t>
            </a:r>
            <a:r>
              <a:rPr lang="zh-CN" altLang="en-US" dirty="0"/>
              <a:t>配置</a:t>
            </a:r>
          </a:p>
          <a:p>
            <a:r>
              <a:rPr lang="zh-CN" altLang="en-US" b="1" dirty="0"/>
              <a:t>现代 </a:t>
            </a:r>
            <a:r>
              <a:rPr lang="en-US" altLang="zh-CN" b="1" dirty="0"/>
              <a:t>C++ </a:t>
            </a:r>
            <a:r>
              <a:rPr lang="zh-CN" altLang="en-US" b="1" dirty="0"/>
              <a:t>实践</a:t>
            </a:r>
            <a:r>
              <a:rPr lang="zh-CN" altLang="en-US" dirty="0"/>
              <a:t>：使用 </a:t>
            </a:r>
            <a:r>
              <a:rPr lang="en-US" altLang="zh-CN" dirty="0"/>
              <a:t>std::variant</a:t>
            </a:r>
            <a:r>
              <a:rPr lang="zh-CN" altLang="en-US" dirty="0"/>
              <a:t> 提升代码质量</a:t>
            </a:r>
          </a:p>
          <a:p>
            <a:pPr marL="0" indent="0">
              <a:buNone/>
            </a:pPr>
            <a:r>
              <a:rPr lang="zh-CN" altLang="en-US" dirty="0"/>
              <a:t>现在，我们的引擎不仅能</a:t>
            </a:r>
            <a:r>
              <a:rPr lang="en-US" altLang="zh-CN" dirty="0"/>
              <a:t>"</a:t>
            </a:r>
            <a:r>
              <a:rPr lang="zh-CN" altLang="en-US" dirty="0"/>
              <a:t>看</a:t>
            </a:r>
            <a:r>
              <a:rPr lang="en-US" altLang="zh-CN" dirty="0"/>
              <a:t>"</a:t>
            </a:r>
            <a:r>
              <a:rPr lang="zh-CN" altLang="en-US" dirty="0"/>
              <a:t>（渲染），还能</a:t>
            </a:r>
            <a:r>
              <a:rPr lang="en-US" altLang="zh-CN" dirty="0"/>
              <a:t>"</a:t>
            </a:r>
            <a:r>
              <a:rPr lang="zh-CN" altLang="en-US" dirty="0"/>
              <a:t>感知</a:t>
            </a:r>
            <a:r>
              <a:rPr lang="en-US" altLang="zh-CN" dirty="0"/>
              <a:t>"</a:t>
            </a:r>
            <a:r>
              <a:rPr lang="zh-CN" altLang="en-US" dirty="0"/>
              <a:t>（输入）了！🎮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66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1073</Words>
  <Application>Microsoft Office PowerPoint</Application>
  <PresentationFormat>Widescreen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source-code-pro</vt:lpstr>
      <vt:lpstr>Aptos</vt:lpstr>
      <vt:lpstr>Aptos Display</vt:lpstr>
      <vt:lpstr>Arial</vt:lpstr>
      <vt:lpstr>Office Theme</vt:lpstr>
      <vt:lpstr>输入管理类</vt:lpstr>
      <vt:lpstr>📌 问题背景</vt:lpstr>
      <vt:lpstr>设计目标</vt:lpstr>
      <vt:lpstr>PowerPoint Presentation</vt:lpstr>
      <vt:lpstr>我们的目标是建立一个系统，它能：</vt:lpstr>
      <vt:lpstr>PowerPoint Presentation</vt:lpstr>
      <vt:lpstr>第一步：构建功能完备的 InputManager</vt:lpstr>
      <vt:lpstr>1. 架构设计 </vt:lpstr>
      <vt:lpstr>2. 动作状态机 ActionState</vt:lpstr>
      <vt:lpstr>状态转换说明</vt:lpstr>
      <vt:lpstr>3. 实现 InputManager</vt:lpstr>
      <vt:lpstr>4. 集成到 GameApp</vt:lpstr>
      <vt:lpstr>第二步：使用 std::variant 进行重构</vt:lpstr>
      <vt:lpstr>🤔 为什么要重构？</vt:lpstr>
      <vt:lpstr>改进实现</vt:lpstr>
      <vt:lpstr>PowerPoint Presentation</vt:lpstr>
      <vt:lpstr>🎯 重构的优势</vt:lpstr>
      <vt:lpstr>✨ 关键要点 </vt:lpstr>
      <vt:lpstr>📚 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2025-11-04T14:38:52Z</dcterms:created>
  <dcterms:modified xsi:type="dcterms:W3CDTF">2025-11-04T14:47:22Z</dcterms:modified>
</cp:coreProperties>
</file>