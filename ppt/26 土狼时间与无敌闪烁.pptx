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42A2-D324-AFAC-C7E7-9AA6126FD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195B7-0372-4673-BA01-46176021C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62452-A860-6863-B8B0-B7306E02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8389E-4CEB-03EB-3894-B76BA248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D4752-C63B-9E1C-7652-F9579F0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1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7F34-40B6-304A-1460-12B939EB6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95E5-3369-CBC5-8E90-5AF3E996D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AEAF4-8BC5-8BE3-F62F-C1EB8D309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09BF-6C87-F9D1-31FD-C3BD2863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B7409-7C85-AA18-288D-67C68C30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1422-6A3F-3257-B671-5E322AD9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E5FB0-EEC9-728F-78AB-EDFF5FCDD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D6986-BEDA-007E-2238-7F7611CC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6A677-E264-E00F-3E71-23A9964C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1B406-F7DF-C74B-98DD-8030308A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04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D081-1B3A-0BAD-553B-6E78EA3C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35AD6-09EB-5A1F-14B0-9F9FFB6AB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F3B36-1A16-A3E7-6FCD-BC4323E19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B69B-5528-FD5D-1062-6B757BF0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8B3AB-AE68-FD78-C938-8CE3CF6E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D0DD4-7587-6AE1-C8BB-8C87F69E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0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BB34-3FF0-8D91-16A1-A1BFC57CC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84182-C154-BE46-1F25-D508B73D9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E95CA-AEBA-E8E4-78CA-765561987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01FBC-9A7F-56BE-7DB4-657958DB2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CE690F-864E-84CD-1E38-E7AA5AFAE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6DF1D-2E1C-0C67-05B9-5B982ED8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33550-270D-A9BA-292A-EB9FA0A7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AC390-77DB-F851-9FFB-306250A6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8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E718-5FAB-7701-7727-45686345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A42E9-C964-18EA-A539-756EE859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3FEB2-8EF6-1607-6536-CFB3C13F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948A4-08C9-89DA-2F57-7F7B7C6B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B4FD1-F03F-2526-3665-51D16B27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84FB0-6D88-667C-2D66-FC286CF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32E65-6484-9AB3-1534-05E26B9E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1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0BEC-10B8-747E-4122-5ADC0FCC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6F1C4-AA91-6A24-1E06-85A822AD2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162CE-74CA-67F1-061E-2354B7E0E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7C29-BD21-272C-58C2-81CABBBB7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64FB8-DAB7-A1A2-C495-E93E28BA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2AA03-8B05-8902-FF1F-1801660D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6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FCB3-0199-E4F3-D5A7-AE7C187E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32AD44-2481-1637-5EE5-892FAFD40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5021F-BC1D-194C-9DBF-AD280F41C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4C87-4C2D-A0CF-A6B3-C38AC02ED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9B47A-F736-B85F-0792-A26DE07B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F7AE6-C91A-45F4-6E64-C731DFAB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92F2-62BF-D52F-EC49-1B2D74B6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C58AB-322F-7D5C-BF9C-D113C2DC8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382F0-C21B-B1FE-5D3B-35A006A7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17B9-8217-4B13-617C-6BCCD1C8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2F850-61D0-3CF6-B04C-F5504535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0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029ED-82BA-DF88-0B12-B2D1B3632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9A699-0B5D-F074-E302-38204C3C2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0497C-C1C5-92DE-467A-7342BFE3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090A-3911-EBD4-0ADA-CACE26FA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23C98-CFCA-ACEC-0033-E10AA489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6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6B77C-F6B9-0B4C-2634-203D6C40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ADCEE-BD70-8015-8B93-B10EE6A6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49480-2223-A696-C1D8-EFDDB4335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F7A62-9B2F-4895-956C-5C1A2ECA578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C519A-1850-2A9B-17B3-08F21A1F5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56D4-366E-D9EB-D2C0-263727136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D49DB-532B-423D-B7A6-AA30110D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8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constexpr.m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44A5-ED79-1089-4041-B3E62EC2F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土狼时间与无敌闪烁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B4418-E153-95AC-2107-D4937C962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7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150E-7499-4AB7-3DC4-A0EAEEE8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EA30A-E4AC-5444-EDC8-ECF44010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我们已经实现了完整的移动系统，包括跳跃、攀爬等机制。但游戏的</a:t>
            </a:r>
            <a:r>
              <a:rPr lang="en-US" altLang="zh-CN" dirty="0"/>
              <a:t>"</a:t>
            </a:r>
            <a:r>
              <a:rPr lang="zh-CN" altLang="en-US" dirty="0"/>
              <a:t>手感</a:t>
            </a:r>
            <a:r>
              <a:rPr lang="en-US" altLang="zh-CN" dirty="0"/>
              <a:t>"</a:t>
            </a:r>
            <a:r>
              <a:rPr lang="zh-CN" altLang="en-US" dirty="0"/>
              <a:t>还不够完美，玩家在操作时会遇到一些令人沮丧的细节问题，影响游戏体验。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92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AE5F-C347-DD6A-A18D-76320D5F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DC2B1-95B7-44E1-8BDB-2CF75427C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621" y="314061"/>
            <a:ext cx="4674216" cy="385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2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6A57-81BD-6815-A539-28179072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15262D-2D4A-4F9D-5F94-94B566A20E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128055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712127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431206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22043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92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严格的跳跃判定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离地一帧后无法跳跃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玩家感觉操作不跟手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69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边缘跳跃困难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平台边缘极限跳跃失败率高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游戏手感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硬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94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无敌状态不可见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受伤后无敌时间看不见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玩家困惑，影响决策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30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缺少视觉反馈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无法判断保护期何时结束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体验不友好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497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65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0FA1-69D8-F02C-0D5C-D64826FE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解决方案：游戏手感优化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6136B-D3A7-FF61-6991-A645EEB1F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342" y="1540581"/>
            <a:ext cx="6286823" cy="33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1567-4EE6-AAE3-D40C-6C84EFFA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1A48D3-4AE6-79C6-925C-C14FD744E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87876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174295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94312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80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理解</a:t>
                      </a:r>
                      <a:r>
                        <a:rPr lang="en-US" altLang="zh-CN" b="1">
                          <a:effectLst/>
                        </a:rPr>
                        <a:t>"</a:t>
                      </a:r>
                      <a:r>
                        <a:rPr lang="zh-CN" altLang="en-US" b="1">
                          <a:effectLst/>
                        </a:rPr>
                        <a:t>游戏手感</a:t>
                      </a:r>
                      <a:r>
                        <a:rPr lang="en-US" altLang="zh-CN" b="1">
                          <a:effectLst/>
                        </a:rPr>
                        <a:t>"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认识操控响应性和视觉反馈的重要性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27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实现土狼时间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离开平台后短暂时间内仍可跳跃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326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实现无敌闪烁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受伤后精灵图闪烁提供视觉反馈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66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深化组件化思维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将优化逻辑平滑集成到现有架构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199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75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008D-A0B5-8CA8-53C7-3D246D84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第一部分：土狼时间（</a:t>
            </a:r>
            <a:r>
              <a:rPr lang="en-US" altLang="zh-CN" b="1" dirty="0"/>
              <a:t>Coyote Time</a:t>
            </a:r>
            <a:r>
              <a:rPr lang="zh-CN" altLang="en-US" b="1" dirty="0"/>
              <a:t>） </a:t>
            </a:r>
            <a:r>
              <a:rPr lang="en-US" altLang="zh-CN" b="1" dirty="0"/>
              <a:t>- </a:t>
            </a:r>
            <a:r>
              <a:rPr lang="zh-CN" altLang="en-US" b="1" dirty="0"/>
              <a:t>宽容的跳跃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00D-1F27-24BE-736F-6251335A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💡 设计理念</a:t>
            </a:r>
          </a:p>
          <a:p>
            <a:r>
              <a:rPr lang="zh-CN" altLang="en-US" b="1" dirty="0"/>
              <a:t>土狼时间</a:t>
            </a:r>
            <a:r>
              <a:rPr lang="zh-CN" altLang="en-US" dirty="0"/>
              <a:t>这个名字来源于经典卡通形象</a:t>
            </a:r>
            <a:r>
              <a:rPr lang="en-US" altLang="zh-CN" dirty="0"/>
              <a:t>——《</a:t>
            </a:r>
            <a:r>
              <a:rPr lang="zh-CN" altLang="en-US" dirty="0"/>
              <a:t>乐一通</a:t>
            </a:r>
            <a:r>
              <a:rPr lang="en-US" altLang="zh-CN" dirty="0"/>
              <a:t>》</a:t>
            </a:r>
            <a:r>
              <a:rPr lang="zh-CN" altLang="en-US" dirty="0"/>
              <a:t>里的歪心狼（</a:t>
            </a:r>
            <a:r>
              <a:rPr lang="en-US" altLang="zh-CN" dirty="0"/>
              <a:t>Wile E. Coyote</a:t>
            </a:r>
            <a:r>
              <a:rPr lang="zh-CN" altLang="en-US" dirty="0"/>
              <a:t>）。它在追逐哔哔鸟时，总会冲出悬崖，在空中停留片刻，低头看看，意识到自己身处空中，然后才会掉下去。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56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6AD2-824D-A942-0936-BC8CFD2B1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问题所在：一帧之差的挫败感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362B-D338-F591-3903-C3CCA8A7E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在几乎所有的平台跳跃游戏中，都存在一个经典的操作痛点：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D032B-D695-44ED-7B7A-033ADDE67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98" y="2335719"/>
            <a:ext cx="3073558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9CE1-0EE0-34B4-9351-61C33D7D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27D7C2-3E6A-B5AD-418C-FC2DCB0362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847086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501738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505305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928014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6485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情况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物理状态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跳跃结果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玩家感受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4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刚好在边缘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hasCollidedBelow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 = true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成功跳跃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正常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5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离地</a:t>
                      </a:r>
                      <a:r>
                        <a:rPr lang="en-US" altLang="zh-CN" b="1">
                          <a:effectLst/>
                        </a:rPr>
                        <a:t>0.01</a:t>
                      </a:r>
                      <a:r>
                        <a:rPr lang="zh-CN" altLang="en-US" b="1">
                          <a:effectLst/>
                        </a:rPr>
                        <a:t>秒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hasCollidedBelow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 = false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无法跳跃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沮丧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6187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EA57D8-9EAC-3020-29E1-58EE2C6B1469}"/>
              </a:ext>
            </a:extLst>
          </p:cNvPr>
          <p:cNvSpPr txBox="1"/>
          <p:nvPr/>
        </p:nvSpPr>
        <p:spPr>
          <a:xfrm>
            <a:off x="1043352" y="3495545"/>
            <a:ext cx="9372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玩家想在平台边缘进行极限跳跃，但因为按键时机晚了哪怕一两帧，角色已经处于空中，导致跳跃失败，直接坠机，曼波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out</a:t>
            </a:r>
            <a:r>
              <a:rPr lang="zh-CN" altLang="en-US" dirty="0">
                <a:solidFill>
                  <a:srgbClr val="FF0000"/>
                </a:solidFill>
                <a:latin typeface="-apple-system"/>
              </a:rPr>
              <a:t>！</a:t>
            </a:r>
            <a:endParaRPr lang="zh-CN" altLang="en-US" b="0" i="0" dirty="0">
              <a:solidFill>
                <a:srgbClr val="FF0000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从物理上讲这完全正确，但从玩家的感受来说，这极其令人沮丧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。</a:t>
            </a:r>
          </a:p>
          <a:p>
            <a:pPr>
              <a:buNone/>
            </a:pPr>
            <a:br>
              <a:rPr lang="zh-CN" alt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AEE8AA-8AB9-BE65-56E7-30A9C571D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293" y="3919856"/>
            <a:ext cx="2385759" cy="253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9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8F9E-B905-E707-7A0F-EC0CD3C5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解决方案：像卡通人物一样思考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C2B0D-0584-D784-C185-8D1DFD2A9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土狼时间（</a:t>
            </a:r>
            <a:r>
              <a:rPr lang="en-US" altLang="zh-CN" b="1" dirty="0"/>
              <a:t>Coyote Time</a:t>
            </a:r>
            <a:r>
              <a:rPr lang="zh-CN" altLang="en-US" b="1" dirty="0"/>
              <a:t>）</a:t>
            </a:r>
            <a:r>
              <a:rPr lang="zh-CN" altLang="en-US" dirty="0"/>
              <a:t> 正是借鉴了卡通物理学的概念：在玩家离开地面后的一个极短的、玩家无法察觉的时间窗口内（例如</a:t>
            </a:r>
            <a:r>
              <a:rPr lang="en-US" altLang="zh-CN" dirty="0"/>
              <a:t>0.1</a:t>
            </a:r>
            <a:r>
              <a:rPr lang="zh-CN" altLang="en-US" dirty="0"/>
              <a:t>秒），系统仍然认为玩家</a:t>
            </a:r>
            <a:r>
              <a:rPr lang="en-US" altLang="zh-CN" dirty="0"/>
              <a:t>"</a:t>
            </a:r>
            <a:r>
              <a:rPr lang="zh-CN" altLang="en-US" dirty="0"/>
              <a:t>在地面上</a:t>
            </a:r>
            <a:r>
              <a:rPr lang="en-US" altLang="zh-CN" dirty="0"/>
              <a:t>"</a:t>
            </a:r>
            <a:r>
              <a:rPr lang="zh-CN" altLang="en-US" dirty="0"/>
              <a:t>，允许其执行跳跃操作。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9053-A27B-6B98-29A8-83031B2F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1A5D86-7489-F311-6B57-AFC497A26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03306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300048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58279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角度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31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人类反应时间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0.1</a:t>
                      </a:r>
                      <a:r>
                        <a:rPr lang="zh-CN" altLang="en-US">
                          <a:effectLst/>
                        </a:rPr>
                        <a:t>秒远小于人类察觉阈值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25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操作容错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给予玩家合理的误差空间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119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心理感受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游戏理解我的意图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76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业界标准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塞尔达、马里奥等都使用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60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601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BE5D-2B4D-3D9D-A456-2C969376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代码实现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C2B1-D575-5A17-7401-BE9494283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  <a:r>
              <a:rPr lang="en-US" altLang="zh-CN" dirty="0"/>
              <a:t>"</a:t>
            </a:r>
            <a:r>
              <a:rPr lang="zh-CN" altLang="en-US" dirty="0"/>
              <a:t>土狼时间</a:t>
            </a:r>
            <a:r>
              <a:rPr lang="en-US" altLang="zh-CN" dirty="0"/>
              <a:t>"</a:t>
            </a:r>
            <a:r>
              <a:rPr lang="zh-CN" altLang="en-US" dirty="0"/>
              <a:t>的核心在于重新定义</a:t>
            </a:r>
            <a:r>
              <a:rPr lang="en-US" altLang="zh-CN" dirty="0"/>
              <a:t>"</a:t>
            </a:r>
            <a:r>
              <a:rPr lang="zh-CN" altLang="en-US" dirty="0"/>
              <a:t>在地面上</a:t>
            </a:r>
            <a:r>
              <a:rPr lang="en-US" altLang="zh-CN" dirty="0"/>
              <a:t>"</a:t>
            </a:r>
            <a:r>
              <a:rPr lang="zh-CN" altLang="en-US" dirty="0"/>
              <a:t>这一概念。它不再是单纯的物理碰撞，而是 </a:t>
            </a:r>
            <a:r>
              <a:rPr lang="en-US" altLang="zh-CN" b="1" dirty="0"/>
              <a:t>"</a:t>
            </a:r>
            <a:r>
              <a:rPr lang="zh-CN" altLang="en-US" b="1" dirty="0"/>
              <a:t>物理碰撞</a:t>
            </a:r>
            <a:r>
              <a:rPr lang="en-US" altLang="zh-CN" b="1" dirty="0"/>
              <a:t>" </a:t>
            </a:r>
            <a:r>
              <a:rPr lang="zh-CN" altLang="en-US" b="1" dirty="0"/>
              <a:t>或 </a:t>
            </a:r>
            <a:r>
              <a:rPr lang="en-US" altLang="zh-CN" b="1" dirty="0"/>
              <a:t>"</a:t>
            </a:r>
            <a:r>
              <a:rPr lang="zh-CN" altLang="en-US" b="1" dirty="0"/>
              <a:t>刚离开地面不到</a:t>
            </a:r>
            <a:r>
              <a:rPr lang="en-US" altLang="zh-CN" b="1" dirty="0"/>
              <a:t>0.1</a:t>
            </a:r>
            <a:r>
              <a:rPr lang="zh-CN" altLang="en-US" b="1" dirty="0"/>
              <a:t>秒</a:t>
            </a:r>
            <a:r>
              <a:rPr lang="en-US" altLang="zh-CN" b="1" dirty="0"/>
              <a:t>"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5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3DF3-8274-24B1-C95C-7BD7CDE6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第一步：在 </a:t>
            </a:r>
            <a:r>
              <a:rPr lang="en-US" b="1" dirty="0" err="1"/>
              <a:t>PlayerComponent</a:t>
            </a:r>
            <a:r>
              <a:rPr lang="en-US" b="1" dirty="0"/>
              <a:t> </a:t>
            </a:r>
            <a:r>
              <a:rPr lang="zh-CN" altLang="en-US" b="1" dirty="0"/>
              <a:t>中添加计时器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2899C-6020-818A-838A-580A7B85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中添加两个变量来管理这个时间窗口。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</a:t>
            </a:r>
            <a:r>
              <a:rPr lang="en-US" b="1" dirty="0" err="1"/>
              <a:t>player_component.h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51462-9E44-C602-021F-D1D070ED7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61275"/>
              </p:ext>
            </p:extLst>
          </p:nvPr>
        </p:nvGraphicFramePr>
        <p:xfrm>
          <a:off x="1094154" y="3081866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217535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759566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5890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变量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75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coyote_time_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  <a:hlinkClick r:id="rId2" action="ppaction://hlinkfile"/>
                        </a:rPr>
                        <a:t>constexpr float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土狼时间窗口（</a:t>
                      </a:r>
                      <a:r>
                        <a:rPr lang="en-US" altLang="zh-CN">
                          <a:effectLst/>
                        </a:rPr>
                        <a:t>0.1</a:t>
                      </a:r>
                      <a:r>
                        <a:rPr lang="zh-CN" altLang="en-US">
                          <a:effectLst/>
                        </a:rPr>
                        <a:t>秒）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03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coyote_timer_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float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计时器，记录离地时间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18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is_on_ground()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bool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新的</a:t>
                      </a:r>
                      <a:r>
                        <a:rPr lang="en-US" altLang="zh-CN" dirty="0">
                          <a:effectLst/>
                        </a:rPr>
                        <a:t>"</a:t>
                      </a:r>
                      <a:r>
                        <a:rPr lang="zh-CN" altLang="en-US" dirty="0">
                          <a:effectLst/>
                        </a:rPr>
                        <a:t>在地面</a:t>
                      </a:r>
                      <a:r>
                        <a:rPr lang="en-US" altLang="zh-CN" dirty="0">
                          <a:effectLst/>
                        </a:rPr>
                        <a:t>"</a:t>
                      </a:r>
                      <a:r>
                        <a:rPr lang="zh-CN" altLang="en-US" dirty="0">
                          <a:effectLst/>
                        </a:rPr>
                        <a:t>判定方法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569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858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BDA8-E165-E24D-EE56-720F8101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第二步：管理计时器与定义 </a:t>
            </a:r>
            <a:r>
              <a:rPr lang="en-US" b="1" dirty="0" err="1"/>
              <a:t>is_on_ground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C19DC-6A47-BFEC-0A73-F48E53009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的 </a:t>
            </a:r>
            <a:r>
              <a:rPr lang="en-US" dirty="0"/>
              <a:t>update </a:t>
            </a:r>
            <a:r>
              <a:rPr lang="zh-CN" altLang="en-US" dirty="0"/>
              <a:t>函数是管理计时器的最佳位置。同时，我们实现 </a:t>
            </a:r>
            <a:r>
              <a:rPr lang="en-US" dirty="0" err="1"/>
              <a:t>is_on_ground</a:t>
            </a:r>
            <a:r>
              <a:rPr lang="en-US" dirty="0"/>
              <a:t> </a:t>
            </a:r>
            <a:r>
              <a:rPr lang="zh-CN" altLang="en-US" dirty="0"/>
              <a:t>函数。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/game/component/player_component.cpp（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F12F1-91B2-74BB-0D29-96467DF7D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23" y="3319901"/>
            <a:ext cx="2737339" cy="3419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FF559-4251-C941-87A0-F6890DA27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692" y="3319901"/>
            <a:ext cx="3318710" cy="339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6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7DA8-53CF-EB34-103B-1D9609E7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7178D-B27A-2C53-BFEB-9B5CFA5C4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离地计时</a:t>
            </a:r>
            <a:r>
              <a:rPr lang="zh-CN" altLang="en-US" dirty="0"/>
              <a:t>：只要玩家在物理上离地，</a:t>
            </a:r>
            <a:r>
              <a:rPr lang="en-US" altLang="zh-CN" dirty="0" err="1"/>
              <a:t>coyote_timer</a:t>
            </a:r>
            <a:r>
              <a:rPr lang="en-US" altLang="zh-CN" dirty="0"/>
              <a:t>_</a:t>
            </a:r>
            <a:r>
              <a:rPr lang="zh-CN" altLang="en-US" dirty="0"/>
              <a:t> 就开始计时</a:t>
            </a:r>
          </a:p>
          <a:p>
            <a:r>
              <a:rPr lang="zh-CN" altLang="en-US" b="1" dirty="0"/>
              <a:t>着地重置</a:t>
            </a:r>
            <a:r>
              <a:rPr lang="zh-CN" altLang="en-US" dirty="0"/>
              <a:t>：一旦玩家接触地面，计时器立刻归零</a:t>
            </a:r>
          </a:p>
          <a:p>
            <a:r>
              <a:rPr lang="zh-CN" altLang="en-US" b="1" dirty="0"/>
              <a:t>新的权威</a:t>
            </a:r>
            <a:r>
              <a:rPr lang="zh-CN" altLang="en-US" dirty="0"/>
              <a:t>：</a:t>
            </a:r>
            <a:r>
              <a:rPr lang="en-US" altLang="zh-CN" dirty="0" err="1"/>
              <a:t>is_on_ground</a:t>
            </a:r>
            <a:r>
              <a:rPr lang="en-US" altLang="zh-CN" dirty="0"/>
              <a:t>()</a:t>
            </a:r>
            <a:r>
              <a:rPr lang="zh-CN" altLang="en-US" dirty="0"/>
              <a:t> 函数结合了物理现实和我们设定的</a:t>
            </a:r>
            <a:r>
              <a:rPr lang="en-US" altLang="zh-CN" dirty="0"/>
              <a:t>"</a:t>
            </a:r>
            <a:r>
              <a:rPr lang="zh-CN" altLang="en-US" dirty="0"/>
              <a:t>宽容窗口</a:t>
            </a:r>
            <a:r>
              <a:rPr lang="en-US" altLang="zh-CN" dirty="0"/>
              <a:t>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37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04C2-8E4C-1BBF-7D1D-10D8873D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第三步：在状态机中使用新定义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81BA-DF34-665C-922E-6951AE941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最后，我们只需在 </a:t>
            </a:r>
            <a:r>
              <a:rPr lang="en-US" dirty="0" err="1"/>
              <a:t>IdleState</a:t>
            </a:r>
            <a:r>
              <a:rPr lang="en-US" dirty="0"/>
              <a:t> </a:t>
            </a:r>
            <a:r>
              <a:rPr lang="zh-CN" altLang="en-US" dirty="0"/>
              <a:t>和 </a:t>
            </a:r>
            <a:r>
              <a:rPr lang="en-US" dirty="0" err="1"/>
              <a:t>WalkState</a:t>
            </a:r>
            <a:r>
              <a:rPr lang="en-US" dirty="0"/>
              <a:t> </a:t>
            </a:r>
            <a:r>
              <a:rPr lang="zh-CN" altLang="en-US" dirty="0"/>
              <a:t>中，将切换到 </a:t>
            </a:r>
            <a:r>
              <a:rPr lang="en-US" dirty="0" err="1"/>
              <a:t>FallState</a:t>
            </a:r>
            <a:r>
              <a:rPr lang="en-US" dirty="0"/>
              <a:t> </a:t>
            </a:r>
            <a:r>
              <a:rPr lang="zh-CN" altLang="en-US" dirty="0"/>
              <a:t>的判断条件，从检查物理碰撞改为调用我们新的 </a:t>
            </a:r>
            <a:r>
              <a:rPr lang="en-US" dirty="0" err="1"/>
              <a:t>is_on_ground</a:t>
            </a:r>
            <a:r>
              <a:rPr lang="en-US" dirty="0"/>
              <a:t>() </a:t>
            </a:r>
            <a:r>
              <a:rPr lang="zh-CN" altLang="en-US" dirty="0"/>
              <a:t>方法。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/game/component/state/walk_state.cpp（</a:t>
            </a:r>
            <a:r>
              <a:rPr lang="zh-CN" altLang="en-US" b="1" dirty="0"/>
              <a:t>更新）</a:t>
            </a:r>
          </a:p>
          <a:p>
            <a:r>
              <a:rPr lang="en-US" b="1" dirty="0" err="1"/>
              <a:t>IdleState</a:t>
            </a:r>
            <a:r>
              <a:rPr lang="en-US" dirty="0"/>
              <a:t> </a:t>
            </a:r>
            <a:r>
              <a:rPr lang="zh-CN" altLang="en-US" dirty="0"/>
              <a:t>同理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38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BCB5-960A-7407-4A48-63509188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第二部分：无敌闪烁 </a:t>
            </a:r>
            <a:r>
              <a:rPr lang="en-US" altLang="zh-CN" b="1" dirty="0"/>
              <a:t>- </a:t>
            </a:r>
            <a:r>
              <a:rPr lang="zh-CN" altLang="en-US" b="1" dirty="0"/>
              <a:t>清晰的视觉反馈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C3915-C8B6-A153-8B4C-6F7D9015C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代码实现</a:t>
            </a:r>
          </a:p>
          <a:p>
            <a:pPr marL="0" indent="0">
              <a:buNone/>
            </a:pPr>
            <a:r>
              <a:rPr lang="zh-CN" altLang="en-US" dirty="0"/>
              <a:t>这个逻辑同样完全属于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的职责。</a:t>
            </a:r>
          </a:p>
          <a:p>
            <a:pPr marL="0" indent="0">
              <a:buNone/>
            </a:pPr>
            <a:r>
              <a:rPr lang="zh-CN" altLang="en-US" b="1" dirty="0"/>
              <a:t>第一步：添加闪烁计时器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</a:t>
            </a:r>
            <a:r>
              <a:rPr lang="en-US" b="1" dirty="0" err="1"/>
              <a:t>player_component.h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73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4484-364E-362D-83B3-AB8950C3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第二步：在 </a:t>
            </a:r>
            <a:r>
              <a:rPr lang="en-US" b="1" dirty="0"/>
              <a:t>update </a:t>
            </a:r>
            <a:r>
              <a:rPr lang="zh-CN" altLang="en-US" b="1" dirty="0"/>
              <a:t>中实现闪烁逻辑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7E764-DF82-7027-0FAD-93F89212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我们将闪烁逻辑添加到 </a:t>
            </a:r>
            <a:r>
              <a:rPr lang="en-US" dirty="0" err="1"/>
              <a:t>PlayerComponent</a:t>
            </a:r>
            <a:r>
              <a:rPr lang="en-US" dirty="0"/>
              <a:t>::update </a:t>
            </a:r>
            <a:r>
              <a:rPr lang="zh-CN" altLang="en-US" dirty="0"/>
              <a:t>中，紧跟在土狼时间逻辑之后。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/game/component/player_component.cpp（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B818F-A3D5-A7E1-C267-4F08AC368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76" y="3130061"/>
            <a:ext cx="1748028" cy="3662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4BD915-D376-0B2D-154C-C924D68A6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410" y="3339946"/>
            <a:ext cx="3645087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55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A310-EC04-376E-EC35-B60EE5C8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5B1F-159E-AB50-E9A5-D11A1D507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r>
              <a:rPr lang="zh-CN" altLang="en-US" b="1" dirty="0"/>
              <a:t>检查无敌状态</a:t>
            </a:r>
            <a:r>
              <a:rPr lang="zh-CN" altLang="en-US" dirty="0"/>
              <a:t>：首先检查 </a:t>
            </a:r>
            <a:r>
              <a:rPr lang="en-US" altLang="zh-CN" dirty="0" err="1"/>
              <a:t>health_component</a:t>
            </a:r>
            <a:r>
              <a:rPr lang="en-US" altLang="zh-CN" dirty="0"/>
              <a:t>_</a:t>
            </a:r>
            <a:r>
              <a:rPr lang="zh-CN" altLang="en-US" dirty="0"/>
              <a:t> 提供的无敌状态</a:t>
            </a:r>
          </a:p>
          <a:p>
            <a:r>
              <a:rPr lang="zh-CN" altLang="en-US" b="1" dirty="0"/>
              <a:t>计时器累加</a:t>
            </a:r>
            <a:r>
              <a:rPr lang="zh-CN" altLang="en-US" dirty="0"/>
              <a:t>：</a:t>
            </a:r>
            <a:r>
              <a:rPr lang="en-US" altLang="zh-CN" dirty="0" err="1"/>
              <a:t>flash_timer</a:t>
            </a:r>
            <a:r>
              <a:rPr lang="en-US" altLang="zh-CN" dirty="0"/>
              <a:t>_</a:t>
            </a:r>
            <a:r>
              <a:rPr lang="zh-CN" altLang="en-US" dirty="0"/>
              <a:t> 不断累加</a:t>
            </a:r>
          </a:p>
          <a:p>
            <a:r>
              <a:rPr lang="zh-CN" altLang="en-US" b="1" dirty="0"/>
              <a:t>循环机制</a:t>
            </a:r>
            <a:r>
              <a:rPr lang="zh-CN" altLang="en-US" dirty="0"/>
              <a:t>：通过 </a:t>
            </a:r>
            <a:r>
              <a:rPr lang="en-US" altLang="zh-CN" dirty="0"/>
              <a:t>if </a:t>
            </a:r>
            <a:r>
              <a:rPr lang="zh-CN" altLang="en-US" dirty="0"/>
              <a:t>语句使其在 </a:t>
            </a:r>
            <a:r>
              <a:rPr lang="en-US" altLang="zh-CN" dirty="0"/>
              <a:t>[0, 0.2)</a:t>
            </a:r>
            <a:r>
              <a:rPr lang="zh-CN" altLang="en-US" dirty="0"/>
              <a:t> 的区间内循环</a:t>
            </a:r>
          </a:p>
          <a:p>
            <a:r>
              <a:rPr lang="zh-CN" altLang="en-US" b="1" dirty="0"/>
              <a:t>区间控制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当计时器在 </a:t>
            </a:r>
            <a:r>
              <a:rPr lang="en-US" altLang="zh-CN" dirty="0"/>
              <a:t>[0, 0.1)</a:t>
            </a:r>
            <a:r>
              <a:rPr lang="zh-CN" altLang="en-US" dirty="0"/>
              <a:t> 时，隐藏精灵</a:t>
            </a:r>
          </a:p>
          <a:p>
            <a:pPr lvl="1"/>
            <a:r>
              <a:rPr lang="zh-CN" altLang="en-US" dirty="0"/>
              <a:t>在 </a:t>
            </a:r>
            <a:r>
              <a:rPr lang="en-US" altLang="zh-CN" dirty="0"/>
              <a:t>[0.1, 0.2)</a:t>
            </a:r>
            <a:r>
              <a:rPr lang="zh-CN" altLang="en-US" dirty="0"/>
              <a:t> 时，显示精灵</a:t>
            </a:r>
          </a:p>
          <a:p>
            <a:pPr lvl="1"/>
            <a:r>
              <a:rPr lang="zh-CN" altLang="en-US" dirty="0"/>
              <a:t>这就产生了闪烁效果</a:t>
            </a:r>
          </a:p>
          <a:p>
            <a:r>
              <a:rPr lang="zh-CN" altLang="en-US" b="1" dirty="0"/>
              <a:t>恢复显示</a:t>
            </a:r>
            <a:r>
              <a:rPr lang="zh-CN" altLang="en-US" dirty="0"/>
              <a:t>：最后有一个非常重要的 </a:t>
            </a:r>
            <a:r>
              <a:rPr lang="en-US" altLang="zh-CN" dirty="0"/>
              <a:t>else if</a:t>
            </a:r>
            <a:r>
              <a:rPr lang="zh-CN" altLang="en-US" dirty="0"/>
              <a:t> 分支，确保一旦无敌状态结束，如果精灵恰好处于隐藏状态，会立即恢复显示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9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6E3C-04D7-79C8-C3D4-3C6FF4E8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F433D-D227-7956-1275-56721A717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实现了土狼时间</a:t>
            </a:r>
            <a:r>
              <a:rPr lang="zh-CN" altLang="en-US" dirty="0"/>
              <a:t>：</a:t>
            </a:r>
            <a:r>
              <a:rPr lang="en-US" altLang="zh-CN" dirty="0"/>
              <a:t>0.1</a:t>
            </a:r>
            <a:r>
              <a:rPr lang="zh-CN" altLang="en-US" dirty="0"/>
              <a:t>秒的宽容窗口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重新定义</a:t>
            </a:r>
            <a:r>
              <a:rPr lang="en-US" altLang="zh-CN" b="1" dirty="0"/>
              <a:t>"</a:t>
            </a:r>
            <a:r>
              <a:rPr lang="zh-CN" altLang="en-US" b="1" dirty="0"/>
              <a:t>在地面</a:t>
            </a:r>
            <a:r>
              <a:rPr lang="en-US" altLang="zh-CN" b="1" dirty="0"/>
              <a:t>"</a:t>
            </a:r>
            <a:r>
              <a:rPr lang="zh-CN" altLang="en-US" dirty="0"/>
              <a:t>：物理碰撞 </a:t>
            </a:r>
            <a:r>
              <a:rPr lang="en-US" altLang="zh-CN" dirty="0"/>
              <a:t>OR </a:t>
            </a:r>
            <a:r>
              <a:rPr lang="zh-CN" altLang="en-US" dirty="0"/>
              <a:t>窗口内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实现了无敌闪烁</a:t>
            </a:r>
            <a:r>
              <a:rPr lang="zh-CN" altLang="en-US" dirty="0"/>
              <a:t>：</a:t>
            </a:r>
            <a:r>
              <a:rPr lang="en-US" altLang="zh-CN" dirty="0"/>
              <a:t>0.1</a:t>
            </a:r>
            <a:r>
              <a:rPr lang="zh-CN" altLang="en-US" dirty="0"/>
              <a:t>秒周期的视觉反馈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提升了游戏手感</a:t>
            </a:r>
            <a:r>
              <a:rPr lang="zh-CN" altLang="en-US" dirty="0"/>
              <a:t>：操作更流畅，反馈更清晰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保持了架构清晰</a:t>
            </a:r>
            <a:r>
              <a:rPr lang="zh-CN" altLang="en-US" dirty="0"/>
              <a:t>：优化逻辑完美封装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遵循了业界标准</a:t>
            </a:r>
            <a:r>
              <a:rPr lang="zh-CN" altLang="en-US" dirty="0"/>
              <a:t>：使用成熟的手感优化技巧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209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99D6-C0CB-EDF7-674E-291DADF0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0339" y="-86213"/>
            <a:ext cx="10515600" cy="1325563"/>
          </a:xfrm>
        </p:spPr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FC83D-43E7-3CA4-8931-D4EF0EB41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4688"/>
            <a:ext cx="12192000" cy="5843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200" dirty="0"/>
              <a:t>在本课中，我们没有添加任何改变游戏核心规则的</a:t>
            </a:r>
            <a:r>
              <a:rPr lang="en-US" altLang="zh-CN" sz="2200" dirty="0"/>
              <a:t>"</a:t>
            </a:r>
            <a:r>
              <a:rPr lang="zh-CN" altLang="en-US" sz="2200" dirty="0"/>
              <a:t>大功能</a:t>
            </a:r>
            <a:r>
              <a:rPr lang="en-US" altLang="zh-CN" sz="2200" dirty="0"/>
              <a:t>"</a:t>
            </a:r>
            <a:r>
              <a:rPr lang="zh-CN" altLang="en-US" sz="2200" dirty="0"/>
              <a:t>，但通过</a:t>
            </a:r>
            <a:r>
              <a:rPr lang="en-US" altLang="zh-CN" sz="2200" dirty="0"/>
              <a:t>"</a:t>
            </a:r>
            <a:r>
              <a:rPr lang="zh-CN" altLang="en-US" sz="2200" dirty="0"/>
              <a:t>土狼时间</a:t>
            </a:r>
            <a:r>
              <a:rPr lang="en-US" altLang="zh-CN" sz="2200" dirty="0"/>
              <a:t>"</a:t>
            </a:r>
            <a:r>
              <a:rPr lang="zh-CN" altLang="en-US" sz="2200" dirty="0"/>
              <a:t>和</a:t>
            </a:r>
            <a:r>
              <a:rPr lang="en-US" altLang="zh-CN" sz="2200" dirty="0"/>
              <a:t>"</a:t>
            </a:r>
            <a:r>
              <a:rPr lang="zh-CN" altLang="en-US" sz="2200" dirty="0"/>
              <a:t>无敌闪烁</a:t>
            </a:r>
            <a:r>
              <a:rPr lang="en-US" altLang="zh-CN" sz="2200" dirty="0"/>
              <a:t>"</a:t>
            </a:r>
            <a:r>
              <a:rPr lang="zh-CN" altLang="en-US" sz="2200" dirty="0"/>
              <a:t>这两个细节的打磨，</a:t>
            </a:r>
            <a:r>
              <a:rPr lang="zh-CN" altLang="en-US" sz="2200" b="1" dirty="0"/>
              <a:t>游戏的品质感和玩家体验得到了质的飞跃</a:t>
            </a:r>
            <a:r>
              <a:rPr lang="zh-CN" altLang="en-US" sz="2200" dirty="0"/>
              <a:t>。这充分说明了</a:t>
            </a:r>
            <a:r>
              <a:rPr lang="en-US" altLang="zh-CN" sz="2200" dirty="0"/>
              <a:t>"</a:t>
            </a:r>
            <a:r>
              <a:rPr lang="zh-CN" altLang="en-US" sz="2200" dirty="0"/>
              <a:t>游戏手感</a:t>
            </a:r>
            <a:r>
              <a:rPr lang="en-US" altLang="zh-CN" sz="2200" dirty="0"/>
              <a:t>"</a:t>
            </a:r>
            <a:r>
              <a:rPr lang="zh-CN" altLang="en-US" sz="2200" dirty="0"/>
              <a:t>的重要性。</a:t>
            </a:r>
          </a:p>
          <a:p>
            <a:pPr marL="0" indent="0">
              <a:buNone/>
            </a:pPr>
            <a:r>
              <a:rPr lang="zh-CN" altLang="en-US" b="1" dirty="0"/>
              <a:t>关键要点：</a:t>
            </a:r>
            <a:endParaRPr lang="zh-CN" altLang="en-US" dirty="0"/>
          </a:p>
          <a:p>
            <a:r>
              <a:rPr lang="zh-CN" altLang="en-US" dirty="0"/>
              <a:t>⏱️ 土狼时间：</a:t>
            </a:r>
            <a:r>
              <a:rPr lang="en-US" altLang="zh-CN" dirty="0"/>
              <a:t>0.1</a:t>
            </a:r>
            <a:r>
              <a:rPr lang="zh-CN" altLang="en-US" dirty="0"/>
              <a:t>秒的宽容窗口</a:t>
            </a:r>
          </a:p>
          <a:p>
            <a:r>
              <a:rPr lang="zh-CN" altLang="en-US" dirty="0"/>
              <a:t>🔄 重新定义</a:t>
            </a:r>
            <a:r>
              <a:rPr lang="en-US" altLang="zh-CN" dirty="0"/>
              <a:t>"</a:t>
            </a:r>
            <a:r>
              <a:rPr lang="zh-CN" altLang="en-US" dirty="0"/>
              <a:t>在地面</a:t>
            </a:r>
            <a:r>
              <a:rPr lang="en-US" altLang="zh-CN" dirty="0"/>
              <a:t>"</a:t>
            </a:r>
            <a:r>
              <a:rPr lang="zh-CN" altLang="en-US" dirty="0"/>
              <a:t>：物理 </a:t>
            </a:r>
            <a:r>
              <a:rPr lang="en-US" altLang="zh-CN" dirty="0"/>
              <a:t>OR </a:t>
            </a:r>
            <a:r>
              <a:rPr lang="zh-CN" altLang="en-US" dirty="0"/>
              <a:t>时间窗口</a:t>
            </a:r>
          </a:p>
          <a:p>
            <a:r>
              <a:rPr lang="zh-CN" altLang="en-US" dirty="0"/>
              <a:t>✨ 无敌闪烁：</a:t>
            </a:r>
            <a:r>
              <a:rPr lang="en-US" altLang="zh-CN" dirty="0"/>
              <a:t>0.1</a:t>
            </a:r>
            <a:r>
              <a:rPr lang="zh-CN" altLang="en-US" dirty="0"/>
              <a:t>秒周期的循环显示</a:t>
            </a:r>
            <a:r>
              <a:rPr lang="en-US" altLang="zh-CN" dirty="0"/>
              <a:t>/</a:t>
            </a:r>
            <a:r>
              <a:rPr lang="zh-CN" altLang="en-US" dirty="0"/>
              <a:t>隐藏</a:t>
            </a:r>
          </a:p>
          <a:p>
            <a:r>
              <a:rPr lang="zh-CN" altLang="en-US" dirty="0"/>
              <a:t>🎯 边界处理：无敌结束时恢复显示</a:t>
            </a:r>
          </a:p>
          <a:p>
            <a:r>
              <a:rPr lang="zh-CN" altLang="en-US" dirty="0"/>
              <a:t>🎮 手感优化：容错性 </a:t>
            </a:r>
            <a:r>
              <a:rPr lang="en-US" altLang="zh-CN" dirty="0"/>
              <a:t>+ </a:t>
            </a:r>
            <a:r>
              <a:rPr lang="zh-CN" altLang="en-US" dirty="0"/>
              <a:t>视觉反馈</a:t>
            </a:r>
          </a:p>
          <a:p>
            <a:r>
              <a:rPr lang="zh-CN" altLang="en-US" dirty="0"/>
              <a:t>🏗️ 架构清晰：优化逻辑完美封装</a:t>
            </a:r>
          </a:p>
          <a:p>
            <a:r>
              <a:rPr lang="zh-CN" altLang="en-US" dirty="0"/>
              <a:t>📐 业界标准：成熟的手感优化技巧</a:t>
            </a:r>
          </a:p>
          <a:p>
            <a:pPr marL="0" indent="0">
              <a:buNone/>
            </a:pPr>
            <a:r>
              <a:rPr lang="zh-CN" altLang="en-US" sz="2200" dirty="0"/>
              <a:t>💡 </a:t>
            </a:r>
            <a:r>
              <a:rPr lang="zh-CN" altLang="en-US" sz="2200" b="1" dirty="0"/>
              <a:t>设计哲学</a:t>
            </a:r>
            <a:r>
              <a:rPr lang="zh-CN" altLang="en-US" sz="2200" dirty="0"/>
              <a:t>：我们再次看到，一个好的组件化架构是多么强大。这些复杂的逻辑被完美地封装在 </a:t>
            </a:r>
            <a:r>
              <a:rPr lang="en-US" altLang="zh-CN" sz="2200" dirty="0" err="1"/>
              <a:t>PlayerComponent</a:t>
            </a:r>
            <a:r>
              <a:rPr lang="zh-CN" altLang="en-US" sz="2200" dirty="0"/>
              <a:t> 内部，而状态机（</a:t>
            </a:r>
            <a:r>
              <a:rPr lang="en-US" altLang="zh-CN" sz="2200" dirty="0" err="1"/>
              <a:t>IdleState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WalkState</a:t>
            </a:r>
            <a:r>
              <a:rPr lang="zh-CN" altLang="en-US" sz="2200" dirty="0"/>
              <a:t>等）只需调用一个简单的高层接口（</a:t>
            </a:r>
            <a:r>
              <a:rPr lang="en-US" altLang="zh-CN" sz="2200" dirty="0" err="1"/>
              <a:t>is_on_ground</a:t>
            </a:r>
            <a:r>
              <a:rPr lang="en-US" altLang="zh-CN" sz="2200" dirty="0"/>
              <a:t>()</a:t>
            </a:r>
            <a:r>
              <a:rPr lang="zh-CN" altLang="en-US" sz="2200" dirty="0"/>
              <a:t>）即可，完全不需要关心底层的实现细节。这正是优秀架构的体现</a:t>
            </a:r>
            <a:r>
              <a:rPr lang="en-US" altLang="zh-CN" sz="2200" dirty="0"/>
              <a:t>——</a:t>
            </a:r>
            <a:r>
              <a:rPr lang="zh-CN" altLang="en-US" sz="2200" dirty="0"/>
              <a:t>高内聚、低耦合。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19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B335-6716-059E-91CA-AFB9F16D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569A-D42E-6B65-F058-9E230E51D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然后我们</a:t>
            </a:r>
            <a:r>
              <a:rPr lang="zh-CN" altLang="en-US" dirty="0"/>
              <a:t>将为游戏世界添加声音：</a:t>
            </a:r>
          </a:p>
          <a:p>
            <a:r>
              <a:rPr lang="zh-CN" altLang="en-US" dirty="0"/>
              <a:t>🎵 </a:t>
            </a:r>
            <a:r>
              <a:rPr lang="zh-CN" altLang="en-US" b="1" dirty="0"/>
              <a:t>音频引擎与音频组件</a:t>
            </a:r>
            <a:r>
              <a:rPr lang="zh-CN" altLang="en-US" dirty="0"/>
              <a:t>：构建音频系统</a:t>
            </a:r>
          </a:p>
          <a:p>
            <a:r>
              <a:rPr lang="zh-CN" altLang="en-US" dirty="0"/>
              <a:t>🎶 </a:t>
            </a:r>
            <a:r>
              <a:rPr lang="zh-CN" altLang="en-US" b="1" dirty="0"/>
              <a:t>背景音乐</a:t>
            </a:r>
            <a:r>
              <a:rPr lang="zh-CN" altLang="en-US" dirty="0"/>
              <a:t>：循环播放的</a:t>
            </a:r>
            <a:r>
              <a:rPr lang="en-US" altLang="zh-CN" dirty="0"/>
              <a:t>BGM</a:t>
            </a:r>
          </a:p>
          <a:p>
            <a:r>
              <a:rPr lang="zh-CN" altLang="en-US" dirty="0"/>
              <a:t>🔊 </a:t>
            </a:r>
            <a:r>
              <a:rPr lang="zh-CN" altLang="en-US" b="1" dirty="0"/>
              <a:t>音效系统</a:t>
            </a:r>
            <a:r>
              <a:rPr lang="zh-CN" altLang="en-US" dirty="0"/>
              <a:t>：跳跃、受伤、收集等音效</a:t>
            </a:r>
          </a:p>
          <a:p>
            <a:r>
              <a:rPr lang="zh-CN" altLang="en-US" dirty="0"/>
              <a:t>🎚️ </a:t>
            </a:r>
            <a:r>
              <a:rPr lang="zh-CN" altLang="en-US" b="1" dirty="0"/>
              <a:t>音量控制</a:t>
            </a:r>
            <a:r>
              <a:rPr lang="zh-CN" altLang="en-US" dirty="0"/>
              <a:t>：管理不同音频的音量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34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1272</Words>
  <Application>Microsoft Office PowerPoint</Application>
  <PresentationFormat>Widescreen</PresentationFormat>
  <Paragraphs>127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-apple-system</vt:lpstr>
      <vt:lpstr>source-code-pro</vt:lpstr>
      <vt:lpstr>Aptos</vt:lpstr>
      <vt:lpstr>Aptos Display</vt:lpstr>
      <vt:lpstr>Arial</vt:lpstr>
      <vt:lpstr>Office Theme</vt:lpstr>
      <vt:lpstr>土狼时间与无敌闪烁</vt:lpstr>
      <vt:lpstr>📌 问题背景</vt:lpstr>
      <vt:lpstr>PowerPoint Presentation</vt:lpstr>
      <vt:lpstr>PowerPoint Presentation</vt:lpstr>
      <vt:lpstr>💡 解决方案：游戏手感优化</vt:lpstr>
      <vt:lpstr>🎯 本课目标</vt:lpstr>
      <vt:lpstr>第一部分：土狼时间（Coyote Time） - 宽容的跳跃</vt:lpstr>
      <vt:lpstr>1. 问题所在：一帧之差的挫败感</vt:lpstr>
      <vt:lpstr>PowerPoint Presentation</vt:lpstr>
      <vt:lpstr>2. 解决方案：像卡通人物一样思考</vt:lpstr>
      <vt:lpstr>PowerPoint Presentation</vt:lpstr>
      <vt:lpstr>3. 代码实现</vt:lpstr>
      <vt:lpstr>第一步：在 PlayerComponent 中添加计时器</vt:lpstr>
      <vt:lpstr>第二步：管理计时器与定义 is_on_ground</vt:lpstr>
      <vt:lpstr>PowerPoint Presentation</vt:lpstr>
      <vt:lpstr>第三步：在状态机中使用新定义</vt:lpstr>
      <vt:lpstr>第二部分：无敌闪烁 - 清晰的视觉反馈</vt:lpstr>
      <vt:lpstr>第二步：在 update 中实现闪烁逻辑</vt:lpstr>
      <vt:lpstr>PowerPoint Presentation</vt:lpstr>
      <vt:lpstr>PowerPoint Presentation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2</cp:revision>
  <dcterms:created xsi:type="dcterms:W3CDTF">2025-11-18T16:02:34Z</dcterms:created>
  <dcterms:modified xsi:type="dcterms:W3CDTF">2025-11-18T16:14:20Z</dcterms:modified>
</cp:coreProperties>
</file>