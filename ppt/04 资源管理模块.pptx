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F0547A0-5CF0-404E-9CC7-720718ABEE40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400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474E1-02E4-768B-F1BE-930CBA41AF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DDF76D-6955-6D97-CAC0-BAA273721B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0A6C0-8228-431B-F4F6-28718A092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26179-3C1F-4FDE-ACBD-5F390E81F9C9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4DC2A-BD80-FE97-7710-7CFC3E1F5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08C32-B107-1021-55BB-9C7E1EF1F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4F1D4-E7FF-4CB4-A95D-3B613471F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084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8A3B1-8309-E5D5-CEBA-15B8DFB66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B0ACB-D973-084B-EBC5-5ACE08794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74D62-3C55-C760-BD1D-F24F39C0A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26179-3C1F-4FDE-ACBD-5F390E81F9C9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A25B4-B362-28E9-4F3C-0AF7758FC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10B1B-EDB3-79E2-36A9-EC84D072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4F1D4-E7FF-4CB4-A95D-3B613471F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3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2808-9CE3-A9E8-CE27-CE94F74F3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1B8358-2431-3F4F-B8A2-10F13372C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D7AD1-7C14-F566-8C35-48633E542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26179-3C1F-4FDE-ACBD-5F390E81F9C9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85FD6-0065-15B2-29AA-29A170FE2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BA36C-E4ED-2697-F1D6-17F7388C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4F1D4-E7FF-4CB4-A95D-3B613471F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728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7AA74-F315-C89E-AD47-219680C96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A545D-038D-7F5D-FFC5-0CB57AD264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213E66-9134-FBC3-C5CF-12EA9E420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E0A5A3-E66A-442C-8221-94C94B5C7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26179-3C1F-4FDE-ACBD-5F390E81F9C9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52CD9-792A-C3E7-D6AD-CB7E4B091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3C99DE-66D1-2D7C-12A1-A32F00271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4F1D4-E7FF-4CB4-A95D-3B613471F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016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8D45A-E474-7D90-178E-418595FD0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A195E0-E926-D1E0-C03F-184049023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262F93-CA7A-F931-0B65-B0EA8A7C06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65B46D-499E-6A6D-6584-E032F79EB5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94C9A5-7724-B45B-84E8-2E292ED851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E9EFC7-13AC-B5C8-9F2A-E3556C577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26179-3C1F-4FDE-ACBD-5F390E81F9C9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91E388-959E-ACD1-ECA2-42E48E44A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5B51BD-2F5F-AA7E-A4C6-31E18B8CC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4F1D4-E7FF-4CB4-A95D-3B613471F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599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299C3-134F-E029-9C9C-1231A7277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B751B1-7839-6A61-12BD-BBDCFBB5D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26179-3C1F-4FDE-ACBD-5F390E81F9C9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C87F5E-125D-7057-EA03-AC76571F7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4CABAA-5D75-099D-2F86-502483E5F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4F1D4-E7FF-4CB4-A95D-3B613471F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804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2BCCD9-728D-E5D5-4282-66BD692B3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26179-3C1F-4FDE-ACBD-5F390E81F9C9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386688-8E27-C031-8634-3B7973F2F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C3158-6E02-AEA4-9BC5-6C2689B82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4F1D4-E7FF-4CB4-A95D-3B613471F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334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49A64-8260-D2B1-6EAA-F197F708C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3D598-0BC3-871E-EE78-788939756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7FC3BF-14B4-D9AD-2A20-0161EEDDD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42E8D-FE0A-CC0E-E68D-E0B5B9624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26179-3C1F-4FDE-ACBD-5F390E81F9C9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ADBA1C-91F8-5776-6834-C49451C38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82987E-F2B8-B587-6380-945439A20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4F1D4-E7FF-4CB4-A95D-3B613471F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502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71EDE-FFD5-1DBA-77C6-C6CFDAE8E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5FE21C-61BB-DC5C-4DB3-BF2B37471C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DD7D6E-9430-6645-446C-A322D858A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3E8976-5DD9-62C3-610B-988451213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26179-3C1F-4FDE-ACBD-5F390E81F9C9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45F73A-B777-B926-08A0-12D0422EB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D704F0-391D-46FC-D883-FE02E9019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4F1D4-E7FF-4CB4-A95D-3B613471F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163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8A9E8-E20C-5C03-4F55-5062F615C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553798-0FCB-CA81-7A02-CCD3143342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035C7-D306-F196-DBF3-3BD030399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26179-3C1F-4FDE-ACBD-5F390E81F9C9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495D4-A2C1-AD7B-6F53-65C994521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0DC68-C379-36E1-48B7-B35E7812F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4F1D4-E7FF-4CB4-A95D-3B613471F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739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559336-9883-1EB5-FCE4-0E3BDCEB97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BB6A8D-42C3-E137-713F-DEDBD535E6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9EAC9-46F1-F551-6D3C-852FEBD3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26179-3C1F-4FDE-ACBD-5F390E81F9C9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D8117-E15C-E478-1607-6A356240B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700E9-EB83-3C18-13CE-648F3C827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4F1D4-E7FF-4CB4-A95D-3B613471F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831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136F7B-73C5-342C-D4BE-229B73E8A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75BCD-5AFA-5E20-CB06-2481DCF06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6818D-2E71-7444-CA59-0341AF35B5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26179-3C1F-4FDE-ACBD-5F390E81F9C9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76A78-28CA-7AA9-4391-79410CEBF7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D8204-E462-2B9F-64E8-86CC24AD86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64F1D4-E7FF-4CB4-A95D-3B613471F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84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10CB4-A6D6-6A1E-51B8-ACEF288523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资源管理模块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F26FBC-6428-C54F-B8BB-837EEFB16A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673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4535A-0D0A-1C30-9B2A-09088BE49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📖 概述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3E574-3794-366D-21A0-336C44A4E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在之前的课程中，我们搭建了游戏引擎的</a:t>
            </a:r>
            <a:r>
              <a:rPr lang="en-US" altLang="zh-CN" dirty="0"/>
              <a:t>"</a:t>
            </a:r>
            <a:r>
              <a:rPr lang="zh-CN" altLang="en-US" dirty="0"/>
              <a:t>骨架</a:t>
            </a:r>
            <a:r>
              <a:rPr lang="en-US" altLang="zh-CN" dirty="0"/>
              <a:t>"——</a:t>
            </a:r>
            <a:r>
              <a:rPr lang="zh-CN" altLang="en-US" dirty="0"/>
              <a:t>主循环与时间控制。现在，是时候为这个骨架添加</a:t>
            </a:r>
            <a:r>
              <a:rPr lang="en-US" altLang="zh-CN" dirty="0"/>
              <a:t>"</a:t>
            </a:r>
            <a:r>
              <a:rPr lang="zh-CN" altLang="en-US" dirty="0"/>
              <a:t>血肉</a:t>
            </a:r>
            <a:r>
              <a:rPr lang="en-US" altLang="zh-CN" dirty="0"/>
              <a:t>"</a:t>
            </a:r>
            <a:r>
              <a:rPr lang="zh-CN" altLang="en-US" dirty="0"/>
              <a:t>了。任何游戏都离不开各种资源：图片、音效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037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856DE-D5D5-02B5-5297-D5BA4B925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🎯 </a:t>
            </a:r>
            <a:r>
              <a:rPr lang="zh-CN" altLang="en-US" b="1" dirty="0"/>
              <a:t>核心问题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B5546-8D68-13E5-BF16-5F918D50D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9789"/>
            <a:ext cx="10515600" cy="5162204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b="1" dirty="0"/>
              <a:t>🚫 避免重复加载</a:t>
            </a:r>
          </a:p>
          <a:p>
            <a:pPr marL="0" indent="0">
              <a:buNone/>
            </a:pPr>
            <a:r>
              <a:rPr lang="zh-CN" altLang="en-US" dirty="0"/>
              <a:t>同一张图片或同一个音效在游戏中可能会被多次使用。我们不希望每次使用都从硬盘重新加载一次，这会严重影响性能。</a:t>
            </a:r>
          </a:p>
          <a:p>
            <a:r>
              <a:rPr lang="zh-CN" altLang="en-US" b="1" dirty="0"/>
              <a:t>🔄 自动化内存管理</a:t>
            </a:r>
          </a:p>
          <a:p>
            <a:pPr marL="0" indent="0">
              <a:buNone/>
            </a:pPr>
            <a:r>
              <a:rPr lang="zh-CN" altLang="en-US" dirty="0"/>
              <a:t>手动管理加载到内存中的每一个资源（</a:t>
            </a:r>
            <a:r>
              <a:rPr lang="en-US" altLang="zh-CN" dirty="0" err="1"/>
              <a:t>SDL_Texture</a:t>
            </a:r>
            <a:r>
              <a:rPr lang="en-US" altLang="zh-CN" dirty="0"/>
              <a:t>, </a:t>
            </a:r>
            <a:r>
              <a:rPr lang="en-US" altLang="zh-CN" dirty="0" err="1"/>
              <a:t>Mix_Chunk</a:t>
            </a:r>
            <a:r>
              <a:rPr lang="zh-CN" altLang="en-US" dirty="0"/>
              <a:t>等）既繁琐又容易出错，是内存泄漏的重灾区。我们需要一个能自动释放资源的系统。</a:t>
            </a:r>
          </a:p>
          <a:p>
            <a:r>
              <a:rPr lang="zh-CN" altLang="en-US" b="1" dirty="0"/>
              <a:t>🔗 统一的访问接口</a:t>
            </a:r>
          </a:p>
          <a:p>
            <a:pPr marL="0" indent="0">
              <a:buNone/>
            </a:pPr>
            <a:r>
              <a:rPr lang="zh-CN" altLang="en-US" dirty="0"/>
              <a:t>引擎的其他部分不应该关心资源是如何被加载和存储的。它们只需要一个简单的接口，通过文件名就能获取到所需的资源。之前的课程中，我们搭建了游戏引擎的“骨架”</a:t>
            </a:r>
            <a:r>
              <a:rPr lang="en-US" altLang="zh-CN" dirty="0"/>
              <a:t>——</a:t>
            </a:r>
            <a:r>
              <a:rPr lang="zh-CN" altLang="en-US" dirty="0"/>
              <a:t>主循环与时间控制。现在，是时候为这个骨架添加“血肉”了。任何游戏都离不开各种资源：图片、音效、音乐、字体等。一个好的游戏引擎必须有一个高效、健壮的资源管理系统。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846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4CBF2-84C1-1030-9AFF-307DFDDB3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🏗️ </a:t>
            </a:r>
            <a:r>
              <a:rPr lang="en-US" altLang="zh-CN" b="1" dirty="0"/>
              <a:t>1. </a:t>
            </a:r>
            <a:r>
              <a:rPr lang="zh-CN" altLang="en-US" b="1" dirty="0"/>
              <a:t>架构设计：外观模式（</a:t>
            </a:r>
            <a:r>
              <a:rPr lang="en-US" altLang="zh-CN" b="1" dirty="0"/>
              <a:t>Facade</a:t>
            </a:r>
            <a:r>
              <a:rPr lang="zh-CN" altLang="en-US" b="1" dirty="0"/>
              <a:t>）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94428-395C-CE0E-AD4C-AB4E49F7B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为了实现上述目标，我们将采用</a:t>
            </a:r>
            <a:r>
              <a:rPr lang="zh-CN" altLang="en-US" b="1" dirty="0"/>
              <a:t>外观模式 </a:t>
            </a:r>
            <a:r>
              <a:rPr lang="en-US" altLang="zh-CN" b="1" dirty="0"/>
              <a:t>(Facade Pattern)</a:t>
            </a:r>
            <a:r>
              <a:rPr lang="zh-CN" altLang="en-US" dirty="0"/>
              <a:t>。我们将创建一个</a:t>
            </a:r>
            <a:r>
              <a:rPr lang="en-US" altLang="zh-CN" dirty="0" err="1"/>
              <a:t>ResourceManager</a:t>
            </a:r>
            <a:r>
              <a:rPr lang="zh-CN" altLang="en-US" dirty="0"/>
              <a:t>类，它作为整个资源模块的唯一公共入口。它本身不直接处理加载逻辑，而是将任务委托给内部的三个专业子管理器：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584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D099F-3EF8-F29D-4171-75264C00B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5A79AF-8723-5822-D955-757B6359AC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3640" y="731520"/>
            <a:ext cx="8758344" cy="493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570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46972-22C6-D124-8000-F812E46E2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3702"/>
            <a:ext cx="10515600" cy="5653261"/>
          </a:xfrm>
        </p:spPr>
        <p:txBody>
          <a:bodyPr/>
          <a:lstStyle/>
          <a:p>
            <a:r>
              <a:rPr lang="en-US" sz="3600" b="1" dirty="0"/>
              <a:t>📦 </a:t>
            </a:r>
            <a:r>
              <a:rPr lang="zh-CN" altLang="en-US" sz="3600" b="1" dirty="0"/>
              <a:t>子管理器分工</a:t>
            </a:r>
          </a:p>
          <a:p>
            <a:pPr marL="0" indent="0">
              <a:buNone/>
            </a:pPr>
            <a:r>
              <a:rPr lang="en-US" b="1" dirty="0" err="1"/>
              <a:t>TextureManager</a:t>
            </a:r>
            <a:r>
              <a:rPr lang="en-US" dirty="0"/>
              <a:t> - </a:t>
            </a:r>
            <a:r>
              <a:rPr lang="zh-CN" altLang="en-US" dirty="0"/>
              <a:t>负责管理图片纹理 </a:t>
            </a:r>
            <a:r>
              <a:rPr lang="en-US" altLang="zh-CN" dirty="0"/>
              <a:t>(</a:t>
            </a:r>
            <a:r>
              <a:rPr lang="en-US" dirty="0" err="1"/>
              <a:t>SDL_Texture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b="1" dirty="0" err="1"/>
              <a:t>AudioManager</a:t>
            </a:r>
            <a:r>
              <a:rPr lang="en-US" dirty="0"/>
              <a:t> - </a:t>
            </a:r>
            <a:r>
              <a:rPr lang="zh-CN" altLang="en-US" dirty="0"/>
              <a:t>负责管理音效 </a:t>
            </a:r>
            <a:r>
              <a:rPr lang="en-US" altLang="zh-CN" dirty="0"/>
              <a:t>(</a:t>
            </a:r>
            <a:r>
              <a:rPr lang="en-US" dirty="0" err="1"/>
              <a:t>Mix_Chunk</a:t>
            </a:r>
            <a:r>
              <a:rPr lang="en-US" dirty="0"/>
              <a:t>) </a:t>
            </a:r>
            <a:r>
              <a:rPr lang="zh-CN" altLang="en-US" dirty="0"/>
              <a:t>和背景音乐 </a:t>
            </a:r>
            <a:r>
              <a:rPr lang="en-US" altLang="zh-CN" dirty="0"/>
              <a:t>(</a:t>
            </a:r>
            <a:r>
              <a:rPr lang="en-US" dirty="0" err="1"/>
              <a:t>Mix_Music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b="1" dirty="0" err="1"/>
              <a:t>FontManager</a:t>
            </a:r>
            <a:r>
              <a:rPr lang="en-US" dirty="0"/>
              <a:t> - </a:t>
            </a:r>
            <a:r>
              <a:rPr lang="zh-CN" altLang="en-US" dirty="0"/>
              <a:t>负责管理字体 </a:t>
            </a:r>
            <a:r>
              <a:rPr lang="en-US" altLang="zh-CN" dirty="0"/>
              <a:t>(</a:t>
            </a:r>
            <a:r>
              <a:rPr lang="en-US" dirty="0" err="1"/>
              <a:t>TTF_Font</a:t>
            </a:r>
            <a:r>
              <a:rPr lang="en-US" dirty="0"/>
              <a:t>)</a:t>
            </a:r>
          </a:p>
          <a:p>
            <a:r>
              <a:rPr lang="en-US" sz="3600" b="1" dirty="0"/>
              <a:t>💡 </a:t>
            </a:r>
            <a:r>
              <a:rPr lang="zh-CN" altLang="en-US" sz="3600" b="1" dirty="0"/>
              <a:t>设计优势</a:t>
            </a:r>
          </a:p>
          <a:p>
            <a:pPr marL="0" indent="0">
              <a:buNone/>
            </a:pPr>
            <a:r>
              <a:rPr lang="zh-CN" altLang="en-US" dirty="0"/>
              <a:t>这种设计的优势在于，客户端代码（如未来的</a:t>
            </a:r>
            <a:r>
              <a:rPr lang="en-US" dirty="0" err="1"/>
              <a:t>SpriteComponent</a:t>
            </a:r>
            <a:r>
              <a:rPr lang="en-US" dirty="0"/>
              <a:t>）</a:t>
            </a:r>
            <a:r>
              <a:rPr lang="zh-CN" altLang="en-US" dirty="0"/>
              <a:t>只需要与</a:t>
            </a:r>
            <a:r>
              <a:rPr lang="en-US" dirty="0" err="1"/>
              <a:t>ResourceManager</a:t>
            </a:r>
            <a:r>
              <a:rPr lang="zh-CN" altLang="en-US" dirty="0"/>
              <a:t>打交道，而无需关心背后复杂的实现细节，从而实现了高度解耦。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962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64C70-9702-076C-F204-582FA7AAC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📁 </a:t>
            </a:r>
            <a:r>
              <a:rPr lang="en-US" altLang="zh-CN" b="1" dirty="0"/>
              <a:t>2. </a:t>
            </a:r>
            <a:r>
              <a:rPr lang="zh-CN" altLang="en-US" b="1" dirty="0"/>
              <a:t>新的项目结构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531EE-A290-A96F-B95A-943E34F9F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我们将在</a:t>
            </a:r>
            <a:r>
              <a:rPr lang="en-US" altLang="zh-CN" dirty="0" err="1"/>
              <a:t>src</a:t>
            </a:r>
            <a:r>
              <a:rPr lang="en-US" altLang="zh-CN" dirty="0"/>
              <a:t>/engine/</a:t>
            </a:r>
            <a:r>
              <a:rPr lang="zh-CN" altLang="en-US" dirty="0"/>
              <a:t>目录下创建一个新的</a:t>
            </a:r>
            <a:r>
              <a:rPr lang="en-US" altLang="zh-CN" dirty="0"/>
              <a:t>resource</a:t>
            </a:r>
            <a:r>
              <a:rPr lang="zh-CN" altLang="en-US" dirty="0"/>
              <a:t>文件夹，用于存放所有与资源管理相关的代码。</a:t>
            </a:r>
          </a:p>
          <a:p>
            <a:r>
              <a:rPr lang="en-US" dirty="0"/>
              <a:t>└── </a:t>
            </a:r>
            <a:r>
              <a:rPr lang="en-US" dirty="0" err="1"/>
              <a:t>src</a:t>
            </a:r>
            <a:r>
              <a:rPr lang="en-US" dirty="0"/>
              <a:t>/</a:t>
            </a:r>
          </a:p>
          <a:p>
            <a:r>
              <a:rPr lang="en-US" dirty="0"/>
              <a:t>    └── engine/</a:t>
            </a:r>
          </a:p>
          <a:p>
            <a:r>
              <a:rPr lang="en-US" dirty="0"/>
              <a:t>            │ ── core/</a:t>
            </a:r>
          </a:p>
          <a:p>
            <a:r>
              <a:rPr lang="en-US" dirty="0"/>
              <a:t>            │ ── resource/</a:t>
            </a:r>
          </a:p>
          <a:p>
            <a:r>
              <a:rPr lang="en-US" dirty="0"/>
              <a:t>                   ├── </a:t>
            </a:r>
            <a:r>
              <a:rPr lang="en-US" dirty="0" err="1"/>
              <a:t>resource_manager.h</a:t>
            </a:r>
            <a:r>
              <a:rPr lang="en-US" dirty="0"/>
              <a:t>/.</a:t>
            </a:r>
            <a:r>
              <a:rPr lang="en-US" dirty="0" err="1"/>
              <a:t>cpp</a:t>
            </a:r>
            <a:r>
              <a:rPr lang="en-US" dirty="0"/>
              <a:t>   (</a:t>
            </a:r>
            <a:r>
              <a:rPr lang="zh-CN" altLang="en-US" dirty="0"/>
              <a:t>外观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                   ├── </a:t>
            </a:r>
            <a:r>
              <a:rPr lang="en-US" dirty="0" err="1"/>
              <a:t>texture_manager.h</a:t>
            </a:r>
            <a:r>
              <a:rPr lang="en-US" dirty="0"/>
              <a:t>/.</a:t>
            </a:r>
            <a:r>
              <a:rPr lang="en-US" dirty="0" err="1"/>
              <a:t>cpp</a:t>
            </a:r>
            <a:r>
              <a:rPr lang="en-US" dirty="0"/>
              <a:t>    (</a:t>
            </a:r>
            <a:r>
              <a:rPr lang="zh-CN" altLang="en-US" dirty="0"/>
              <a:t>纹理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                   ├── </a:t>
            </a:r>
            <a:r>
              <a:rPr lang="en-US" dirty="0" err="1"/>
              <a:t>audio_manager.h</a:t>
            </a:r>
            <a:r>
              <a:rPr lang="en-US" dirty="0"/>
              <a:t>/.</a:t>
            </a:r>
            <a:r>
              <a:rPr lang="en-US" dirty="0" err="1"/>
              <a:t>cpp</a:t>
            </a:r>
            <a:r>
              <a:rPr lang="en-US" dirty="0"/>
              <a:t>      (</a:t>
            </a:r>
            <a:r>
              <a:rPr lang="zh-CN" altLang="en-US" dirty="0"/>
              <a:t>音频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                    └── </a:t>
            </a:r>
            <a:r>
              <a:rPr lang="en-US" dirty="0" err="1"/>
              <a:t>font_manager.h</a:t>
            </a:r>
            <a:r>
              <a:rPr lang="en-US" dirty="0"/>
              <a:t>/.</a:t>
            </a:r>
            <a:r>
              <a:rPr lang="en-US" dirty="0" err="1"/>
              <a:t>cpp</a:t>
            </a:r>
            <a:r>
              <a:rPr lang="en-US" dirty="0"/>
              <a:t>       (</a:t>
            </a:r>
            <a:r>
              <a:rPr lang="zh-CN" altLang="en-US" dirty="0"/>
              <a:t>字体</a:t>
            </a:r>
            <a:r>
              <a:rPr lang="en-US" altLang="zh-CN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419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B1741-22D0-1EA5-9AC2-48DA4179E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/>
              <a:t>🔧 </a:t>
            </a:r>
            <a:r>
              <a:rPr lang="en-US" altLang="zh-CN" b="1" dirty="0"/>
              <a:t>3. </a:t>
            </a:r>
            <a:r>
              <a:rPr lang="zh-CN" altLang="en-US" b="1" dirty="0"/>
              <a:t>核心技术：</a:t>
            </a:r>
            <a:r>
              <a:rPr lang="en-US" altLang="zh-CN" b="1" dirty="0"/>
              <a:t>RAII</a:t>
            </a:r>
            <a:r>
              <a:rPr lang="zh-CN" altLang="en-US" b="1" dirty="0"/>
              <a:t>与智能指针自定义删除器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DB7DC-D3A7-EE0E-6AC0-1773F0E31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在所有子管理器中，我们将使用一个统一且强大的</a:t>
            </a:r>
            <a:r>
              <a:rPr lang="en-US" altLang="zh-CN" dirty="0"/>
              <a:t>C++</a:t>
            </a:r>
            <a:r>
              <a:rPr lang="zh-CN" altLang="en-US" dirty="0"/>
              <a:t>特性来自动化内存管理：</a:t>
            </a:r>
            <a:r>
              <a:rPr lang="en-US" altLang="zh-CN" dirty="0"/>
              <a:t>std::</a:t>
            </a:r>
            <a:r>
              <a:rPr lang="en-US" altLang="zh-CN" dirty="0" err="1"/>
              <a:t>unique_ptr</a:t>
            </a:r>
            <a:r>
              <a:rPr lang="zh-CN" altLang="en-US" dirty="0"/>
              <a:t>配合</a:t>
            </a:r>
            <a:r>
              <a:rPr lang="zh-CN" altLang="en-US" b="1" dirty="0"/>
              <a:t>自定义删除器 </a:t>
            </a:r>
            <a:r>
              <a:rPr lang="en-US" altLang="zh-CN" b="1" dirty="0"/>
              <a:t>(Custom </a:t>
            </a:r>
            <a:r>
              <a:rPr lang="en-US" altLang="zh-CN" b="1" dirty="0" err="1"/>
              <a:t>Deleter</a:t>
            </a:r>
            <a:r>
              <a:rPr lang="en-US" altLang="zh-CN" b="1" dirty="0"/>
              <a:t>)</a:t>
            </a:r>
            <a:r>
              <a:rPr lang="zh-CN" altLang="en-US" dirty="0"/>
              <a:t>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267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98972-3A99-F32D-9CB3-178B5817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9135"/>
            <a:ext cx="10515600" cy="5827828"/>
          </a:xfrm>
        </p:spPr>
        <p:txBody>
          <a:bodyPr>
            <a:normAutofit/>
          </a:bodyPr>
          <a:lstStyle/>
          <a:p>
            <a:r>
              <a:rPr lang="zh-CN" altLang="en-US" b="1" dirty="0"/>
              <a:t>🔍 技术原理</a:t>
            </a:r>
          </a:p>
          <a:p>
            <a:r>
              <a:rPr lang="en-US" altLang="zh-CN" dirty="0"/>
              <a:t>SDL</a:t>
            </a:r>
            <a:r>
              <a:rPr lang="zh-CN" altLang="en-US" dirty="0"/>
              <a:t>库提供的资源（如</a:t>
            </a:r>
            <a:r>
              <a:rPr lang="en-US" altLang="zh-CN" dirty="0" err="1"/>
              <a:t>SDL_Texture</a:t>
            </a:r>
            <a:r>
              <a:rPr lang="en-US" altLang="zh-CN" dirty="0"/>
              <a:t>*</a:t>
            </a:r>
            <a:r>
              <a:rPr lang="zh-CN" altLang="en-US" dirty="0"/>
              <a:t>）是</a:t>
            </a:r>
            <a:r>
              <a:rPr lang="en-US" altLang="zh-CN" dirty="0"/>
              <a:t>C</a:t>
            </a:r>
            <a:r>
              <a:rPr lang="zh-CN" altLang="en-US" dirty="0"/>
              <a:t>风格的裸指针，需要手动调用对应的销毁函数（如</a:t>
            </a:r>
            <a:r>
              <a:rPr lang="en-US" altLang="zh-CN" dirty="0" err="1"/>
              <a:t>SDL_DestroyTexture</a:t>
            </a:r>
            <a:r>
              <a:rPr lang="zh-CN" altLang="en-US" dirty="0"/>
              <a:t>）来释放。为了将其纳入</a:t>
            </a:r>
            <a:r>
              <a:rPr lang="en-US" altLang="zh-CN" dirty="0"/>
              <a:t>C++</a:t>
            </a:r>
            <a:r>
              <a:rPr lang="zh-CN" altLang="en-US" dirty="0"/>
              <a:t>的**</a:t>
            </a:r>
            <a:r>
              <a:rPr lang="en-US" altLang="zh-CN" dirty="0"/>
              <a:t>RAII</a:t>
            </a:r>
            <a:r>
              <a:rPr lang="zh-CN" altLang="en-US" dirty="0"/>
              <a:t>（资源获取即初始化）**体系，我们这样做：</a:t>
            </a:r>
          </a:p>
          <a:p>
            <a:r>
              <a:rPr lang="zh-CN" altLang="en-US" b="1" dirty="0"/>
              <a:t>📋 实现步骤</a:t>
            </a:r>
          </a:p>
          <a:p>
            <a:r>
              <a:rPr lang="zh-CN" altLang="en-US" dirty="0"/>
              <a:t>为每种</a:t>
            </a:r>
            <a:r>
              <a:rPr lang="en-US" altLang="zh-CN" dirty="0"/>
              <a:t>SDL</a:t>
            </a:r>
            <a:r>
              <a:rPr lang="zh-CN" altLang="en-US" dirty="0"/>
              <a:t>资源类型创建一个结构体，其中重载</a:t>
            </a:r>
            <a:r>
              <a:rPr lang="en-US" altLang="zh-CN" dirty="0"/>
              <a:t>operator()</a:t>
            </a:r>
            <a:endParaRPr lang="zh-CN" altLang="en-US" dirty="0"/>
          </a:p>
          <a:p>
            <a:r>
              <a:rPr lang="zh-CN" altLang="en-US" dirty="0"/>
              <a:t>这个操作符接收一个对应类型的裸指针，并在内部调用</a:t>
            </a:r>
            <a:r>
              <a:rPr lang="en-US" altLang="zh-CN" dirty="0"/>
              <a:t>SDL</a:t>
            </a:r>
            <a:r>
              <a:rPr lang="zh-CN" altLang="en-US" dirty="0"/>
              <a:t>的销毁函数</a:t>
            </a:r>
          </a:p>
          <a:p>
            <a:r>
              <a:rPr lang="zh-CN" altLang="en-US" dirty="0"/>
              <a:t>在</a:t>
            </a:r>
            <a:r>
              <a:rPr lang="en-US" altLang="zh-CN" dirty="0"/>
              <a:t>std::</a:t>
            </a:r>
            <a:r>
              <a:rPr lang="en-US" altLang="zh-CN" dirty="0" err="1"/>
              <a:t>unique_ptr</a:t>
            </a:r>
            <a:r>
              <a:rPr lang="zh-CN" altLang="en-US" dirty="0"/>
              <a:t>的模板参数中，将这个删除器结构体作为第二个参数传入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050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7E2AB-4E0D-1132-841C-94D189F6E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25" y="3291206"/>
            <a:ext cx="8092453" cy="1325563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当</a:t>
            </a:r>
            <a:r>
              <a:rPr lang="en-US" altLang="zh-CN" sz="2400" dirty="0" err="1"/>
              <a:t>texture_ptr</a:t>
            </a:r>
            <a:r>
              <a:rPr lang="zh-CN" altLang="en-US" sz="2400" dirty="0"/>
              <a:t>离开作用域或被</a:t>
            </a:r>
            <a:r>
              <a:rPr lang="en-US" altLang="zh-CN" sz="2400" dirty="0"/>
              <a:t>reset()</a:t>
            </a:r>
            <a:r>
              <a:rPr lang="zh-CN" altLang="en-US" sz="2400" dirty="0"/>
              <a:t>时，它所管理的</a:t>
            </a:r>
            <a:r>
              <a:rPr lang="en-US" altLang="zh-CN" sz="2400" dirty="0" err="1"/>
              <a:t>SDL_Texture</a:t>
            </a:r>
            <a:r>
              <a:rPr lang="zh-CN" altLang="en-US" sz="2400" dirty="0"/>
              <a:t>就会被自动、安全地销毁。</a:t>
            </a:r>
            <a:endParaRPr lang="en-US" sz="2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8B9EDF-EA30-41C2-1EF7-F7A76B706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602" y="184425"/>
            <a:ext cx="8211476" cy="2849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471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9E2C9-CC59-5EDC-7589-571697E6C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⚙️ </a:t>
            </a:r>
            <a:r>
              <a:rPr lang="en-US" altLang="zh-CN" b="1" dirty="0"/>
              <a:t>4. </a:t>
            </a:r>
            <a:r>
              <a:rPr lang="zh-CN" altLang="en-US" b="1" dirty="0"/>
              <a:t>各个管理器的实现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7DEBB-56B5-3E38-F08E-8FCEAFEDB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3411"/>
            <a:ext cx="10515600" cy="4863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所有子管理器都遵循一个共同的设计模式：</a:t>
            </a:r>
          </a:p>
          <a:p>
            <a:pPr marL="0" indent="0">
              <a:buNone/>
            </a:pPr>
            <a:r>
              <a:rPr lang="zh-CN" altLang="en-US" b="1" dirty="0"/>
              <a:t>🔄 通用设计模式</a:t>
            </a:r>
          </a:p>
          <a:p>
            <a:r>
              <a:rPr lang="zh-CN" altLang="en-US" b="1" dirty="0"/>
              <a:t>缓存机制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内部使用</a:t>
            </a:r>
            <a:r>
              <a:rPr lang="en-US" altLang="zh-CN" dirty="0"/>
              <a:t>std::</a:t>
            </a:r>
            <a:r>
              <a:rPr lang="en-US" altLang="zh-CN" dirty="0" err="1"/>
              <a:t>unordered_map</a:t>
            </a:r>
            <a:r>
              <a:rPr lang="zh-CN" altLang="en-US" dirty="0"/>
              <a:t>作为缓存，将资源的文件路径映射到管理该资源的</a:t>
            </a:r>
            <a:r>
              <a:rPr lang="en-US" altLang="zh-CN" dirty="0"/>
              <a:t>std::</a:t>
            </a:r>
            <a:r>
              <a:rPr lang="en-US" altLang="zh-CN" dirty="0" err="1"/>
              <a:t>unique_ptr</a:t>
            </a:r>
            <a:endParaRPr lang="zh-CN" altLang="en-US" dirty="0"/>
          </a:p>
          <a:p>
            <a:r>
              <a:rPr lang="zh-CN" altLang="en-US" b="1" dirty="0"/>
              <a:t>统一接口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提供</a:t>
            </a:r>
            <a:r>
              <a:rPr lang="en-US" altLang="zh-CN" dirty="0"/>
              <a:t>get...()</a:t>
            </a:r>
            <a:r>
              <a:rPr lang="zh-CN" altLang="en-US" dirty="0"/>
              <a:t>方法，该方法首先检查缓存。如果资源已加载，则直接返回指针；如果未加载，则调用</a:t>
            </a:r>
            <a:r>
              <a:rPr lang="en-US" altLang="zh-CN" dirty="0"/>
              <a:t>load...()</a:t>
            </a:r>
            <a:r>
              <a:rPr lang="zh-CN" altLang="en-US" dirty="0"/>
              <a:t>方法从硬盘加载，存入缓存，然后返回指针</a:t>
            </a:r>
          </a:p>
          <a:p>
            <a:r>
              <a:rPr lang="zh-CN" altLang="en-US" b="1" dirty="0"/>
              <a:t>生命周期管理</a:t>
            </a:r>
            <a:r>
              <a:rPr lang="zh-CN" altLang="en-US" dirty="0"/>
              <a:t> </a:t>
            </a:r>
            <a:r>
              <a:rPr lang="en-US" altLang="zh-CN" dirty="0"/>
              <a:t>- </a:t>
            </a:r>
            <a:r>
              <a:rPr lang="zh-CN" altLang="en-US" dirty="0"/>
              <a:t>构造函数负责初始化对应的</a:t>
            </a:r>
            <a:r>
              <a:rPr lang="en-US" altLang="zh-CN" dirty="0"/>
              <a:t>SDL</a:t>
            </a:r>
            <a:r>
              <a:rPr lang="zh-CN" altLang="en-US" dirty="0"/>
              <a:t>子系统（如</a:t>
            </a:r>
            <a:r>
              <a:rPr lang="en-US" altLang="zh-CN" dirty="0" err="1"/>
              <a:t>SDL_mixer</a:t>
            </a:r>
            <a:r>
              <a:rPr lang="en-US" altLang="zh-CN" dirty="0"/>
              <a:t>, </a:t>
            </a:r>
            <a:r>
              <a:rPr lang="en-US" altLang="zh-CN" dirty="0" err="1"/>
              <a:t>SDL_ttf</a:t>
            </a:r>
            <a:r>
              <a:rPr lang="zh-CN" altLang="en-US" dirty="0"/>
              <a:t>），并在失败时抛出</a:t>
            </a:r>
            <a:r>
              <a:rPr lang="en-US" altLang="zh-CN" dirty="0"/>
              <a:t>std::</a:t>
            </a:r>
            <a:r>
              <a:rPr lang="en-US" altLang="zh-CN" dirty="0" err="1"/>
              <a:t>runtime_error</a:t>
            </a:r>
            <a:r>
              <a:rPr lang="zh-CN" altLang="en-US" dirty="0"/>
              <a:t>异常。析构函数负责清理资源并关闭子系统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265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BDAECD1-C562-7E7F-25EF-97524936C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📦 </a:t>
            </a:r>
            <a:r>
              <a:rPr lang="zh-CN" altLang="en-US" b="1" dirty="0"/>
              <a:t>具体管理器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89816C-02BD-55B6-981F-BFC22DCF77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269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C352F30-75AC-121D-E589-ADFCAD0FA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🎭 </a:t>
            </a:r>
            <a:r>
              <a:rPr lang="en-US" b="1" dirty="0" err="1"/>
              <a:t>ResourceManager</a:t>
            </a:r>
            <a:r>
              <a:rPr lang="en-US" b="1" dirty="0"/>
              <a:t> (</a:t>
            </a:r>
            <a:r>
              <a:rPr lang="zh-CN" altLang="en-US" b="1" dirty="0"/>
              <a:t>外观类</a:t>
            </a:r>
            <a:r>
              <a:rPr lang="en-US" altLang="zh-CN" b="1" dirty="0"/>
              <a:t>)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71B794-1235-A480-2388-5F366AD59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这个类是所有管理器的</a:t>
            </a:r>
            <a:r>
              <a:rPr lang="en-US" altLang="zh-CN" dirty="0"/>
              <a:t>"</a:t>
            </a:r>
            <a:r>
              <a:rPr lang="zh-CN" altLang="en-US" dirty="0"/>
              <a:t>老板</a:t>
            </a:r>
            <a:r>
              <a:rPr lang="en-US" altLang="zh-CN" dirty="0"/>
              <a:t>"</a:t>
            </a:r>
            <a:r>
              <a:rPr lang="zh-CN" altLang="en-US" dirty="0"/>
              <a:t>。它持有指向各个子管理器的</a:t>
            </a:r>
            <a:r>
              <a:rPr lang="en-US" dirty="0" err="1"/>
              <a:t>unique_ptr</a:t>
            </a:r>
            <a:r>
              <a:rPr lang="en-US" dirty="0"/>
              <a:t>，</a:t>
            </a:r>
            <a:r>
              <a:rPr lang="zh-CN" altLang="en-US" dirty="0"/>
              <a:t>并将所有外部请求（如</a:t>
            </a:r>
            <a:r>
              <a:rPr lang="en-US" dirty="0" err="1"/>
              <a:t>getTexture</a:t>
            </a:r>
            <a:r>
              <a:rPr lang="en-US" dirty="0"/>
              <a:t>）</a:t>
            </a:r>
            <a:r>
              <a:rPr lang="zh-CN" altLang="en-US" dirty="0"/>
              <a:t>转发给正确的小弟。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34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72556-1F51-EA1A-E61C-0F45183A6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7324"/>
            <a:ext cx="10515600" cy="5769639"/>
          </a:xfrm>
        </p:spPr>
        <p:txBody>
          <a:bodyPr/>
          <a:lstStyle/>
          <a:p>
            <a:r>
              <a:rPr lang="en-US" b="1" dirty="0"/>
              <a:t>🖼️ </a:t>
            </a:r>
            <a:r>
              <a:rPr lang="en-US" b="1" dirty="0" err="1"/>
              <a:t>TextureManager</a:t>
            </a:r>
            <a:endParaRPr lang="en-US" b="1" dirty="0"/>
          </a:p>
          <a:p>
            <a:pPr marL="0" indent="0">
              <a:buNone/>
            </a:pPr>
            <a:r>
              <a:rPr lang="zh-CN" altLang="en-US" dirty="0"/>
              <a:t>最基础的管理器，负责加载</a:t>
            </a:r>
            <a:r>
              <a:rPr lang="en-US" dirty="0" err="1"/>
              <a:t>SDL_Texture</a:t>
            </a:r>
            <a:r>
              <a:rPr lang="en-US" dirty="0"/>
              <a:t>。</a:t>
            </a:r>
            <a:r>
              <a:rPr lang="zh-CN" altLang="en-US" dirty="0"/>
              <a:t>它需要一个</a:t>
            </a:r>
            <a:r>
              <a:rPr lang="en-US" dirty="0" err="1"/>
              <a:t>SDL_Renderer</a:t>
            </a:r>
            <a:r>
              <a:rPr lang="zh-CN" altLang="en-US" dirty="0"/>
              <a:t>指针来创建纹理。</a:t>
            </a:r>
            <a:endParaRPr lang="en-US" altLang="zh-CN" dirty="0"/>
          </a:p>
          <a:p>
            <a:r>
              <a:rPr lang="en-US" b="1" dirty="0"/>
              <a:t>🔊 </a:t>
            </a:r>
            <a:r>
              <a:rPr lang="en-US" b="1" dirty="0" err="1"/>
              <a:t>AudioManager</a:t>
            </a:r>
            <a:endParaRPr lang="en-US" b="1" dirty="0"/>
          </a:p>
          <a:p>
            <a:pPr marL="0" indent="0">
              <a:buNone/>
            </a:pPr>
            <a:r>
              <a:rPr lang="zh-CN" altLang="en-US" dirty="0"/>
              <a:t>负责初始化</a:t>
            </a:r>
            <a:r>
              <a:rPr lang="en-US" dirty="0" err="1"/>
              <a:t>SDL_mixer</a:t>
            </a:r>
            <a:r>
              <a:rPr lang="en-US" dirty="0"/>
              <a:t>，</a:t>
            </a:r>
            <a:r>
              <a:rPr lang="zh-CN" altLang="en-US" dirty="0"/>
              <a:t>并分别管理</a:t>
            </a:r>
            <a:r>
              <a:rPr lang="en-US" dirty="0" err="1"/>
              <a:t>Mix_Chunk</a:t>
            </a:r>
            <a:r>
              <a:rPr lang="en-US" dirty="0"/>
              <a:t>（</a:t>
            </a:r>
            <a:r>
              <a:rPr lang="zh-CN" altLang="en-US" dirty="0"/>
              <a:t>短音效）和</a:t>
            </a:r>
            <a:r>
              <a:rPr lang="en-US" dirty="0" err="1"/>
              <a:t>Mix_Music</a:t>
            </a:r>
            <a:r>
              <a:rPr lang="en-US" dirty="0"/>
              <a:t>（</a:t>
            </a:r>
            <a:r>
              <a:rPr lang="zh-CN" altLang="en-US" dirty="0"/>
              <a:t>长音乐）两种资源。</a:t>
            </a:r>
          </a:p>
          <a:p>
            <a:r>
              <a:rPr lang="en-US" b="1" dirty="0"/>
              <a:t>🔤 </a:t>
            </a:r>
            <a:r>
              <a:rPr lang="en-US" b="1" dirty="0" err="1"/>
              <a:t>FontManager</a:t>
            </a:r>
            <a:endParaRPr lang="en-US" b="1" dirty="0"/>
          </a:p>
          <a:p>
            <a:pPr marL="0" indent="0">
              <a:buNone/>
            </a:pPr>
            <a:r>
              <a:rPr lang="zh-CN" altLang="en-US" dirty="0"/>
              <a:t>负责初始化</a:t>
            </a:r>
            <a:r>
              <a:rPr lang="en-US" dirty="0" err="1"/>
              <a:t>SDL_ttf</a:t>
            </a:r>
            <a:r>
              <a:rPr lang="en-US" dirty="0"/>
              <a:t>。</a:t>
            </a:r>
            <a:r>
              <a:rPr lang="zh-CN" altLang="en-US" dirty="0"/>
              <a:t>它的缓存键（</a:t>
            </a:r>
            <a:r>
              <a:rPr lang="en-US" dirty="0" err="1"/>
              <a:t>FontKey</a:t>
            </a:r>
            <a:r>
              <a:rPr lang="en-US" dirty="0"/>
              <a:t>）</a:t>
            </a:r>
            <a:r>
              <a:rPr lang="zh-CN" altLang="en-US" dirty="0"/>
              <a:t>比较特殊，是一个</a:t>
            </a:r>
            <a:r>
              <a:rPr lang="en-US" dirty="0"/>
              <a:t>std::pair&lt;std::string, int&gt;，</a:t>
            </a:r>
            <a:r>
              <a:rPr lang="zh-CN" altLang="en-US" dirty="0"/>
              <a:t>因为同一个字体文件可以以不同的字号加载，它们是不同的资源。由于</a:t>
            </a:r>
            <a:r>
              <a:rPr lang="en-US" dirty="0"/>
              <a:t>std::</a:t>
            </a:r>
            <a:r>
              <a:rPr lang="en-US" dirty="0" err="1"/>
              <a:t>unordered_map</a:t>
            </a:r>
            <a:r>
              <a:rPr lang="zh-CN" altLang="en-US" dirty="0"/>
              <a:t>不知道如何哈希一个</a:t>
            </a:r>
            <a:r>
              <a:rPr lang="en-US" dirty="0"/>
              <a:t>std::pair，</a:t>
            </a:r>
            <a:r>
              <a:rPr lang="zh-CN" altLang="en-US" dirty="0"/>
              <a:t>我们还需要提供一个自定义的哈希函数</a:t>
            </a:r>
            <a:r>
              <a:rPr lang="en-US" dirty="0" err="1"/>
              <a:t>FontKeyHash</a:t>
            </a:r>
            <a:r>
              <a:rPr lang="en-US" dirty="0"/>
              <a:t>。</a:t>
            </a:r>
            <a:r>
              <a:rPr lang="zh-CN" altLang="en-US" dirty="0"/>
              <a:t>个高效、健壮的资源管理系统。</a:t>
            </a:r>
          </a:p>
          <a:p>
            <a:endParaRPr lang="zh-CN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154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AAC0D-613D-5774-0FF8-5BFCC13FB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🔌 </a:t>
            </a:r>
            <a:r>
              <a:rPr lang="en-US" altLang="zh-CN" b="1" dirty="0"/>
              <a:t>5. </a:t>
            </a:r>
            <a:r>
              <a:rPr lang="zh-CN" altLang="en-US" b="1" dirty="0"/>
              <a:t>集成到</a:t>
            </a:r>
            <a:r>
              <a:rPr lang="en-US" altLang="zh-CN" b="1" dirty="0" err="1"/>
              <a:t>GameApp</a:t>
            </a:r>
            <a:r>
              <a:rPr lang="en-US" altLang="zh-CN" b="1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1B3D0-D385-8430-7851-1B8EFEF04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现在，我们将这个全新的资源模块集成到我们的主应用</a:t>
            </a:r>
            <a:r>
              <a:rPr lang="en-US" altLang="zh-CN" dirty="0" err="1"/>
              <a:t>GameApp</a:t>
            </a:r>
            <a:r>
              <a:rPr lang="zh-CN" altLang="en-US" dirty="0"/>
              <a:t>中。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475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B009C-9B85-AC5D-5207-8470BCFA5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🔄 </a:t>
            </a:r>
            <a:r>
              <a:rPr lang="zh-CN" altLang="en-US" b="1" dirty="0"/>
              <a:t>重构</a:t>
            </a:r>
            <a:r>
              <a:rPr lang="en-US" b="1" dirty="0" err="1"/>
              <a:t>init</a:t>
            </a:r>
            <a:r>
              <a:rPr lang="en-US" b="1" dirty="0"/>
              <a:t>()</a:t>
            </a:r>
          </a:p>
          <a:p>
            <a:pPr marL="0" indent="0">
              <a:buNone/>
            </a:pPr>
            <a:r>
              <a:rPr lang="zh-CN" altLang="en-US" dirty="0"/>
              <a:t>原来的</a:t>
            </a:r>
            <a:r>
              <a:rPr lang="en-US" dirty="0" err="1"/>
              <a:t>init</a:t>
            </a:r>
            <a:r>
              <a:rPr lang="en-US" dirty="0"/>
              <a:t>()</a:t>
            </a:r>
            <a:r>
              <a:rPr lang="zh-CN" altLang="en-US" dirty="0"/>
              <a:t>函数变得臃肿。我们将其拆分为</a:t>
            </a:r>
            <a:r>
              <a:rPr lang="en-US" dirty="0" err="1"/>
              <a:t>initSDL</a:t>
            </a:r>
            <a:r>
              <a:rPr lang="en-US" dirty="0"/>
              <a:t>(), </a:t>
            </a:r>
            <a:r>
              <a:rPr lang="en-US" dirty="0" err="1"/>
              <a:t>initTime</a:t>
            </a:r>
            <a:r>
              <a:rPr lang="en-US" dirty="0"/>
              <a:t>(), </a:t>
            </a:r>
            <a:r>
              <a:rPr lang="en-US" dirty="0" err="1"/>
              <a:t>initResourceManager</a:t>
            </a:r>
            <a:r>
              <a:rPr lang="en-US" dirty="0"/>
              <a:t>()</a:t>
            </a:r>
            <a:r>
              <a:rPr lang="zh-CN" altLang="en-US" dirty="0"/>
              <a:t>等多个独立的初始化函数，使逻辑更清晰。</a:t>
            </a:r>
          </a:p>
          <a:p>
            <a:r>
              <a:rPr lang="en-US" b="1" dirty="0"/>
              <a:t>🏗️ </a:t>
            </a:r>
            <a:r>
              <a:rPr lang="zh-CN" altLang="en-US" b="1" dirty="0"/>
              <a:t>创建</a:t>
            </a:r>
            <a:r>
              <a:rPr lang="en-US" b="1" dirty="0" err="1"/>
              <a:t>ResourceManager</a:t>
            </a:r>
            <a:r>
              <a:rPr lang="zh-CN" altLang="en-US" b="1" dirty="0"/>
              <a:t>实例</a:t>
            </a:r>
          </a:p>
          <a:p>
            <a:pPr marL="0" indent="0">
              <a:buNone/>
            </a:pPr>
            <a:r>
              <a:rPr lang="zh-CN" altLang="en-US" dirty="0"/>
              <a:t>在</a:t>
            </a:r>
            <a:r>
              <a:rPr lang="en-US" dirty="0" err="1"/>
              <a:t>GameApp</a:t>
            </a:r>
            <a:r>
              <a:rPr lang="zh-CN" altLang="en-US" dirty="0"/>
              <a:t>中增加一个</a:t>
            </a:r>
            <a:r>
              <a:rPr lang="en-US" dirty="0"/>
              <a:t>std::</a:t>
            </a:r>
            <a:r>
              <a:rPr lang="en-US" dirty="0" err="1"/>
              <a:t>unique_ptr</a:t>
            </a:r>
            <a:r>
              <a:rPr lang="en-US" dirty="0"/>
              <a:t>&lt;</a:t>
            </a:r>
            <a:r>
              <a:rPr lang="en-US" dirty="0" err="1"/>
              <a:t>ResourceManager</a:t>
            </a:r>
            <a:r>
              <a:rPr lang="en-US" dirty="0"/>
              <a:t>&gt;</a:t>
            </a:r>
            <a:r>
              <a:rPr lang="zh-CN" altLang="en-US" dirty="0"/>
              <a:t>成员，并在</a:t>
            </a:r>
            <a:r>
              <a:rPr lang="en-US" dirty="0" err="1"/>
              <a:t>initResourceManager</a:t>
            </a:r>
            <a:r>
              <a:rPr lang="en-US" dirty="0"/>
              <a:t>()</a:t>
            </a:r>
            <a:r>
              <a:rPr lang="zh-CN" altLang="en-US" dirty="0"/>
              <a:t>中创建它的实例。创建过程被包裹在</a:t>
            </a:r>
            <a:r>
              <a:rPr lang="en-US" dirty="0"/>
              <a:t>try-catch</a:t>
            </a:r>
            <a:r>
              <a:rPr lang="zh-CN" altLang="en-US" dirty="0"/>
              <a:t>块中，以捕获任何可能在初始化过程中抛出的异常。</a:t>
            </a:r>
          </a:p>
          <a:p>
            <a:r>
              <a:rPr lang="en-US" b="1" dirty="0"/>
              <a:t>🗑️ </a:t>
            </a:r>
            <a:r>
              <a:rPr lang="zh-CN" altLang="en-US" b="1" dirty="0"/>
              <a:t>确保正确的销毁顺序</a:t>
            </a:r>
          </a:p>
          <a:p>
            <a:pPr marL="0" indent="0">
              <a:buNone/>
            </a:pPr>
            <a:r>
              <a:rPr lang="zh-CN" altLang="en-US" dirty="0"/>
              <a:t>在</a:t>
            </a:r>
            <a:r>
              <a:rPr lang="en-US" dirty="0" err="1"/>
              <a:t>GameApp</a:t>
            </a:r>
            <a:r>
              <a:rPr lang="en-US" dirty="0"/>
              <a:t>::close()</a:t>
            </a:r>
            <a:r>
              <a:rPr lang="zh-CN" altLang="en-US" dirty="0"/>
              <a:t>中，我们必须在关闭</a:t>
            </a:r>
            <a:r>
              <a:rPr lang="en-US" dirty="0"/>
              <a:t>SDL</a:t>
            </a:r>
            <a:r>
              <a:rPr lang="zh-CN" altLang="en-US" dirty="0"/>
              <a:t>子系统之前先销毁资源管理器。因此，我们手动调用</a:t>
            </a:r>
            <a:r>
              <a:rPr lang="en-US" dirty="0" err="1"/>
              <a:t>resource_manager_.reset</a:t>
            </a:r>
            <a:r>
              <a:rPr lang="en-US" dirty="0"/>
              <a:t>()</a:t>
            </a:r>
            <a:r>
              <a:rPr lang="zh-CN" altLang="en-US" dirty="0"/>
              <a:t>来确保所有</a:t>
            </a:r>
            <a:r>
              <a:rPr lang="en-US" dirty="0" err="1"/>
              <a:t>unique_ptr</a:t>
            </a:r>
            <a:r>
              <a:rPr lang="zh-CN" altLang="en-US" dirty="0"/>
              <a:t>管理的资源（纹理、音频等）被正确释放。</a:t>
            </a:r>
          </a:p>
          <a:p>
            <a:r>
              <a:rPr lang="en-US" b="1" dirty="0"/>
              <a:t>🧪 </a:t>
            </a:r>
            <a:r>
              <a:rPr lang="zh-CN" altLang="en-US" b="1" dirty="0"/>
              <a:t>添加测试代码</a:t>
            </a:r>
          </a:p>
          <a:p>
            <a:pPr marL="0" indent="0">
              <a:buNone/>
            </a:pPr>
            <a:r>
              <a:rPr lang="zh-CN" altLang="en-US" dirty="0"/>
              <a:t>我们在</a:t>
            </a:r>
            <a:r>
              <a:rPr lang="en-US" dirty="0" err="1"/>
              <a:t>GameApp</a:t>
            </a:r>
            <a:r>
              <a:rPr lang="zh-CN" altLang="en-US" dirty="0"/>
              <a:t>中添加了一个</a:t>
            </a:r>
            <a:r>
              <a:rPr lang="en-US" dirty="0" err="1"/>
              <a:t>testResourceManager</a:t>
            </a:r>
            <a:r>
              <a:rPr lang="en-US" dirty="0"/>
              <a:t>()</a:t>
            </a:r>
            <a:r>
              <a:rPr lang="zh-CN" altLang="en-US" dirty="0"/>
              <a:t>函数，并在初始化成功后调用它。这个函数会尝试加载和卸载各种类型的资源，以验证我们的新模块是否正常工作。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323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1213</Words>
  <Application>Microsoft Office PowerPoint</Application>
  <PresentationFormat>Widescreen</PresentationFormat>
  <Paragraphs>62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资源管理模块</vt:lpstr>
      <vt:lpstr>📖 概述</vt:lpstr>
      <vt:lpstr>🎯 核心问题</vt:lpstr>
      <vt:lpstr>🏗️ 1. 架构设计：外观模式（Facade）</vt:lpstr>
      <vt:lpstr>PowerPoint Presentation</vt:lpstr>
      <vt:lpstr>PowerPoint Presentation</vt:lpstr>
      <vt:lpstr>📁 2. 新的项目结构</vt:lpstr>
      <vt:lpstr>🔧 3. 核心技术：RAII与智能指针自定义删除器</vt:lpstr>
      <vt:lpstr>PowerPoint Presentation</vt:lpstr>
      <vt:lpstr>当texture_ptr离开作用域或被reset()时，它所管理的SDL_Texture就会被自动、安全地销毁。</vt:lpstr>
      <vt:lpstr>⚙️ 4. 各个管理器的实现</vt:lpstr>
      <vt:lpstr>📦 具体管理器</vt:lpstr>
      <vt:lpstr>🎭 ResourceManager (外观类)</vt:lpstr>
      <vt:lpstr>PowerPoint Presentation</vt:lpstr>
      <vt:lpstr>🔌 5. 集成到GameApp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佳浩 华</dc:creator>
  <cp:lastModifiedBy>佳浩 华</cp:lastModifiedBy>
  <cp:revision>2</cp:revision>
  <dcterms:created xsi:type="dcterms:W3CDTF">2025-10-30T12:24:51Z</dcterms:created>
  <dcterms:modified xsi:type="dcterms:W3CDTF">2025-10-30T12:45:01Z</dcterms:modified>
</cp:coreProperties>
</file>