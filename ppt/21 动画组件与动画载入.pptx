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79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B971E-05E7-AB1D-CDDF-1426FAF343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18D018-E9F9-F5C5-39A7-3465A5F52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0B753-E809-C38E-265A-6D2582EA5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6A80A-484F-4EC1-8FF8-885774E6ED0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B40DE-F4FC-9480-9EC5-06D8FDA70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8A1BF-873D-4E69-579F-E898B7AA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09216-234F-4EB4-8A0C-62F2DD61A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078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CA7F8-CBFC-F077-AB5B-3A487667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F2070-FE96-4D55-304D-E846B8856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AE9D8-322D-B5EA-48F5-FAED37119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6A80A-484F-4EC1-8FF8-885774E6ED0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3DF97-EC8C-2B4E-E4AE-DE05C6E80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6B340-3A4B-11B0-84BD-2A5958CFF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09216-234F-4EB4-8A0C-62F2DD61A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2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0492A-043E-7D69-075E-4F07789BE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32410-88EB-B291-7FC4-C027D4515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6F669-71A5-81D2-1FF4-72CFF678C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6A80A-484F-4EC1-8FF8-885774E6ED0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C7FFA-1F28-600C-C03E-2F2BCF450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8B1AA-D629-A238-3EA1-8FBA48A6F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09216-234F-4EB4-8A0C-62F2DD61A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82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72E71-76A9-33E7-01F5-F3AE8E85E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65B89-DF39-4ECA-BFAA-50DC30730C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83CCC-D9B5-DFDB-315E-10706FED0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A3585-EC44-2F09-A417-1A4552E78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6A80A-484F-4EC1-8FF8-885774E6ED0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22F24-5502-AB53-E537-7B1E4CF22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EE80B-4B91-B1E7-A3C0-09B394E41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09216-234F-4EB4-8A0C-62F2DD61A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961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0E62A-072B-02A8-0AE6-E66BE701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9C662-EC94-BE5A-C7E3-ED903257A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1CDD7B-886C-7F97-0B09-674585BFA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01CF04-A69B-1EB7-994F-F9B75E276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81EFD9-ACBB-C6F1-3AC6-20AD9DE2B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4FFA52-B678-03E9-81E1-2DE5C0EEC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6A80A-484F-4EC1-8FF8-885774E6ED0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E23654-023D-CC03-735E-70B9A1078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E72E3D-9228-278E-EC55-6E3104AB5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09216-234F-4EB4-8A0C-62F2DD61A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28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CCE3E-ABF0-5349-D31C-FEA73B7D2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D72362-0FE8-F493-ED8F-F887BE22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6A80A-484F-4EC1-8FF8-885774E6ED0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7A7A6E-BBD7-2FAA-6F6E-C957131E9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607AA-1C43-1A08-372F-AE2E97F58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09216-234F-4EB4-8A0C-62F2DD61A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580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01C2F5-85D4-F1C4-D62C-5DC6AE6C4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6A80A-484F-4EC1-8FF8-885774E6ED0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9B60EE-B056-9443-9E97-78B33E113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FE5A7-38A7-EA73-6CF0-93DB0B0C5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09216-234F-4EB4-8A0C-62F2DD61A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33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9ADC1-0F57-F750-55CE-EAA49F778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24CFF-70EF-B531-4114-8C9FEB953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16DE2-784B-0A53-480C-011D900A3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928F6-C351-DF04-4C3E-5EAA339A2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6A80A-484F-4EC1-8FF8-885774E6ED0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6F119-6A88-1426-23DD-962DEFCF3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8B18B-4E70-E6B0-C078-D70D0E4FD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09216-234F-4EB4-8A0C-62F2DD61A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188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AD2EC-D872-C6D5-9E1E-D331B1679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D84141-CAB9-8B49-D312-842AC63B3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A651F0-FFF3-8858-EE3C-A30576DB6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F2309-71F7-1F5C-D843-866940EA0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6A80A-484F-4EC1-8FF8-885774E6ED0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F9476-985E-A05B-D44A-A93613E0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98FD83-280D-5501-4B2A-406459E34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09216-234F-4EB4-8A0C-62F2DD61A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9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BDA08-C1D7-EF71-24BE-B42038C8F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ED908-5C61-C06F-40FF-82E22D3EB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20559-FCF5-C7B2-7A35-EF4D4A335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6A80A-484F-4EC1-8FF8-885774E6ED0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B37C3-D49D-48DC-DA18-E40D76713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00FC2-E35A-E7D5-BF4A-C1D74FDC1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09216-234F-4EB4-8A0C-62F2DD61A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540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3BDEBA-12C5-D84F-B536-97454DD037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0D7E00-AE11-5131-9CC2-4A7EC9ACC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7DF3A-062B-0A17-6A30-E9FB3E72B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6A80A-484F-4EC1-8FF8-885774E6ED0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96BFB-B245-3DBF-1C49-60FAACE7B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CE9DE-8DE9-9F1E-BAFB-23A314C32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09216-234F-4EB4-8A0C-62F2DD61A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091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E7198B-EB36-1E53-769C-C3F58059D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285D6-D758-52AE-AAD8-ED6532600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CDD0D-3E32-A8E6-4A51-E80BE903A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26A80A-484F-4EC1-8FF8-885774E6ED0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0FB34-B982-2929-7A67-8F332F7BD4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1EB9B-FEB0-1948-4297-A4E7066979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809216-234F-4EB4-8A0C-62F2DD61A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0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76706-0B2E-E364-66BB-2953085A74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动画组件与动画载入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2B87B5-1023-90A2-8E50-CDC7654666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45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DFF54-2115-EB05-18C0-5833D130E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📌 问题背景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D5C6D-E20C-6514-D5B3-A49A9B379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我们已经成功实现了玩家的状态机系统，玩家可以在不同状态（</a:t>
            </a:r>
            <a:r>
              <a:rPr lang="en-US" altLang="zh-CN" dirty="0"/>
              <a:t>Idle</a:t>
            </a:r>
            <a:r>
              <a:rPr lang="zh-CN" altLang="en-US" dirty="0"/>
              <a:t>、</a:t>
            </a:r>
            <a:r>
              <a:rPr lang="en-US" altLang="zh-CN" dirty="0"/>
              <a:t>Walk</a:t>
            </a:r>
            <a:r>
              <a:rPr lang="zh-CN" altLang="en-US" dirty="0"/>
              <a:t>、</a:t>
            </a:r>
            <a:r>
              <a:rPr lang="en-US" altLang="zh-CN" dirty="0"/>
              <a:t>Jump</a:t>
            </a:r>
            <a:r>
              <a:rPr lang="zh-CN" altLang="en-US" dirty="0"/>
              <a:t>、</a:t>
            </a:r>
            <a:r>
              <a:rPr lang="en-US" altLang="zh-CN" dirty="0"/>
              <a:t>Fall</a:t>
            </a:r>
            <a:r>
              <a:rPr lang="zh-CN" altLang="en-US" dirty="0"/>
              <a:t>）之间流畅切换。但目前玩家看起来还是静态的</a:t>
            </a:r>
            <a:r>
              <a:rPr lang="en-US" altLang="zh-CN" dirty="0"/>
              <a:t>——</a:t>
            </a:r>
            <a:r>
              <a:rPr lang="zh-CN" altLang="en-US" dirty="0"/>
              <a:t>无论是站立还是行走，显示的都是同一张图片。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27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60E14-DBC3-3702-F64F-D81F59E1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660878-FC2C-688A-058F-FD39FD2310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4069361"/>
              </p:ext>
            </p:extLst>
          </p:nvPr>
        </p:nvGraphicFramePr>
        <p:xfrm>
          <a:off x="838200" y="1825625"/>
          <a:ext cx="105155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14110949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0506671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8786892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问题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影响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083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无动画播放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角色始终显示同一帧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缺乏生动感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0422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数据硬编码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动画数据写在代码中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难以调整和修改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552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状态与动画分离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状态切换不影响显示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视觉反馈缺失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2479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1032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D895D-7920-F4F1-1D06-09E570C06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💡 解决方案：数据驱动的动画系统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F89570-8001-A7DF-0CA7-4EA78D2CC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5331" y="1690688"/>
            <a:ext cx="25743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1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6703E-50FA-154A-B055-3BAE9843A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🎯 </a:t>
            </a:r>
            <a:r>
              <a:rPr lang="zh-CN" altLang="en-US" b="1" dirty="0"/>
              <a:t>本课目标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E15DB2-47E5-53C8-5495-71DD9BC210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2444066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08058759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289844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目标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130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数据驱动设计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使用 </a:t>
                      </a:r>
                      <a:r>
                        <a:rPr lang="en-US" altLang="zh-CN">
                          <a:effectLst/>
                        </a:rPr>
                        <a:t>Tiled </a:t>
                      </a:r>
                      <a:r>
                        <a:rPr lang="zh-CN" altLang="en-US">
                          <a:effectLst/>
                        </a:rPr>
                        <a:t>自定义属性定义动画数据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8749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构建动画核心类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创建 </a:t>
                      </a:r>
                      <a:r>
                        <a:rPr lang="en-US">
                          <a:effectLst/>
                        </a:rPr>
                        <a:t>Animation </a:t>
                      </a:r>
                      <a:r>
                        <a:rPr lang="zh-CN" altLang="en-US">
                          <a:effectLst/>
                        </a:rPr>
                        <a:t>和 </a:t>
                      </a:r>
                      <a:r>
                        <a:rPr lang="en-US">
                          <a:effectLst/>
                        </a:rPr>
                        <a:t>AnimationComponent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8663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扩展关卡加载器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自动解析动画数据并配置组件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8628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状态与动画联动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不同状态播放不同动画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724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9920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CEC01-95CB-CB6F-6FFB-C09F429CB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数据驱动：在 </a:t>
            </a:r>
            <a:r>
              <a:rPr lang="en-US" altLang="zh-CN" b="1" dirty="0"/>
              <a:t>Tiled </a:t>
            </a:r>
            <a:r>
              <a:rPr lang="zh-CN" altLang="en-US" b="1" dirty="0"/>
              <a:t>中定义动画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8BCAC-58E7-CB96-C22F-830E92844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让动画数据与代码分离是一种非常专业和高效的做法。我们可以直接在 </a:t>
            </a:r>
            <a:r>
              <a:rPr lang="en-US" altLang="zh-CN" dirty="0"/>
              <a:t>Tiled </a:t>
            </a:r>
            <a:r>
              <a:rPr lang="zh-CN" altLang="en-US" dirty="0"/>
              <a:t>图块编辑器中为每个角色（图块）定义它的动画。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8E0040-7C63-EDDB-DA71-B711C8343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95687"/>
            <a:ext cx="2039817" cy="401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637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7E8CD-D71D-464D-E635-7481E5717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字段说明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6F8150-E59F-71BD-B127-B70A1078BF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2153393"/>
              </p:ext>
            </p:extLst>
          </p:nvPr>
        </p:nvGraphicFramePr>
        <p:xfrm>
          <a:off x="838200" y="1825625"/>
          <a:ext cx="10515600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2221399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14386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472591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71609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字段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必需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4090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动画名称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string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顶级键名，如 </a:t>
                      </a:r>
                      <a:r>
                        <a:rPr lang="en-US" altLang="zh-CN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"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idle"</a:t>
                      </a:r>
                      <a:r>
                        <a:rPr lang="en-US">
                          <a:effectLst/>
                        </a:rPr>
                        <a:t>,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"walk"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1325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duration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int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每帧持续时间（毫秒），默认 </a:t>
                      </a:r>
                      <a:r>
                        <a:rPr lang="en-US" altLang="zh-CN">
                          <a:effectLst/>
                        </a:rPr>
                        <a:t>100ms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9210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row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int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动画所在的行号，默认第 </a:t>
                      </a:r>
                      <a:r>
                        <a:rPr lang="en-US" altLang="zh-CN">
                          <a:effectLst/>
                        </a:rPr>
                        <a:t>0 </a:t>
                      </a:r>
                      <a:r>
                        <a:rPr lang="zh-CN" altLang="en-US">
                          <a:effectLst/>
                        </a:rPr>
                        <a:t>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9838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frames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array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帧索引数组，表示动画序列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3469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0984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88A8F-FFB1-15E0-E139-1BA8D4E68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A30D33-06AB-F0DB-2F6C-5E826A9DF6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80843"/>
            <a:ext cx="4819898" cy="304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356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5A93E-0EAE-BE78-0959-9FAC55F57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💡 </a:t>
            </a:r>
            <a:r>
              <a:rPr lang="zh-CN" altLang="en-US" b="1" dirty="0"/>
              <a:t>扩展性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A34DD-A004-6B8B-B7EB-A7ABF08BA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通过这种方式，我们可以在 </a:t>
            </a:r>
            <a:r>
              <a:rPr lang="zh-CN" altLang="en-US" b="1" dirty="0"/>
              <a:t>不修改任何代码</a:t>
            </a:r>
            <a:r>
              <a:rPr lang="zh-CN" altLang="en-US" dirty="0"/>
              <a:t> 的情况下：</a:t>
            </a:r>
          </a:p>
          <a:p>
            <a:r>
              <a:rPr lang="zh-CN" altLang="en-US" dirty="0"/>
              <a:t>✅ 调整动画速度（修改 </a:t>
            </a:r>
            <a:r>
              <a:rPr lang="en-US" altLang="zh-CN" dirty="0"/>
              <a:t>duration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✅ 增加或删除动画帧</a:t>
            </a:r>
          </a:p>
          <a:p>
            <a:r>
              <a:rPr lang="zh-CN" altLang="en-US" dirty="0"/>
              <a:t>✅ 添加全新的动画</a:t>
            </a:r>
          </a:p>
          <a:p>
            <a:r>
              <a:rPr lang="zh-CN" altLang="en-US" dirty="0"/>
              <a:t>✅ 为不同角色定义不同动画</a:t>
            </a:r>
          </a:p>
          <a:p>
            <a:pPr marL="0" indent="0">
              <a:buNone/>
            </a:pPr>
            <a:r>
              <a:rPr lang="zh-CN" altLang="en-US" dirty="0"/>
              <a:t>我们已经为 </a:t>
            </a:r>
            <a:r>
              <a:rPr lang="zh-CN" altLang="en-US" b="1" dirty="0"/>
              <a:t>青蛙、老鹰、负鼠</a:t>
            </a:r>
            <a:r>
              <a:rPr lang="zh-CN" altLang="en-US" dirty="0"/>
              <a:t> 等其他角色也添加了类似的动画数据。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489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47584-E34E-D4CD-A801-497C8D63E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2. </a:t>
            </a:r>
            <a:r>
              <a:rPr lang="fr-FR" b="1" dirty="0" err="1"/>
              <a:t>引擎核心：Animation</a:t>
            </a:r>
            <a:r>
              <a:rPr lang="fr-FR" b="1" dirty="0"/>
              <a:t> 与 </a:t>
            </a:r>
            <a:r>
              <a:rPr lang="fr-FR" b="1" dirty="0" err="1"/>
              <a:t>AnimationComponent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62E458-EF04-F23A-63C2-10871F6688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5292" y="2017698"/>
            <a:ext cx="6858900" cy="376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67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4E911-E9CC-22E3-4B02-90D04C625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架构设计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CA3EF6-C9BD-73BB-76F2-77E8915003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5907617"/>
              </p:ext>
            </p:extLst>
          </p:nvPr>
        </p:nvGraphicFramePr>
        <p:xfrm>
          <a:off x="838200" y="1825625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4739496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37688700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757748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职责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0095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Animation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数据容器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存储单个动画片段的所有帧信息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8427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AnimationComponent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播放器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管理多个动画，控制播放和切换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4504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788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A3C91-F40E-922C-A07E-4A1135123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2.1 </a:t>
            </a:r>
            <a:r>
              <a:rPr lang="zh-CN" altLang="en-US" b="1" dirty="0"/>
              <a:t>数据容器：</a:t>
            </a:r>
            <a:r>
              <a:rPr lang="en-US" b="1" dirty="0"/>
              <a:t>Animation </a:t>
            </a:r>
            <a:r>
              <a:rPr lang="zh-CN" altLang="en-US" b="1" dirty="0"/>
              <a:t>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48105-3FAF-BB68-B2A2-1E007A935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这个类纯粹用来存储一个动画片段的数据，比如 </a:t>
            </a:r>
            <a:r>
              <a:rPr lang="en-US" altLang="zh-CN" dirty="0"/>
              <a:t>"walk"</a:t>
            </a:r>
            <a:r>
              <a:rPr lang="zh-CN" altLang="en-US" dirty="0"/>
              <a:t> 动画的所有帧信息和总时长。</a:t>
            </a:r>
            <a:endParaRPr lang="en-US" altLang="zh-CN" dirty="0"/>
          </a:p>
          <a:p>
            <a:endParaRPr lang="en-US" dirty="0"/>
          </a:p>
          <a:p>
            <a:r>
              <a:rPr lang="en-US" b="1" dirty="0" err="1"/>
              <a:t>src</a:t>
            </a:r>
            <a:r>
              <a:rPr lang="en-US" b="1" dirty="0"/>
              <a:t>/engine/render/</a:t>
            </a:r>
            <a:r>
              <a:rPr lang="en-US" b="1" dirty="0" err="1"/>
              <a:t>animation.h</a:t>
            </a:r>
            <a:r>
              <a:rPr lang="en-US" b="1" dirty="0"/>
              <a:t>（</a:t>
            </a:r>
            <a:r>
              <a:rPr lang="zh-CN" altLang="en-US" b="1" dirty="0"/>
              <a:t>新建文件）</a:t>
            </a:r>
            <a:endParaRPr lang="en-US" altLang="zh-CN" b="1" dirty="0"/>
          </a:p>
          <a:p>
            <a:r>
              <a:rPr lang="en-US" b="1" dirty="0" err="1"/>
              <a:t>src</a:t>
            </a:r>
            <a:r>
              <a:rPr lang="en-US" b="1" dirty="0"/>
              <a:t>/engine/render/animation.cpp（</a:t>
            </a:r>
            <a:r>
              <a:rPr lang="zh-CN" altLang="en-US" b="1" dirty="0"/>
              <a:t>新建文件）</a:t>
            </a:r>
          </a:p>
          <a:p>
            <a:endParaRPr lang="zh-CN" alt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195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F73D3-8DEA-F7D1-D64B-051BE155B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Animation </a:t>
            </a:r>
            <a:r>
              <a:rPr lang="zh-CN" altLang="en-US" b="1" dirty="0"/>
              <a:t>核心方法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8FE5E9-CAA6-7E00-DBAB-74986C790E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6816181"/>
              </p:ext>
            </p:extLst>
          </p:nvPr>
        </p:nvGraphicFramePr>
        <p:xfrm>
          <a:off x="838200" y="1825625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38909284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70558700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091065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573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addFrame()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添加帧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将帧加入序列，累加总时长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825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getFrame(time)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获取当前帧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根据时间计算应显示哪一帧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78778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D921046-4621-38B1-FB68-180A897F2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84" y="3004431"/>
            <a:ext cx="2997354" cy="372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183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B22-D995-571F-C171-111742BE0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算法步骤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156419-0BF3-3C0F-9BCA-8595393BCC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9344748"/>
              </p:ext>
            </p:extLst>
          </p:nvPr>
        </p:nvGraphicFramePr>
        <p:xfrm>
          <a:off x="838200" y="1825625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13733358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06179148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069598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步骤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161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1. </a:t>
                      </a:r>
                      <a:r>
                        <a:rPr lang="zh-CN" altLang="en-US" b="1">
                          <a:effectLst/>
                        </a:rPr>
                        <a:t>检查空帧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frames_.empty()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防止崩溃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07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2. </a:t>
                      </a:r>
                      <a:r>
                        <a:rPr lang="zh-CN" altLang="en-US" b="1">
                          <a:effectLst/>
                        </a:rPr>
                        <a:t>计算有效时间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循环：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time % total_duration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将时间映射到一个周期内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30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非循环：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min(time, total_duration)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超时则停在最后一帧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6481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3. </a:t>
                      </a:r>
                      <a:r>
                        <a:rPr lang="zh-CN" altLang="en-US" b="1">
                          <a:effectLst/>
                        </a:rPr>
                        <a:t>遍历查找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累加每帧时长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找到当前时间对应的帧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4265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4. </a:t>
                      </a:r>
                      <a:r>
                        <a:rPr lang="zh-CN" altLang="en-US" b="1">
                          <a:effectLst/>
                        </a:rPr>
                        <a:t>返回帧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return frame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返回帧数据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6780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3767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B45C1-814B-DF24-9542-DB38494E1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2.2 </a:t>
            </a:r>
            <a:r>
              <a:rPr lang="zh-CN" altLang="en-US" b="1" dirty="0"/>
              <a:t>动画播放器：</a:t>
            </a:r>
            <a:r>
              <a:rPr lang="en-US" b="1" dirty="0" err="1"/>
              <a:t>AnimationComponent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06EFC-10D6-39C7-807D-D48A5743F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这是一个组件，它将被添加到需要播放动画的 </a:t>
            </a:r>
            <a:r>
              <a:rPr lang="en-US" dirty="0" err="1"/>
              <a:t>GameObject</a:t>
            </a:r>
            <a:r>
              <a:rPr lang="en-US" dirty="0"/>
              <a:t> </a:t>
            </a:r>
            <a:r>
              <a:rPr lang="zh-CN" altLang="en-US" dirty="0"/>
              <a:t>上。它负责管理一个对象所有的动画片段（比如玩家的 </a:t>
            </a:r>
            <a:r>
              <a:rPr lang="en-US" altLang="zh-CN" dirty="0"/>
              <a:t>"</a:t>
            </a:r>
            <a:r>
              <a:rPr lang="en-US" dirty="0"/>
              <a:t>idle", "walk", "jump" </a:t>
            </a:r>
            <a:r>
              <a:rPr lang="zh-CN" altLang="en-US" dirty="0"/>
              <a:t>等），并控制当前播放哪一个。</a:t>
            </a:r>
          </a:p>
          <a:p>
            <a:r>
              <a:rPr lang="en-US" b="1" dirty="0" err="1"/>
              <a:t>src</a:t>
            </a:r>
            <a:r>
              <a:rPr lang="en-US" b="1" dirty="0"/>
              <a:t>/engine/component/</a:t>
            </a:r>
            <a:r>
              <a:rPr lang="en-US" b="1" dirty="0" err="1"/>
              <a:t>animation_component.h</a:t>
            </a:r>
            <a:r>
              <a:rPr lang="en-US" b="1" dirty="0"/>
              <a:t>（</a:t>
            </a:r>
            <a:r>
              <a:rPr lang="zh-CN" altLang="en-US" b="1" dirty="0"/>
              <a:t>新建文件）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944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111D-1200-FC09-5FC5-B9C5FD99C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F368F9-CDEE-A036-B89B-9979C2B56D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867" y="225424"/>
            <a:ext cx="4467548" cy="639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41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F6CBBBB-F05D-09A0-9402-F9EA43BA0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0334EFB-10DC-8E4E-0217-060B9794CD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7501361"/>
              </p:ext>
            </p:extLst>
          </p:nvPr>
        </p:nvGraphicFramePr>
        <p:xfrm>
          <a:off x="838200" y="1825625"/>
          <a:ext cx="1051559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4596650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0816541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890822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时机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操作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1675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init()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组件初始化时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获取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SpriteComponent</a:t>
                      </a:r>
                      <a:r>
                        <a:rPr lang="en-US">
                          <a:effectLst/>
                        </a:rPr>
                        <a:t> </a:t>
                      </a:r>
                      <a:r>
                        <a:rPr lang="zh-CN" altLang="en-US">
                          <a:effectLst/>
                        </a:rPr>
                        <a:t>指针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1235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addAnimation()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加载阶段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将动画存入哈希表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animations_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7977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playAnimation()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状态切换时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设置当前动画，重置计时器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917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update()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每帧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累加时间，获取当前帧，更新显示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141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8145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7394F-4891-17BF-2F9A-87BBF2567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💡 </a:t>
            </a:r>
            <a:r>
              <a:rPr lang="zh-CN" altLang="en-US" b="1" dirty="0"/>
              <a:t>设计亮点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0772CD-F5A4-0825-A117-6A85C96C5E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1347" y="1690688"/>
            <a:ext cx="5226319" cy="274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638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6D5C5-1664-A9F2-4295-4541501B8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关卡载入器升级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C18EA-CF2C-23A8-63D0-816111D79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现在我们有了动画系统，但还需要让 </a:t>
            </a:r>
            <a:r>
              <a:rPr lang="en-US" dirty="0" err="1"/>
              <a:t>LevelLoader</a:t>
            </a:r>
            <a:r>
              <a:rPr lang="en-US" dirty="0"/>
              <a:t> </a:t>
            </a:r>
            <a:r>
              <a:rPr lang="zh-CN" altLang="en-US" dirty="0"/>
              <a:t>能够理解我们在 </a:t>
            </a:r>
            <a:r>
              <a:rPr lang="en-US" dirty="0"/>
              <a:t>Tiled </a:t>
            </a:r>
            <a:r>
              <a:rPr lang="zh-CN" altLang="en-US" dirty="0"/>
              <a:t>里定义的 </a:t>
            </a:r>
            <a:r>
              <a:rPr lang="en-US" dirty="0"/>
              <a:t>JSON </a:t>
            </a:r>
            <a:r>
              <a:rPr lang="zh-CN" altLang="en-US" dirty="0"/>
              <a:t>数据，并自动创建、配置好 </a:t>
            </a:r>
            <a:r>
              <a:rPr lang="en-US" dirty="0"/>
              <a:t>Animation </a:t>
            </a:r>
            <a:r>
              <a:rPr lang="zh-CN" altLang="en-US" dirty="0"/>
              <a:t>和 </a:t>
            </a:r>
            <a:r>
              <a:rPr lang="en-US" dirty="0" err="1"/>
              <a:t>AnimationComponent</a:t>
            </a:r>
            <a:r>
              <a:rPr lang="en-US" dirty="0"/>
              <a:t>。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51F73C-E2ED-6FC6-193C-27FCD2070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69" y="3102411"/>
            <a:ext cx="2723011" cy="333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854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ACE90-DB26-B98E-D4BA-4C0A8A803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5EB15-6C19-96B1-D010-AE920159D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src</a:t>
            </a:r>
            <a:r>
              <a:rPr lang="en-US" b="1" dirty="0"/>
              <a:t>/engine/scene/</a:t>
            </a:r>
            <a:r>
              <a:rPr lang="en-US" b="1" dirty="0" err="1"/>
              <a:t>level_loader.cpp（更新</a:t>
            </a:r>
            <a:r>
              <a:rPr lang="en-US" b="1" dirty="0"/>
              <a:t>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160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DEA02-7269-66AF-D6DC-C31346D64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addAnimation</a:t>
            </a:r>
            <a:r>
              <a:rPr lang="en-US" b="1" dirty="0"/>
              <a:t>() </a:t>
            </a:r>
            <a:r>
              <a:rPr lang="zh-CN" altLang="en-US" b="1" dirty="0"/>
              <a:t>详解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36EE0B3-DC4F-567C-FC45-5B36CDF2C6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4897303"/>
              </p:ext>
            </p:extLst>
          </p:nvPr>
        </p:nvGraphicFramePr>
        <p:xfrm>
          <a:off x="838200" y="1825625"/>
          <a:ext cx="10515597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27209748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6336220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62938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步骤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84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1. </a:t>
                      </a:r>
                      <a:r>
                        <a:rPr lang="zh-CN" altLang="en-US" b="1">
                          <a:effectLst/>
                        </a:rPr>
                        <a:t>验证参数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检查 </a:t>
                      </a:r>
                      <a:r>
                        <a:rPr lang="en-US" altLang="zh-CN">
                          <a:effectLst/>
                        </a:rPr>
                        <a:t>JSON </a:t>
                      </a:r>
                      <a:r>
                        <a:rPr lang="zh-CN" altLang="en-US">
                          <a:effectLst/>
                        </a:rPr>
                        <a:t>和指针有效性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防止空指针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796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2. </a:t>
                      </a:r>
                      <a:r>
                        <a:rPr lang="zh-CN" altLang="en-US" b="1">
                          <a:effectLst/>
                        </a:rPr>
                        <a:t>遍历动画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for (auto&amp; anim : anim_json)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处理每个动画片段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850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3. </a:t>
                      </a:r>
                      <a:r>
                        <a:rPr lang="zh-CN" altLang="en-US" b="1">
                          <a:effectLst/>
                        </a:rPr>
                        <a:t>读取属性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duration</a:t>
                      </a:r>
                      <a:r>
                        <a:rPr lang="en-US">
                          <a:effectLst/>
                        </a:rPr>
                        <a:t>,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row</a:t>
                      </a:r>
                      <a:r>
                        <a:rPr lang="en-US">
                          <a:effectLst/>
                        </a:rPr>
                        <a:t>,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frames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获取动画参数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2052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4. </a:t>
                      </a:r>
                      <a:r>
                        <a:rPr lang="zh-CN" altLang="en-US" b="1">
                          <a:effectLst/>
                        </a:rPr>
                        <a:t>创建 </a:t>
                      </a:r>
                      <a:r>
                        <a:rPr lang="en-US" b="1">
                          <a:effectLst/>
                        </a:rPr>
                        <a:t>Animation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make_unique&lt;Animation&gt;()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为每个片段创建对象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977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5. </a:t>
                      </a:r>
                      <a:r>
                        <a:rPr lang="zh-CN" altLang="en-US" b="1">
                          <a:effectLst/>
                        </a:rPr>
                        <a:t>遍历帧数组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for (auto&amp; frame : frames)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处理每一帧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8393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6. </a:t>
                      </a:r>
                      <a:r>
                        <a:rPr lang="zh-CN" altLang="en-US" b="1">
                          <a:effectLst/>
                        </a:rPr>
                        <a:t>计算矩形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{col * w, row * h, w, h}</a:t>
                      </a:r>
                      <a:endParaRPr lang="pl-PL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确定纹理区域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4244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7. </a:t>
                      </a:r>
                      <a:r>
                        <a:rPr lang="zh-CN" altLang="en-US" b="1">
                          <a:effectLst/>
                        </a:rPr>
                        <a:t>添加帧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animation-&gt;addFrame()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存入动画对象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3790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8. </a:t>
                      </a:r>
                      <a:r>
                        <a:rPr lang="zh-CN" altLang="en-US" b="1">
                          <a:effectLst/>
                        </a:rPr>
                        <a:t>注册动画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ac-&gt;addAnimation()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添加到组件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3640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886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C3790-B33A-FD1B-9D0B-A63CC306B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06CFA7-B874-987E-DFE5-E729A6EE14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465748"/>
            <a:ext cx="351454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840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C548E-4594-8A8E-7FB6-8D55BD4E1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4. </a:t>
            </a:r>
            <a:r>
              <a:rPr lang="zh-CN" altLang="en-US" b="1" dirty="0"/>
              <a:t>连接状态机与动画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8F5F8-9E02-588E-F4C7-55EABB010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我们的 </a:t>
            </a:r>
            <a:r>
              <a:rPr lang="en-US" dirty="0" err="1"/>
              <a:t>PlayerComponent</a:t>
            </a:r>
            <a:r>
              <a:rPr lang="en-US" dirty="0"/>
              <a:t> </a:t>
            </a:r>
            <a:r>
              <a:rPr lang="zh-CN" altLang="en-US" dirty="0"/>
              <a:t>已经有了状态机，现在只需要在状态切换时，调用 </a:t>
            </a:r>
            <a:r>
              <a:rPr lang="en-US" dirty="0" err="1"/>
              <a:t>AnimationComponent</a:t>
            </a:r>
            <a:r>
              <a:rPr lang="en-US" dirty="0"/>
              <a:t> </a:t>
            </a:r>
            <a:r>
              <a:rPr lang="zh-CN" altLang="en-US" dirty="0"/>
              <a:t>的 </a:t>
            </a:r>
            <a:r>
              <a:rPr lang="en-US" dirty="0" err="1"/>
              <a:t>playAnimation</a:t>
            </a:r>
            <a:r>
              <a:rPr lang="en-US" dirty="0"/>
              <a:t> </a:t>
            </a:r>
            <a:r>
              <a:rPr lang="zh-CN" altLang="en-US" dirty="0"/>
              <a:t>方法即可。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DCC2FA-5E9D-CFF8-E8F8-265767712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174" y="2635142"/>
            <a:ext cx="3930852" cy="417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9351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00A31-4049-4D88-EEA7-2C8AF1E05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4.1 </a:t>
            </a:r>
            <a:r>
              <a:rPr lang="zh-CN" altLang="en-US" b="1" dirty="0"/>
              <a:t>在 </a:t>
            </a:r>
            <a:r>
              <a:rPr lang="en-US" b="1" dirty="0" err="1"/>
              <a:t>PlayerState</a:t>
            </a:r>
            <a:r>
              <a:rPr lang="en-US" b="1" dirty="0"/>
              <a:t> </a:t>
            </a:r>
            <a:r>
              <a:rPr lang="zh-CN" altLang="en-US" b="1" dirty="0"/>
              <a:t>基类中提供便利函数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6AADC-BA6B-87CD-22F8-61A82190E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为了避免在每个具体的状态类（</a:t>
            </a:r>
            <a:r>
              <a:rPr lang="en-US" dirty="0"/>
              <a:t>Idle, Walk...）</a:t>
            </a:r>
            <a:r>
              <a:rPr lang="zh-CN" altLang="en-US" dirty="0"/>
              <a:t>中都重复写获取 </a:t>
            </a:r>
            <a:r>
              <a:rPr lang="en-US" dirty="0" err="1"/>
              <a:t>AnimationComponent</a:t>
            </a:r>
            <a:r>
              <a:rPr lang="en-US" dirty="0"/>
              <a:t> </a:t>
            </a:r>
            <a:r>
              <a:rPr lang="zh-CN" altLang="en-US" dirty="0"/>
              <a:t>并播放的代码，我们在基类 </a:t>
            </a:r>
            <a:r>
              <a:rPr lang="en-US" dirty="0" err="1"/>
              <a:t>PlayerState</a:t>
            </a:r>
            <a:r>
              <a:rPr lang="en-US" dirty="0"/>
              <a:t> </a:t>
            </a:r>
            <a:r>
              <a:rPr lang="zh-CN" altLang="en-US" dirty="0"/>
              <a:t>中提供一个辅助函数。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/game/component/state/</a:t>
            </a:r>
            <a:r>
              <a:rPr lang="en-US" b="1" dirty="0" err="1"/>
              <a:t>player_state.h</a:t>
            </a:r>
            <a:r>
              <a:rPr lang="en-US" b="1" dirty="0"/>
              <a:t>（</a:t>
            </a:r>
            <a:r>
              <a:rPr lang="zh-CN" altLang="en-US" b="1" dirty="0"/>
              <a:t>更新）</a:t>
            </a:r>
            <a:endParaRPr lang="en-US" altLang="zh-CN" b="1" dirty="0"/>
          </a:p>
          <a:p>
            <a:r>
              <a:rPr lang="en-US" b="1" dirty="0" err="1"/>
              <a:t>src</a:t>
            </a:r>
            <a:r>
              <a:rPr lang="en-US" b="1" dirty="0"/>
              <a:t>/game/component/state/</a:t>
            </a:r>
            <a:r>
              <a:rPr lang="en-US" b="1" dirty="0" err="1"/>
              <a:t>player_state.cpp（新建文件</a:t>
            </a:r>
            <a:r>
              <a:rPr lang="en-US" b="1" dirty="0"/>
              <a:t>）</a:t>
            </a:r>
          </a:p>
          <a:p>
            <a:endParaRPr lang="zh-CN" alt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2334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7D881-9385-E33A-6A43-84CEC148B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辅助函数的优势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143B36-E1B1-29FB-92FA-82A5B294D1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1232970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16138500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10611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优势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966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代码复用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避免在每个状态中重复相同逻辑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7593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统一接口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所有状态使用相同方式播放动画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612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易于维护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只需修改一处即可影响所有状态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8191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空指针检查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集中处理错误情况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8572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06583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418DF-0225-6EF6-ECEF-44CA59AC5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4.2 </a:t>
            </a:r>
            <a:r>
              <a:rPr lang="zh-CN" altLang="en-US" b="1" dirty="0"/>
              <a:t>在具体状态的 </a:t>
            </a:r>
            <a:r>
              <a:rPr lang="en-US" altLang="zh-CN" b="1" dirty="0"/>
              <a:t>enter() </a:t>
            </a:r>
            <a:r>
              <a:rPr lang="zh-CN" altLang="en-US" b="1" dirty="0"/>
              <a:t>中播放动画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CD64C-651B-518F-5B4A-DE7D60079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现在，我们只需要在每个具体状态的 </a:t>
            </a:r>
            <a:r>
              <a:rPr lang="en-US" altLang="zh-CN" dirty="0"/>
              <a:t>enter()</a:t>
            </a:r>
            <a:r>
              <a:rPr lang="zh-CN" altLang="en-US" dirty="0"/>
              <a:t> 方法中，调用这个新的辅助函数即可。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0410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9A91F-47BF-E1D1-BC58-EA88E93F0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4.3 </a:t>
            </a:r>
            <a:r>
              <a:rPr lang="zh-CN" altLang="en-US" b="1" dirty="0"/>
              <a:t>在 </a:t>
            </a:r>
            <a:r>
              <a:rPr lang="en-US" b="1" dirty="0" err="1"/>
              <a:t>PlayerComponent</a:t>
            </a:r>
            <a:r>
              <a:rPr lang="en-US" b="1" dirty="0"/>
              <a:t> </a:t>
            </a:r>
            <a:r>
              <a:rPr lang="zh-CN" altLang="en-US" b="1" dirty="0"/>
              <a:t>中缓存 </a:t>
            </a:r>
            <a:r>
              <a:rPr lang="en-US" b="1" dirty="0" err="1"/>
              <a:t>AnimationComponent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D8F78-E24E-920B-FA62-4EF918EB0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最后，别忘了让 </a:t>
            </a:r>
            <a:r>
              <a:rPr lang="en-US" dirty="0" err="1"/>
              <a:t>PlayerComponent</a:t>
            </a:r>
            <a:r>
              <a:rPr lang="en-US" dirty="0"/>
              <a:t> </a:t>
            </a:r>
            <a:r>
              <a:rPr lang="zh-CN" altLang="en-US" dirty="0"/>
              <a:t>保存 </a:t>
            </a:r>
            <a:r>
              <a:rPr lang="en-US" dirty="0" err="1"/>
              <a:t>AnimationComponent</a:t>
            </a:r>
            <a:r>
              <a:rPr lang="en-US" dirty="0"/>
              <a:t> </a:t>
            </a:r>
            <a:r>
              <a:rPr lang="zh-CN" altLang="en-US" dirty="0"/>
              <a:t>的指针作为成员变量，并在初始化时赋值。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195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8894E-8994-BD9C-E4DE-9D0985E75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 </a:t>
            </a:r>
            <a:r>
              <a:rPr lang="zh-CN" altLang="en-US" b="1" dirty="0"/>
              <a:t>激活其他角色动画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8259F-4ADD-6844-60AF-983B71E5A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玩家已经动起来了，游戏里的其他角色和道具也一样。我们在 </a:t>
            </a:r>
            <a:r>
              <a:rPr lang="en-US" dirty="0" err="1"/>
              <a:t>GameScene</a:t>
            </a:r>
            <a:r>
              <a:rPr lang="en-US" dirty="0"/>
              <a:t> </a:t>
            </a:r>
            <a:r>
              <a:rPr lang="zh-CN" altLang="en-US" dirty="0"/>
              <a:t>中增加一个 </a:t>
            </a:r>
            <a:r>
              <a:rPr lang="en-US" dirty="0" err="1"/>
              <a:t>initEnemyAndItem</a:t>
            </a:r>
            <a:r>
              <a:rPr lang="en-US" dirty="0"/>
              <a:t> </a:t>
            </a:r>
            <a:r>
              <a:rPr lang="zh-CN" altLang="en-US" dirty="0"/>
              <a:t>函数，在关卡加载完成后，遍历所有对象，为它们播放默认动画。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/game/scene/game_scene.cpp（</a:t>
            </a:r>
            <a:r>
              <a:rPr lang="zh-CN" altLang="en-US" b="1" dirty="0"/>
              <a:t>更新）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5562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A3B18-A954-661F-BDBB-D1200B353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角色动画配置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5DF84A-73BE-1CA1-9EC6-53D70222B1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3269523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42486111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2855674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800721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角色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默认动画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894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eagle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"fly"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老鹰飞行动画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8243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frog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"idle"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青蛙待机动画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2276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opossum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"idle"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负鼠待机动画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7939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item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"idle"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道具闪烁动画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5240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1677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A0B00-2CFC-5719-8BE9-3B43F65D8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🎯 系统架构总结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548DC3-E874-A8D2-CDE2-2384296A64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78733"/>
            <a:ext cx="20050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3908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13851-688A-9995-69F7-758578DB6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核心成就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60E5E-6D1E-DB3D-27A7-C662E1FCB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✅ </a:t>
            </a:r>
            <a:r>
              <a:rPr lang="zh-CN" altLang="en-US" b="1" dirty="0"/>
              <a:t>数据驱动设计</a:t>
            </a:r>
            <a:r>
              <a:rPr lang="zh-CN" altLang="en-US" dirty="0"/>
              <a:t>：动画数据在 </a:t>
            </a:r>
            <a:r>
              <a:rPr lang="en-US" altLang="zh-CN" dirty="0"/>
              <a:t>Tiled </a:t>
            </a:r>
            <a:r>
              <a:rPr lang="zh-CN" altLang="en-US" dirty="0"/>
              <a:t>中定义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通用动画系统</a:t>
            </a:r>
            <a:r>
              <a:rPr lang="zh-CN" altLang="en-US" dirty="0"/>
              <a:t>：</a:t>
            </a:r>
            <a:r>
              <a:rPr lang="en-US" altLang="zh-CN" dirty="0"/>
              <a:t>Animation + </a:t>
            </a:r>
            <a:r>
              <a:rPr lang="en-US" altLang="zh-CN" dirty="0" err="1"/>
              <a:t>AnimationComponent</a:t>
            </a:r>
            <a:endParaRPr lang="en-US" altLang="zh-CN" dirty="0"/>
          </a:p>
          <a:p>
            <a:r>
              <a:rPr lang="en-US" altLang="zh-CN" dirty="0"/>
              <a:t>✅ </a:t>
            </a:r>
            <a:r>
              <a:rPr lang="zh-CN" altLang="en-US" b="1" dirty="0"/>
              <a:t>自动加载配置</a:t>
            </a:r>
            <a:r>
              <a:rPr lang="zh-CN" altLang="en-US" dirty="0"/>
              <a:t>：</a:t>
            </a:r>
            <a:r>
              <a:rPr lang="en-US" altLang="zh-CN" dirty="0" err="1"/>
              <a:t>LevelLoader</a:t>
            </a:r>
            <a:r>
              <a:rPr lang="en-US" altLang="zh-CN" dirty="0"/>
              <a:t> </a:t>
            </a:r>
            <a:r>
              <a:rPr lang="zh-CN" altLang="en-US" dirty="0"/>
              <a:t>解析并配置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状态动画联动</a:t>
            </a:r>
            <a:r>
              <a:rPr lang="zh-CN" altLang="en-US" dirty="0"/>
              <a:t>：状态切换自动播放对应动画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程序美术分离</a:t>
            </a:r>
            <a:r>
              <a:rPr lang="zh-CN" altLang="en-US" dirty="0"/>
              <a:t>：美术可独立调整动画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易于扩展</a:t>
            </a:r>
            <a:r>
              <a:rPr lang="zh-CN" altLang="en-US" dirty="0"/>
              <a:t>：添加新动画无需修改代码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9180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9403-91E4-873F-9369-200A461C2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系统优势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DB50D1-B5DA-7AD4-B239-0F9C441380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093188"/>
              </p:ext>
            </p:extLst>
          </p:nvPr>
        </p:nvGraphicFramePr>
        <p:xfrm>
          <a:off x="838200" y="1825625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48423858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93813302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43080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特性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优势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0962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数据驱动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JSON </a:t>
                      </a:r>
                      <a:r>
                        <a:rPr lang="zh-CN" altLang="en-US">
                          <a:effectLst/>
                        </a:rPr>
                        <a:t>定义动画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实时调整，无需编译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6068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组件化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AnimationComponent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任何对象都可添加动画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2488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自动化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LevelLoader </a:t>
                      </a:r>
                      <a:r>
                        <a:rPr lang="zh-CN" altLang="en-US">
                          <a:effectLst/>
                        </a:rPr>
                        <a:t>自动配置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减少手动代码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1031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解耦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状态与动画分离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各自独立开发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746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通用性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适用于所有角色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复用性强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55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74598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865EC-C7A3-66DB-F57F-2F9A34257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zh-CN" altLang="en-US" b="1" dirty="0"/>
              <a:t>📚 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B4AA0-FBC0-F9A9-A1DA-46A95075C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262" y="1055077"/>
            <a:ext cx="11887200" cy="5615354"/>
          </a:xfrm>
        </p:spPr>
        <p:txBody>
          <a:bodyPr>
            <a:normAutofit/>
          </a:bodyPr>
          <a:lstStyle/>
          <a:p>
            <a:r>
              <a:rPr lang="zh-CN" altLang="en-US" b="1" dirty="0"/>
              <a:t>关键要点：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🎬 在 </a:t>
            </a:r>
            <a:r>
              <a:rPr lang="en-US" altLang="zh-CN" dirty="0"/>
              <a:t>Tiled </a:t>
            </a:r>
            <a:r>
              <a:rPr lang="zh-CN" altLang="en-US" dirty="0"/>
              <a:t>中用 </a:t>
            </a:r>
            <a:r>
              <a:rPr lang="en-US" altLang="zh-CN" dirty="0"/>
              <a:t>JSON </a:t>
            </a:r>
            <a:r>
              <a:rPr lang="zh-CN" altLang="en-US" dirty="0"/>
              <a:t>定义动画数据</a:t>
            </a:r>
          </a:p>
          <a:p>
            <a:pPr marL="0" indent="0">
              <a:buNone/>
            </a:pPr>
            <a:r>
              <a:rPr lang="zh-CN" altLang="en-US" dirty="0"/>
              <a:t>📦 </a:t>
            </a:r>
            <a:r>
              <a:rPr lang="en-US" altLang="zh-CN" dirty="0"/>
              <a:t>Animation </a:t>
            </a:r>
            <a:r>
              <a:rPr lang="zh-CN" altLang="en-US" dirty="0"/>
              <a:t>类存储帧数据和时长</a:t>
            </a:r>
          </a:p>
          <a:p>
            <a:pPr marL="0" indent="0">
              <a:buNone/>
            </a:pPr>
            <a:r>
              <a:rPr lang="zh-CN" altLang="en-US" dirty="0"/>
              <a:t>🎮 </a:t>
            </a:r>
            <a:r>
              <a:rPr lang="en-US" altLang="zh-CN" dirty="0" err="1"/>
              <a:t>AnimationComponent</a:t>
            </a:r>
            <a:r>
              <a:rPr lang="en-US" altLang="zh-CN" dirty="0"/>
              <a:t> </a:t>
            </a:r>
            <a:r>
              <a:rPr lang="zh-CN" altLang="en-US" dirty="0"/>
              <a:t>管理和播放动画</a:t>
            </a:r>
          </a:p>
          <a:p>
            <a:pPr marL="0" indent="0">
              <a:buNone/>
            </a:pPr>
            <a:r>
              <a:rPr lang="zh-CN" altLang="en-US" dirty="0"/>
              <a:t>🔄 </a:t>
            </a:r>
            <a:r>
              <a:rPr lang="en-US" altLang="zh-CN" dirty="0" err="1"/>
              <a:t>LevelLoader</a:t>
            </a:r>
            <a:r>
              <a:rPr lang="en-US" altLang="zh-CN" dirty="0"/>
              <a:t> </a:t>
            </a:r>
            <a:r>
              <a:rPr lang="zh-CN" altLang="en-US" dirty="0"/>
              <a:t>自动解析并配置</a:t>
            </a:r>
          </a:p>
          <a:p>
            <a:pPr marL="0" indent="0">
              <a:buNone/>
            </a:pPr>
            <a:r>
              <a:rPr lang="zh-CN" altLang="en-US" dirty="0"/>
              <a:t>🎯 状态机 </a:t>
            </a:r>
            <a:r>
              <a:rPr lang="en-US" altLang="zh-CN" dirty="0"/>
              <a:t>enter() </a:t>
            </a:r>
            <a:r>
              <a:rPr lang="zh-CN" altLang="en-US" dirty="0"/>
              <a:t>触发动画播放</a:t>
            </a:r>
          </a:p>
          <a:p>
            <a:pPr marL="0" indent="0">
              <a:buNone/>
            </a:pPr>
            <a:r>
              <a:rPr lang="zh-CN" altLang="en-US" dirty="0"/>
              <a:t>⚡ 每帧 </a:t>
            </a:r>
            <a:r>
              <a:rPr lang="en-US" altLang="zh-CN" dirty="0"/>
              <a:t>update() </a:t>
            </a:r>
            <a:r>
              <a:rPr lang="zh-CN" altLang="en-US" dirty="0"/>
              <a:t>推进动画时间</a:t>
            </a:r>
          </a:p>
          <a:p>
            <a:r>
              <a:rPr lang="zh-CN" altLang="en-US" dirty="0"/>
              <a:t>💡 </a:t>
            </a:r>
            <a:r>
              <a:rPr lang="zh-CN" altLang="en-US" b="1" dirty="0"/>
              <a:t>设计哲学</a:t>
            </a:r>
            <a:r>
              <a:rPr lang="zh-CN" altLang="en-US" dirty="0"/>
              <a:t>：数据驱动设计是现代游戏引擎的核心理念之一。通过将动画数据从代码中分离出来，放入可视化编辑器，我们实现了程序与策划</a:t>
            </a:r>
            <a:r>
              <a:rPr lang="en-US" altLang="zh-CN" dirty="0"/>
              <a:t>/</a:t>
            </a:r>
            <a:r>
              <a:rPr lang="zh-CN" altLang="en-US" dirty="0"/>
              <a:t>美术的解耦。程序员只需要实现通用的动画播放系统，而美术人员可以在 </a:t>
            </a:r>
            <a:r>
              <a:rPr lang="en-US" altLang="zh-CN" dirty="0"/>
              <a:t>Tiled </a:t>
            </a:r>
            <a:r>
              <a:rPr lang="zh-CN" altLang="en-US" dirty="0"/>
              <a:t>中自由调整每个角色的动画，无需等待程序员。这种工作流极大地提高了开发效率！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2673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A771D-8752-B0B0-B358-06C87858C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23DEC-BABB-C37B-45F4-BBBF48826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现在将实现 </a:t>
            </a:r>
            <a:r>
              <a:rPr lang="zh-CN" altLang="en-US" b="1" dirty="0"/>
              <a:t>生命组件与死伤状态</a:t>
            </a:r>
            <a:r>
              <a:rPr lang="zh-CN" altLang="en-US" dirty="0"/>
              <a:t>：</a:t>
            </a:r>
          </a:p>
          <a:p>
            <a:pPr marL="0" indent="0">
              <a:buNone/>
            </a:pPr>
            <a:r>
              <a:rPr lang="zh-CN" altLang="en-US" dirty="0"/>
              <a:t>❤️ 生命值系统</a:t>
            </a:r>
          </a:p>
          <a:p>
            <a:pPr marL="0" indent="0">
              <a:buNone/>
            </a:pPr>
            <a:r>
              <a:rPr lang="zh-CN" altLang="en-US" dirty="0"/>
              <a:t>💥 伤害处理</a:t>
            </a:r>
          </a:p>
          <a:p>
            <a:pPr marL="0" indent="0">
              <a:buNone/>
            </a:pPr>
            <a:r>
              <a:rPr lang="zh-CN" altLang="en-US" dirty="0"/>
              <a:t>⚰️ 死亡状态</a:t>
            </a:r>
          </a:p>
          <a:p>
            <a:pPr marL="0" indent="0">
              <a:buNone/>
            </a:pPr>
            <a:r>
              <a:rPr lang="zh-CN" altLang="en-US" dirty="0"/>
              <a:t>🔄 受伤动画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20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1375</Words>
  <Application>Microsoft Office PowerPoint</Application>
  <PresentationFormat>Widescreen</PresentationFormat>
  <Paragraphs>233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source-code-pro</vt:lpstr>
      <vt:lpstr>Aptos</vt:lpstr>
      <vt:lpstr>Aptos Display</vt:lpstr>
      <vt:lpstr>Arial</vt:lpstr>
      <vt:lpstr>Office Theme</vt:lpstr>
      <vt:lpstr>动画组件与动画载入</vt:lpstr>
      <vt:lpstr>📌 问题背景</vt:lpstr>
      <vt:lpstr>PowerPoint Presentation</vt:lpstr>
      <vt:lpstr>💡 解决方案：数据驱动的动画系统</vt:lpstr>
      <vt:lpstr>🎯 本课目标</vt:lpstr>
      <vt:lpstr>1. 数据驱动：在 Tiled 中定义动画</vt:lpstr>
      <vt:lpstr>字段说明</vt:lpstr>
      <vt:lpstr>PowerPoint Presentation</vt:lpstr>
      <vt:lpstr>💡 扩展性</vt:lpstr>
      <vt:lpstr>2. 引擎核心：Animation 与 AnimationComponent</vt:lpstr>
      <vt:lpstr>架构设计</vt:lpstr>
      <vt:lpstr>2.1 数据容器：Animation 类</vt:lpstr>
      <vt:lpstr>Animation 核心方法</vt:lpstr>
      <vt:lpstr>算法步骤</vt:lpstr>
      <vt:lpstr>2.2 动画播放器：AnimationComponent</vt:lpstr>
      <vt:lpstr>PowerPoint Presentation</vt:lpstr>
      <vt:lpstr>PowerPoint Presentation</vt:lpstr>
      <vt:lpstr>💡 设计亮点</vt:lpstr>
      <vt:lpstr>3. 关卡载入器升级</vt:lpstr>
      <vt:lpstr>PowerPoint Presentation</vt:lpstr>
      <vt:lpstr>addAnimation() 详解</vt:lpstr>
      <vt:lpstr>PowerPoint Presentation</vt:lpstr>
      <vt:lpstr>4. 连接状态机与动画</vt:lpstr>
      <vt:lpstr>4.1 在 PlayerState 基类中提供便利函数</vt:lpstr>
      <vt:lpstr>辅助函数的优势</vt:lpstr>
      <vt:lpstr>4.2 在具体状态的 enter() 中播放动画</vt:lpstr>
      <vt:lpstr>4.3 在 PlayerComponent 中缓存 AnimationComponent</vt:lpstr>
      <vt:lpstr>5. 激活其他角色动画</vt:lpstr>
      <vt:lpstr>角色动画配置</vt:lpstr>
      <vt:lpstr>🎯 系统架构总结</vt:lpstr>
      <vt:lpstr>核心成就</vt:lpstr>
      <vt:lpstr>系统优势</vt:lpstr>
      <vt:lpstr>📚 总结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佳浩 华</dc:creator>
  <cp:lastModifiedBy>佳浩 华</cp:lastModifiedBy>
  <cp:revision>3</cp:revision>
  <dcterms:created xsi:type="dcterms:W3CDTF">2025-11-16T05:23:48Z</dcterms:created>
  <dcterms:modified xsi:type="dcterms:W3CDTF">2025-11-16T05:34:28Z</dcterms:modified>
</cp:coreProperties>
</file>