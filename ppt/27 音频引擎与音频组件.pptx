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DA7A-5619-61C0-7C30-39369CABC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43F70-5C79-7F02-2934-E373DBF8A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B4352-7724-7BE3-AFA5-7C4706FC7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5D8C2-1659-D710-5E4B-E903FCB4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DE89-A7B0-E91B-7F55-E354A575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1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A5E91-5137-42B0-78A9-DB2A468B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1BB4-12BC-C4D6-AD64-BD49CB23F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28727-B3F3-4CAB-FB4C-5779FA5D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F0E9A-AC1F-4DC0-2221-166CFBF0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43CA0-34D7-E6DB-1C6E-AB5F8C38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8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C73A-3D45-F3D8-A6A0-62A96A7E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46AD6-5AA1-9841-F3D8-2D348AF26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0021F-AC70-05D3-A3B9-CE831A34B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34044-9103-F31B-7C7E-E7B9D169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AC0DC-024F-B8D6-BF93-103EB0B5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4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4DB8-4AAB-7234-276C-4399ED8A3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99A93-768A-D680-4F2A-0707E6F30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5FC56-1008-C5C0-FA8F-1F4737BEA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B3A9B-0472-C3C7-CF10-1C45039B1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05B53-FD0E-7FC8-493D-8D98C8F9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1C7C4-E56C-8E46-DD9F-5124FE8E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2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F6C-6D92-2083-8570-C9D06E56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C1BA5-DE1D-0F57-5697-2A1BBCF39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AB8B2-BF88-2139-F7DC-1A3AB4865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EFE34-84A3-714C-660B-55FF87672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5BEEC0-AEAD-FF82-A305-040E32683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D1327-FB9C-6BFF-E7E5-B274549E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17431-EAA4-0088-6260-9E73D6228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57BF3-F2EC-0AB9-3C67-FA04D8CF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7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E17F4-5D70-ED40-7E28-8D7ADD7B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56324-4AB4-D90F-B168-D3CB7236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895D9-2865-3492-93CA-1AFDFFFD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AD415-835C-7B05-5F92-1C996CFE6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9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05C58-A771-BC0D-2FE4-EDCF2812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45F10-0961-FE3D-3149-1F1F29988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9F474-7ED9-B41D-9C10-B763C622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A28E-F26E-2BE8-4713-5B41E8CD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28C76-15A7-E48B-1235-C75A00A63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00C09-3AC9-2573-4606-EBE5A0907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2E4CA-BF08-E3B7-E2C4-39CB673D4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33B41-CA24-EC77-F34E-0D999BD4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1A19E-14F5-1588-42FF-6ABD2726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9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F0D4-4D21-189F-B11D-6D2ECC71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1DEA5-BEE1-8A47-A5A6-C22194D2C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20B36-7B8D-8523-F21A-8D34D3D05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9A3EC-4A52-FAD6-C271-C2229748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5BC5E-D9BD-AEC1-A917-36E90627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F3D92-C066-415A-3C7C-060B0E2A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BCD8-8044-43E8-7DCE-FD315992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31618-37A2-BF9E-9C29-D98612B05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4DFF-20F2-5AC7-008B-34733414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63DE0-3D35-8622-A28E-E03D71AB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87ACF-E6A0-9D03-7F9C-8F75F5A0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1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C7115B-4432-7935-C2EA-385EB10AE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CAC0B-5D71-484C-85E1-376B39167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B242C-FFFC-D575-99AE-307C1D70C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B3DDF-192B-FD68-2EEE-78398B43C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276AB-4AEB-BB13-B424-185F8A53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1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1D10A-96CD-E5B9-18A6-100C579A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1706B-67EC-4065-8763-5F7266461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61BE8-8B74-38CB-4D1C-913AE2029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103FA-4130-4116-9825-217989F4E19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59AF9-F6DC-0E6D-9F9C-15D03912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193C-6857-CEBF-565F-07470E49C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E7072-B876-41AF-BC20-D12F140B8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7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3D57-16B8-6B2F-4D08-E48C3030BA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音频引擎与音频组件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AB429-FF4F-35C4-0C17-058AA7285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8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8793-F484-1D4A-E689-4584371F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C18B-7311-A34B-E740-5A4D579DE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在之前的课程中，我们的</a:t>
            </a:r>
            <a:r>
              <a:rPr lang="en-US" altLang="zh-CN" dirty="0"/>
              <a:t>"</a:t>
            </a:r>
            <a:r>
              <a:rPr lang="zh-CN" altLang="en-US" dirty="0"/>
              <a:t>阳光岛</a:t>
            </a:r>
            <a:r>
              <a:rPr lang="en-US" altLang="zh-CN" dirty="0"/>
              <a:t>"</a:t>
            </a:r>
            <a:r>
              <a:rPr lang="zh-CN" altLang="en-US" dirty="0"/>
              <a:t>已经是一个视觉和交互都比较丰富的世界了，但它还是 </a:t>
            </a:r>
            <a:r>
              <a:rPr lang="zh-CN" altLang="en-US" b="1" dirty="0"/>
              <a:t>无声的</a:t>
            </a:r>
            <a:r>
              <a:rPr lang="zh-CN" altLang="en-US" dirty="0"/>
              <a:t>。一个优秀的游戏，音效和音乐是其灵魂的重要组成部分。它们能够极大地增强游戏的沉浸感、反馈感和趣味性。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7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4A1C-A437-C00F-5D87-6B7B96C8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73119C-5214-0C95-78F8-D805AD826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301681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7120193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6583262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456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257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无音效反馈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玩家动作没有声音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缺少即时反馈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53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无背景音乐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游戏世界过于安静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氛围感不足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57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沉浸感差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只有视觉没有听觉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体验不完整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78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难以管理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缺少音频系统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无法统一控制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79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71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3EF4-D415-2161-8AF3-AAF36393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解决方案：完整的音频系统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935E41-60F5-EE79-8214-BB9D0967F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893" y="1523126"/>
            <a:ext cx="7870748" cy="428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1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B5129-12D4-5DC4-84E4-3D0702838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核心思想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B456A-5DA8-D387-3CBC-FEF595C54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构建引擎层音频模块（</a:t>
            </a:r>
            <a:r>
              <a:rPr lang="en-US" altLang="zh-CN" dirty="0" err="1"/>
              <a:t>AudioPlayer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创建音频组件（</a:t>
            </a:r>
            <a:r>
              <a:rPr lang="en-US" altLang="zh-CN" dirty="0" err="1"/>
              <a:t>AudioComponent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实现数据驱动的音效配置</a:t>
            </a:r>
          </a:p>
          <a:p>
            <a:r>
              <a:rPr lang="zh-CN" altLang="en-US" dirty="0"/>
              <a:t>为游戏各处添加音效和音乐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2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700C-54C9-E2F1-3E2F-B4B0EED8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AEB9CF-7756-4D97-EE47-3CCA4D5FD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3446585" cy="503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5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49CC2-58E7-A2DE-2072-6FC6344B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E0D2B7-F3AB-B85E-8B0D-EA15496F6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760543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004830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42816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00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构建引擎层音频模块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创建 </a:t>
                      </a:r>
                      <a:r>
                        <a:rPr lang="en-US">
                          <a:effectLst/>
                        </a:rPr>
                        <a:t>AudioPlayer </a:t>
                      </a:r>
                      <a:r>
                        <a:rPr lang="zh-CN" altLang="en-US">
                          <a:effectLst/>
                        </a:rPr>
                        <a:t>管理音效和音乐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75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创建音频组件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设计 </a:t>
                      </a:r>
                      <a:r>
                        <a:rPr lang="en-US">
                          <a:effectLst/>
                        </a:rPr>
                        <a:t>AudioComponent </a:t>
                      </a:r>
                      <a:r>
                        <a:rPr lang="zh-CN" altLang="en-US">
                          <a:effectLst/>
                        </a:rPr>
                        <a:t>让对象播放音效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398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实现数据驱动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 </a:t>
                      </a:r>
                      <a:r>
                        <a:rPr lang="en-US" altLang="zh-CN">
                          <a:effectLst/>
                        </a:rPr>
                        <a:t>Tiled </a:t>
                      </a:r>
                      <a:r>
                        <a:rPr lang="zh-CN" altLang="en-US">
                          <a:effectLst/>
                        </a:rPr>
                        <a:t>配置音频，动态加载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825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在游戏中发声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为各种行为和事件添加音效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117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79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E382-2CB1-3E17-A931-176BB30D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第一部分：引擎层音频系统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80951-C6C3-5D96-8C7F-A1F82CF8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首先，我们需要一个位于引擎层的核心模块，专门负责与底层音频库（我们使用的是 </a:t>
            </a:r>
            <a:r>
              <a:rPr lang="en-US" altLang="zh-CN" dirty="0" err="1"/>
              <a:t>SDL_mixer</a:t>
            </a:r>
            <a:r>
              <a:rPr lang="zh-CN" altLang="en-US" dirty="0"/>
              <a:t>）打交道。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925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7344-A914-0107-332F-4F6B7A28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音频播放器：</a:t>
            </a:r>
            <a:r>
              <a:rPr lang="en-US" b="1" dirty="0" err="1"/>
              <a:t>AudioPlayer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52847-5A2A-F42A-9811-C6704C13C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这个模块就是 </a:t>
            </a:r>
            <a:r>
              <a:rPr lang="en-US" altLang="zh-CN" dirty="0" err="1"/>
              <a:t>AudioPlayer</a:t>
            </a:r>
            <a:r>
              <a:rPr lang="zh-CN" altLang="en-US" dirty="0"/>
              <a:t>，它将作为所有音频播放的统一出口。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C9AB5-D591-8251-6DE8-65B10D94D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74" y="2483493"/>
            <a:ext cx="3378374" cy="34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14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3428-6865-EEAC-D179-D2DD8588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9A975A-1C28-F407-2500-A3218827D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490550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079838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7495869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13968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功能类别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特点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15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音效（</a:t>
                      </a:r>
                      <a:r>
                        <a:rPr lang="en-US" b="1">
                          <a:effectLst/>
                        </a:rPr>
                        <a:t>Sound/Chunk）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短促的音效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可同时播放多个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71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音乐（</a:t>
                      </a:r>
                      <a:r>
                        <a:rPr lang="en-US" b="1">
                          <a:effectLst/>
                        </a:rPr>
                        <a:t>Music）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背景音乐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同时只能播放一个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842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音量控制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调节音量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0.0 ~ 1.0 </a:t>
                      </a:r>
                      <a:r>
                        <a:rPr lang="zh-CN" altLang="en-US" dirty="0">
                          <a:effectLst/>
                        </a:rPr>
                        <a:t>范围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8065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BFF6EB-6264-0851-D489-5447E61363AF}"/>
              </a:ext>
            </a:extLst>
          </p:cNvPr>
          <p:cNvSpPr txBox="1"/>
          <p:nvPr/>
        </p:nvSpPr>
        <p:spPr>
          <a:xfrm>
            <a:off x="1324708" y="38246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 err="1">
                <a:effectLst/>
                <a:latin typeface="-apple-system"/>
              </a:rPr>
              <a:t>src</a:t>
            </a:r>
            <a:r>
              <a:rPr lang="en-US" b="1" i="0" dirty="0">
                <a:effectLst/>
                <a:latin typeface="-apple-system"/>
              </a:rPr>
              <a:t>/engine/audio/</a:t>
            </a:r>
            <a:r>
              <a:rPr lang="en-US" b="1" i="0" dirty="0" err="1">
                <a:effectLst/>
                <a:latin typeface="-apple-system"/>
              </a:rPr>
              <a:t>audio_player.h（新建文件</a:t>
            </a:r>
            <a:r>
              <a:rPr lang="en-US" b="1" i="0" dirty="0">
                <a:effectLst/>
                <a:latin typeface="-apple-system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8372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6A18-8A93-971E-D0F0-FDD33172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设计亮点：单一职责原则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25CA4-BD57-5E48-2CF7-82EBA9BA0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AudioPlayer</a:t>
            </a:r>
            <a:r>
              <a:rPr lang="en-US" b="1" dirty="0"/>
              <a:t> </a:t>
            </a:r>
            <a:r>
              <a:rPr lang="zh-CN" altLang="en-US" b="1" dirty="0"/>
              <a:t>的构造函数接收一个 </a:t>
            </a:r>
            <a:r>
              <a:rPr lang="en-US" b="1" dirty="0" err="1"/>
              <a:t>ResourceManager</a:t>
            </a:r>
            <a:r>
              <a:rPr lang="en-US" b="1" dirty="0"/>
              <a:t> </a:t>
            </a:r>
            <a:r>
              <a:rPr lang="zh-CN" altLang="en-US" b="1" dirty="0"/>
              <a:t>指针</a:t>
            </a:r>
            <a:r>
              <a:rPr lang="zh-CN" altLang="en-US" dirty="0"/>
              <a:t>。这意味着我们的音频播放不直接负责加载文件，而是委托给已经存在的资源管理器。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08E453-1693-9861-838A-D95BB1B9A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38" y="3101801"/>
            <a:ext cx="3302170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9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9255-5178-FD82-6110-6335C61D3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5BAEA4-2286-E86D-8BF6-4F28A90FE5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9975445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654406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49601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08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职责清晰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加载与播放分离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278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易于测试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可以模拟 </a:t>
                      </a:r>
                      <a:r>
                        <a:rPr lang="en-US">
                          <a:effectLst/>
                        </a:rPr>
                        <a:t>ResourceManager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99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高内聚低耦合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模块间依赖清晰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42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可复用性强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可用于其他项目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00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431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4E1A-7632-D687-C2D6-A5684E0E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162BA1-7572-D3C1-ECD7-8433C05C91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967109"/>
              </p:ext>
            </p:extLst>
          </p:nvPr>
        </p:nvGraphicFramePr>
        <p:xfrm>
          <a:off x="838200" y="1825625"/>
          <a:ext cx="105155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022238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7631047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80871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204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playSound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sound_path, channel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播放音效，返回播放通道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530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playMusic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music_path, loops, fade_in_ms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播放音乐，支持淡入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38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stopMusic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fade_out_ms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停止音乐，支持淡出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33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pauseMusic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暂停音乐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56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resumeMusic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继续音乐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84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setMusicVolume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volume (0.0~1.0)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设置音乐音量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137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setSoundVolume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volume, channel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设置音效音量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95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590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902C-023C-DDAC-DCCE-5D80F728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AudioPlayer</a:t>
            </a:r>
            <a:r>
              <a:rPr lang="en-US" b="1" dirty="0"/>
              <a:t> </a:t>
            </a:r>
            <a:r>
              <a:rPr lang="zh-CN" altLang="en-US" b="1" dirty="0"/>
              <a:t>实现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9A206-4CB3-9951-07D3-E74D06CF7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接着是它的实现。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/engine/audio/audio_player.cpp（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38429-1309-671B-0F9F-F21FB03C3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13" y="2971628"/>
            <a:ext cx="2629035" cy="3340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660C72-BC53-3CFB-814B-FB47B4231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46" y="2971628"/>
            <a:ext cx="2426989" cy="371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94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BAD7-CF40-23F6-777B-B83AA536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</a:t>
            </a:r>
            <a:r>
              <a:rPr lang="en-US" altLang="zh-CN" b="1" dirty="0"/>
              <a:t>C++</a:t>
            </a:r>
            <a:r>
              <a:rPr lang="zh-CN" altLang="en-US" b="1" dirty="0"/>
              <a:t>封装的优势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FE941E-A2AB-F4A3-4842-D7921BEBD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853" y="1635081"/>
            <a:ext cx="3219615" cy="40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41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BA6E-9678-E3A7-430B-BE8872A4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第二部分：引擎集成与组件化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BBD7-66DB-7317-121C-487A8C8B7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和渲染器、物理引擎一样，</a:t>
            </a:r>
            <a:r>
              <a:rPr lang="en-US" altLang="zh-CN" dirty="0" err="1"/>
              <a:t>AudioPlayer</a:t>
            </a:r>
            <a:r>
              <a:rPr lang="en-US" altLang="zh-CN" dirty="0"/>
              <a:t> </a:t>
            </a:r>
            <a:r>
              <a:rPr lang="zh-CN" altLang="en-US" dirty="0"/>
              <a:t>也是引擎的核心服务之一。我们需要在 </a:t>
            </a:r>
            <a:r>
              <a:rPr lang="en-US" altLang="zh-CN" dirty="0" err="1"/>
              <a:t>GameApp</a:t>
            </a:r>
            <a:r>
              <a:rPr lang="en-US" altLang="zh-CN" dirty="0"/>
              <a:t> </a:t>
            </a:r>
            <a:r>
              <a:rPr lang="zh-CN" altLang="en-US" dirty="0"/>
              <a:t>中创建它的实例，并将其加入到 </a:t>
            </a:r>
            <a:r>
              <a:rPr lang="en-US" altLang="zh-CN" dirty="0"/>
              <a:t>Context </a:t>
            </a:r>
            <a:r>
              <a:rPr lang="zh-CN" altLang="en-US" dirty="0"/>
              <a:t>中，以便游戏各处都能方便地访问它。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298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1193-47E6-7966-5AD5-36B5E320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集成到引擎核心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5F8FE-F864-BA3C-0F73-F7280CEB6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在 </a:t>
            </a:r>
            <a:r>
              <a:rPr lang="en-US" b="1" dirty="0" err="1"/>
              <a:t>GameApp</a:t>
            </a:r>
            <a:r>
              <a:rPr lang="en-US" b="1" dirty="0"/>
              <a:t> </a:t>
            </a:r>
            <a:r>
              <a:rPr lang="zh-CN" altLang="en-US" b="1" dirty="0"/>
              <a:t>中新增 </a:t>
            </a:r>
            <a:r>
              <a:rPr lang="en-US" b="1" dirty="0" err="1"/>
              <a:t>AudioPlayer</a:t>
            </a:r>
            <a:r>
              <a:rPr lang="en-US" b="1" dirty="0"/>
              <a:t> </a:t>
            </a:r>
            <a:r>
              <a:rPr lang="zh-CN" altLang="en-US" b="1" dirty="0"/>
              <a:t>实例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/engine/core/</a:t>
            </a:r>
            <a:r>
              <a:rPr lang="en-US" b="1" dirty="0" err="1"/>
              <a:t>game_app.h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在 </a:t>
            </a:r>
            <a:r>
              <a:rPr lang="en-US" b="1" dirty="0"/>
              <a:t>Context </a:t>
            </a:r>
            <a:r>
              <a:rPr lang="zh-CN" altLang="en-US" b="1" dirty="0"/>
              <a:t>中加入 </a:t>
            </a:r>
            <a:r>
              <a:rPr lang="en-US" b="1" dirty="0" err="1"/>
              <a:t>AudioPlayer</a:t>
            </a:r>
            <a:r>
              <a:rPr lang="en-US" b="1" dirty="0"/>
              <a:t> </a:t>
            </a:r>
            <a:r>
              <a:rPr lang="zh-CN" altLang="en-US" b="1" dirty="0"/>
              <a:t>的引用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/engine/core/</a:t>
            </a:r>
            <a:r>
              <a:rPr lang="en-US" b="1" dirty="0" err="1"/>
              <a:t>context.h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endParaRPr lang="zh-CN" alt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3E860-04A0-CB51-40AD-EE804DBE8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643" y="1825625"/>
            <a:ext cx="3181514" cy="32958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97BB6B-CF71-9BCA-048A-21D26FE724D3}"/>
              </a:ext>
            </a:extLst>
          </p:cNvPr>
          <p:cNvSpPr txBox="1"/>
          <p:nvPr/>
        </p:nvSpPr>
        <p:spPr>
          <a:xfrm>
            <a:off x="3714425" y="4382780"/>
            <a:ext cx="31318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现在，我们拥有了一个全局可访问的音频播放器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。接下来，为了让每个 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-apple-system"/>
              </a:rPr>
              <a:t>GameObject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都能管理自己的声音，我们需要一个 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source-code-pro"/>
              </a:rPr>
              <a:t>AudioComponent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。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74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4A03-CF9F-3CB4-AB6A-37E4625E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音频组件：</a:t>
            </a:r>
            <a:r>
              <a:rPr lang="en-US" b="1" dirty="0" err="1"/>
              <a:t>AudioComponent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D095D-823E-1641-25F4-A01562634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为了让每个游戏对象都能管理自己的音效，我们创建 </a:t>
            </a:r>
            <a:r>
              <a:rPr lang="en-US" dirty="0" err="1"/>
              <a:t>AudioComponent</a:t>
            </a:r>
            <a:r>
              <a:rPr lang="en-US" dirty="0"/>
              <a:t>。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/engine/component/</a:t>
            </a:r>
            <a:r>
              <a:rPr lang="en-US" b="1" dirty="0" err="1"/>
              <a:t>audio_component.h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9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BE1D-BC82-B97B-76E1-E5DEBCC8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EC46-9F39-3F04-D2EA-83A40A647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💡 设计亮点：逻辑</a:t>
            </a:r>
            <a:r>
              <a:rPr lang="en-US" altLang="zh-CN" b="1" dirty="0"/>
              <a:t>ID</a:t>
            </a:r>
            <a:r>
              <a:rPr lang="zh-CN" altLang="en-US" b="1" dirty="0"/>
              <a:t>与资源路径解耦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17E29-836A-6FF6-75D0-F6C953473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29" y="782196"/>
            <a:ext cx="3697986" cy="290209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094C9E-5501-B65A-0984-43396BD41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226275"/>
              </p:ext>
            </p:extLst>
          </p:nvPr>
        </p:nvGraphicFramePr>
        <p:xfrm>
          <a:off x="1012093" y="395523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6115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80592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21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代码简洁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使用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"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jump"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而不是完整路径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664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易于替换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只需修改映射表，无需改代码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68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配置灵活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支持数据驱动配置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48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多语言支持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可轻松切换不同语言的音效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653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073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DDFF-1121-963E-6F4A-0937C74E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A904A-9E52-28A5-0EB9-270F52E4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111278-B7FE-93D8-7A5A-19B67E37D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333921" cy="33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13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A671-AE00-40D5-4FA3-42DABC9E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空间音频预留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9988-CF18-CAF5-B0EC-205C7DB94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/>
              <a:t>playSound</a:t>
            </a:r>
            <a:r>
              <a:rPr lang="zh-CN" altLang="en-US" b="1" dirty="0"/>
              <a:t> 函数还包含一个 </a:t>
            </a:r>
            <a:r>
              <a:rPr lang="en-US" altLang="zh-CN" b="1" dirty="0" err="1"/>
              <a:t>use_spatial</a:t>
            </a:r>
            <a:r>
              <a:rPr lang="zh-CN" altLang="en-US" b="1" dirty="0"/>
              <a:t> 参数</a:t>
            </a:r>
            <a:r>
              <a:rPr lang="zh-CN" altLang="en-US" dirty="0"/>
              <a:t>。虽然 </a:t>
            </a:r>
            <a:r>
              <a:rPr lang="en-US" altLang="zh-CN" dirty="0" err="1"/>
              <a:t>SDL_mixer</a:t>
            </a:r>
            <a:r>
              <a:rPr lang="en-US" altLang="zh-CN" dirty="0"/>
              <a:t> </a:t>
            </a:r>
            <a:r>
              <a:rPr lang="zh-CN" altLang="en-US" dirty="0"/>
              <a:t>对</a:t>
            </a:r>
            <a:r>
              <a:rPr lang="en-US" altLang="zh-CN" dirty="0"/>
              <a:t>3D</a:t>
            </a:r>
            <a:r>
              <a:rPr lang="zh-CN" altLang="en-US" dirty="0"/>
              <a:t>空间音效的支持有限，但我们预留了这个接口，并实现了一个简化版：只有当物体离相机中心足够近时才播放声音。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734C2-082A-30E9-C0D4-00A2A1508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64" y="3148783"/>
            <a:ext cx="3340272" cy="32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61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E25F-0444-B412-63D8-F8892731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第三部分：数据驱动的音效配置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6C612-6E47-244D-77B0-3678BEA36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为了实现彻底的数据驱动，我们将音效的配置工作也放到了 </a:t>
            </a:r>
            <a:r>
              <a:rPr lang="en-US" altLang="zh-CN" dirty="0"/>
              <a:t>Tiled </a:t>
            </a:r>
            <a:r>
              <a:rPr lang="zh-CN" altLang="en-US" dirty="0"/>
              <a:t>地图编辑器中。</a:t>
            </a:r>
          </a:p>
          <a:p>
            <a:br>
              <a:rPr lang="zh-CN" alt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F5B81-745D-B3DF-42DE-104994FA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91242"/>
            <a:ext cx="7544188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86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C5CF-F592-EBD5-75B4-D4A64B5CC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</a:t>
            </a:r>
            <a:r>
              <a:rPr lang="en-US" b="1" dirty="0" err="1"/>
              <a:t>LevelLoader</a:t>
            </a:r>
            <a:r>
              <a:rPr lang="en-US" b="1" dirty="0"/>
              <a:t> </a:t>
            </a:r>
            <a:r>
              <a:rPr lang="zh-CN" altLang="en-US" b="1" dirty="0"/>
              <a:t>读取音效配置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9171A-7917-AECB-A0F3-2BDFAAD1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最后，我们需要让 </a:t>
            </a:r>
            <a:r>
              <a:rPr lang="en-US" dirty="0" err="1"/>
              <a:t>LevelLoader</a:t>
            </a:r>
            <a:r>
              <a:rPr lang="en-US" dirty="0"/>
              <a:t> </a:t>
            </a:r>
            <a:r>
              <a:rPr lang="zh-CN" altLang="en-US" dirty="0"/>
              <a:t>能读懂这些数据。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/engine/scene/level_loader.cpp（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r>
              <a:rPr lang="zh-CN" altLang="en-US" dirty="0"/>
              <a:t>在 </a:t>
            </a:r>
            <a:r>
              <a:rPr lang="en-US" dirty="0" err="1"/>
              <a:t>loadObjectLayer</a:t>
            </a:r>
            <a:r>
              <a:rPr lang="en-US" dirty="0"/>
              <a:t> </a:t>
            </a:r>
            <a:r>
              <a:rPr lang="zh-CN" altLang="en-US" dirty="0"/>
              <a:t>函数中，当加载一个对象时，我们检查是否存在 </a:t>
            </a:r>
            <a:r>
              <a:rPr lang="en-US" altLang="zh-CN" dirty="0"/>
              <a:t>“</a:t>
            </a:r>
            <a:r>
              <a:rPr lang="en-US" dirty="0"/>
              <a:t>sound” </a:t>
            </a:r>
            <a:r>
              <a:rPr lang="zh-CN" altLang="en-US" dirty="0"/>
              <a:t>属性。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184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573E-A376-9567-A616-6108DF41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B5A4C-0BA3-F981-2878-4045FBF5F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384" y="119917"/>
            <a:ext cx="3255553" cy="6552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981566-360B-0D58-A217-8299206EF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886" y="119916"/>
            <a:ext cx="3768313" cy="649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24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87B3-97EE-3F67-6DD2-EC1E17FBB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第四部分：在游戏中发声！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3249-6B06-BB40-F8B4-0E611A39C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万事俱备，只欠东风。现在，我们要在游戏逻辑的各个角落里，触发声音的播放。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30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FE1E-A6F3-3700-401D-406CAC57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7. </a:t>
            </a:r>
            <a:r>
              <a:rPr lang="zh-CN" altLang="en-US" b="1" dirty="0"/>
              <a:t>背景音乐与全局音量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42C35-3EBD-7A16-2923-C46F76BA4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 </a:t>
            </a:r>
            <a:r>
              <a:rPr lang="en-US" dirty="0" err="1"/>
              <a:t>GameScene</a:t>
            </a:r>
            <a:r>
              <a:rPr lang="en-US" dirty="0"/>
              <a:t>::</a:t>
            </a:r>
            <a:r>
              <a:rPr lang="en-US" dirty="0" err="1"/>
              <a:t>init</a:t>
            </a:r>
            <a:r>
              <a:rPr lang="en-US" dirty="0"/>
              <a:t> </a:t>
            </a:r>
            <a:r>
              <a:rPr lang="zh-CN" altLang="en-US" dirty="0"/>
              <a:t>中，我们可以启动背景音乐并设置一个舒适的音量。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835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09E9-6EFD-D1EB-A056-633C437E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8. </a:t>
            </a:r>
            <a:r>
              <a:rPr lang="zh-CN" altLang="en-US" b="1" dirty="0"/>
              <a:t>玩家状态音效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E2DEC-2C51-E035-B7CD-B72B36045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玩家的行为是最需要音效反馈的地方。我们可以在各个状态的 </a:t>
            </a:r>
            <a:r>
              <a:rPr lang="en-US" dirty="0"/>
              <a:t>enter </a:t>
            </a:r>
            <a:r>
              <a:rPr lang="zh-CN" altLang="en-US" dirty="0"/>
              <a:t>方法中播放对应的声音。</a:t>
            </a:r>
          </a:p>
          <a:p>
            <a:pPr marL="0" indent="0">
              <a:buNone/>
            </a:pPr>
            <a:r>
              <a:rPr lang="zh-CN" altLang="en-US" b="1" dirty="0"/>
              <a:t>第一步：</a:t>
            </a:r>
            <a:r>
              <a:rPr lang="en-US" b="1" dirty="0" err="1"/>
              <a:t>PlayerComponent</a:t>
            </a:r>
            <a:r>
              <a:rPr lang="en-US" b="1" dirty="0"/>
              <a:t> </a:t>
            </a:r>
            <a:r>
              <a:rPr lang="zh-CN" altLang="en-US" b="1" dirty="0"/>
              <a:t>缓存 </a:t>
            </a:r>
            <a:r>
              <a:rPr lang="en-US" b="1" dirty="0" err="1"/>
              <a:t>AudioComponent</a:t>
            </a:r>
            <a:endParaRPr lang="en-US" b="1" dirty="0"/>
          </a:p>
          <a:p>
            <a:pPr marL="0" indent="0">
              <a:buNone/>
            </a:pPr>
            <a:r>
              <a:rPr lang="zh-CN" altLang="en-US" dirty="0"/>
              <a:t>首先，让 </a:t>
            </a: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获取并缓存 </a:t>
            </a:r>
            <a:r>
              <a:rPr lang="en-US" dirty="0" err="1"/>
              <a:t>AudioComponent</a:t>
            </a:r>
            <a:r>
              <a:rPr lang="en-US" dirty="0"/>
              <a:t>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</a:t>
            </a:r>
            <a:r>
              <a:rPr lang="en-US" b="1" dirty="0" err="1"/>
              <a:t>player_component.h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426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B34B7-482C-2F6B-6A45-CA5920294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第二步：在各状态中播放音效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A83FF-4AD5-4949-2329-472AC13CF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JumpState</a:t>
            </a:r>
            <a:r>
              <a:rPr lang="en-US" b="1" dirty="0"/>
              <a:t> - </a:t>
            </a:r>
            <a:r>
              <a:rPr lang="zh-CN" altLang="en-US" b="1" dirty="0"/>
              <a:t>跳跃音效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/game/component/state/jump_state.cpp（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r>
              <a:rPr lang="en-US" b="1" dirty="0" err="1"/>
              <a:t>HurtState</a:t>
            </a:r>
            <a:r>
              <a:rPr lang="en-US" b="1" dirty="0"/>
              <a:t> - </a:t>
            </a:r>
            <a:r>
              <a:rPr lang="zh-CN" altLang="en-US" b="1" dirty="0"/>
              <a:t>受伤音效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/game/component/state/hurt_state.cpp（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r>
              <a:rPr lang="en-US" b="1" dirty="0" err="1"/>
              <a:t>DeadState</a:t>
            </a:r>
            <a:r>
              <a:rPr lang="en-US" b="1" dirty="0"/>
              <a:t> - </a:t>
            </a:r>
            <a:r>
              <a:rPr lang="en-US" b="1" dirty="0" err="1"/>
              <a:t>死亡音效</a:t>
            </a:r>
            <a:endParaRPr lang="en-US" b="1" dirty="0"/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dead_state.cpp（更新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116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24EB-E0A4-C5D8-47C8-09DA3C22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 </a:t>
            </a:r>
            <a:r>
              <a:rPr lang="zh-CN" altLang="en-US" b="1" dirty="0"/>
              <a:t>敌人</a:t>
            </a:r>
            <a:r>
              <a:rPr lang="en-US" b="1" dirty="0"/>
              <a:t>AI</a:t>
            </a:r>
            <a:r>
              <a:rPr lang="zh-CN" altLang="en-US" b="1" dirty="0"/>
              <a:t>音效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94707-D996-4EBB-B78A-8DA3344E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同样地，我们让 </a:t>
            </a:r>
            <a:r>
              <a:rPr lang="en-US" dirty="0" err="1"/>
              <a:t>AIComponent</a:t>
            </a:r>
            <a:r>
              <a:rPr lang="en-US" dirty="0"/>
              <a:t> </a:t>
            </a:r>
            <a:r>
              <a:rPr lang="zh-CN" altLang="en-US" dirty="0"/>
              <a:t>也能获取 </a:t>
            </a:r>
            <a:r>
              <a:rPr lang="en-US" dirty="0" err="1"/>
              <a:t>AudioComponent</a:t>
            </a:r>
            <a:r>
              <a:rPr lang="en-US" dirty="0"/>
              <a:t>。</a:t>
            </a:r>
            <a:r>
              <a:rPr lang="zh-CN" altLang="en-US" dirty="0"/>
              <a:t>然后在 </a:t>
            </a:r>
            <a:r>
              <a:rPr lang="en-US" dirty="0" err="1"/>
              <a:t>JumpBehavior</a:t>
            </a:r>
            <a:r>
              <a:rPr lang="en-US" dirty="0"/>
              <a:t> </a:t>
            </a:r>
            <a:r>
              <a:rPr lang="zh-CN" altLang="en-US" dirty="0"/>
              <a:t>中，当敌人落地时，播放它的叫声。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/game/component/ai/jump_behavior.cpp（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0BF2B-EF14-D08F-8CC2-22A4270B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97" y="3335891"/>
            <a:ext cx="3264068" cy="219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40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DFA7-6ADD-73F9-E1A9-C05CCE72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10. </a:t>
            </a:r>
            <a:r>
              <a:rPr lang="zh-CN" altLang="en-US" b="1" dirty="0"/>
              <a:t>场景事件音效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EF77-639F-10B6-CF43-6AF3D3E4F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有些音效不属于任何特定对象，而是由场景中的事件触发，比如吃到道具、踩死敌人。这类音效可以直接通过 </a:t>
            </a:r>
            <a:r>
              <a:rPr lang="en-US" dirty="0"/>
              <a:t>Context </a:t>
            </a:r>
            <a:r>
              <a:rPr lang="zh-CN" altLang="en-US" dirty="0"/>
              <a:t>来播放。</a:t>
            </a:r>
          </a:p>
          <a:p>
            <a:pPr marL="0" indent="0">
              <a:buNone/>
            </a:pPr>
            <a:r>
              <a:rPr lang="zh-CN" altLang="en-US" b="1" dirty="0"/>
              <a:t>在 </a:t>
            </a:r>
            <a:r>
              <a:rPr lang="en-US" b="1" dirty="0" err="1"/>
              <a:t>GameScene</a:t>
            </a:r>
            <a:r>
              <a:rPr lang="en-US" b="1" dirty="0"/>
              <a:t> </a:t>
            </a:r>
            <a:r>
              <a:rPr lang="zh-CN" altLang="en-US" b="1" dirty="0"/>
              <a:t>的碰撞处理函数中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CA196-AF30-D991-A443-A3456BCD6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92" y="3632363"/>
            <a:ext cx="2813867" cy="31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99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8314-3A74-DCEA-BCA3-9F2B1109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F6B3A-9425-3359-4E2C-C52C0DFFD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构建了引擎层音频模块</a:t>
            </a:r>
            <a:r>
              <a:rPr lang="zh-CN" altLang="en-US" dirty="0"/>
              <a:t>：</a:t>
            </a:r>
            <a:r>
              <a:rPr lang="en-US" altLang="zh-CN" dirty="0" err="1"/>
              <a:t>AudioPlayer</a:t>
            </a:r>
            <a:r>
              <a:rPr lang="en-US" altLang="zh-CN" dirty="0"/>
              <a:t> </a:t>
            </a:r>
            <a:r>
              <a:rPr lang="zh-CN" altLang="en-US" dirty="0"/>
              <a:t>封装 </a:t>
            </a:r>
            <a:r>
              <a:rPr lang="en-US" altLang="zh-CN" dirty="0" err="1"/>
              <a:t>SDL_mixer</a:t>
            </a:r>
            <a:endParaRPr lang="en-US" altLang="zh-CN" dirty="0"/>
          </a:p>
          <a:p>
            <a:r>
              <a:rPr lang="en-US" altLang="zh-CN" dirty="0"/>
              <a:t>✅ </a:t>
            </a:r>
            <a:r>
              <a:rPr lang="zh-CN" altLang="en-US" b="1" dirty="0"/>
              <a:t>创建了音频组件</a:t>
            </a:r>
            <a:r>
              <a:rPr lang="zh-CN" altLang="en-US" dirty="0"/>
              <a:t>：</a:t>
            </a:r>
            <a:r>
              <a:rPr lang="en-US" altLang="zh-CN" dirty="0" err="1"/>
              <a:t>AudioComponent</a:t>
            </a:r>
            <a:r>
              <a:rPr lang="en-US" altLang="zh-CN" dirty="0"/>
              <a:t> </a:t>
            </a:r>
            <a:r>
              <a:rPr lang="zh-CN" altLang="en-US" dirty="0"/>
              <a:t>管理对象音效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实现了数据驱动</a:t>
            </a:r>
            <a:r>
              <a:rPr lang="zh-CN" altLang="en-US" dirty="0"/>
              <a:t>：</a:t>
            </a:r>
            <a:r>
              <a:rPr lang="en-US" altLang="zh-CN" dirty="0"/>
              <a:t>Tiled </a:t>
            </a:r>
            <a:r>
              <a:rPr lang="zh-CN" altLang="en-US" dirty="0"/>
              <a:t>配置音效，自动加载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集成到游戏各处</a:t>
            </a:r>
            <a:r>
              <a:rPr lang="zh-CN" altLang="en-US" dirty="0"/>
              <a:t>：玩家、敌人、事件都有音效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实现了逻辑解耦</a:t>
            </a:r>
            <a:r>
              <a:rPr lang="zh-CN" altLang="en-US" dirty="0"/>
              <a:t>：音效</a:t>
            </a:r>
            <a:r>
              <a:rPr lang="en-US" altLang="zh-CN" dirty="0"/>
              <a:t>ID</a:t>
            </a:r>
            <a:r>
              <a:rPr lang="zh-CN" altLang="en-US" dirty="0"/>
              <a:t>与文件路径分离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支持空间音频</a:t>
            </a:r>
            <a:r>
              <a:rPr lang="zh-CN" altLang="en-US" dirty="0"/>
              <a:t>：简化版的距离衰减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867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0E8A-742E-D734-2339-A1EEA5F5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0339" y="0"/>
            <a:ext cx="10515600" cy="1325563"/>
          </a:xfrm>
        </p:spPr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1D8D2-F077-ED33-76E8-E25FE1504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8790"/>
            <a:ext cx="12192000" cy="5849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恭喜你！通过本节课的学习，我们成功地为</a:t>
            </a:r>
            <a:r>
              <a:rPr lang="en-US" altLang="zh-CN" dirty="0"/>
              <a:t>"</a:t>
            </a:r>
            <a:r>
              <a:rPr lang="zh-CN" altLang="en-US" dirty="0"/>
              <a:t>阳光岛</a:t>
            </a:r>
            <a:r>
              <a:rPr lang="en-US" altLang="zh-CN" dirty="0"/>
              <a:t>"</a:t>
            </a:r>
            <a:r>
              <a:rPr lang="zh-CN" altLang="en-US" dirty="0"/>
              <a:t>构建了一套功能完善、设计优雅的音频系统。</a:t>
            </a:r>
            <a:r>
              <a:rPr lang="zh-CN" altLang="en-US" b="1" dirty="0"/>
              <a:t>现在运行游戏，你会发现世界瞬间变得生动活泼起来！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b="1" dirty="0"/>
              <a:t>关键要点：</a:t>
            </a:r>
            <a:endParaRPr lang="zh-CN" altLang="en-US" dirty="0"/>
          </a:p>
          <a:p>
            <a:r>
              <a:rPr lang="zh-CN" altLang="en-US" dirty="0"/>
              <a:t>🎵 </a:t>
            </a:r>
            <a:r>
              <a:rPr lang="en-US" altLang="zh-CN" dirty="0" err="1"/>
              <a:t>AudioPlayer</a:t>
            </a:r>
            <a:r>
              <a:rPr lang="zh-CN" altLang="en-US" dirty="0"/>
              <a:t>：封装 </a:t>
            </a:r>
            <a:r>
              <a:rPr lang="en-US" altLang="zh-CN" dirty="0" err="1"/>
              <a:t>SDL_mixer</a:t>
            </a:r>
            <a:r>
              <a:rPr lang="en-US" altLang="zh-CN" dirty="0"/>
              <a:t> </a:t>
            </a:r>
            <a:r>
              <a:rPr lang="zh-CN" altLang="en-US" dirty="0"/>
              <a:t>的统一播放接口</a:t>
            </a:r>
          </a:p>
          <a:p>
            <a:r>
              <a:rPr lang="zh-CN" altLang="en-US" dirty="0"/>
              <a:t>🔊 </a:t>
            </a:r>
            <a:r>
              <a:rPr lang="en-US" altLang="zh-CN" dirty="0" err="1"/>
              <a:t>AudioComponent</a:t>
            </a:r>
            <a:r>
              <a:rPr lang="zh-CN" altLang="en-US" dirty="0"/>
              <a:t>：对象专属的音效管理</a:t>
            </a:r>
          </a:p>
          <a:p>
            <a:r>
              <a:rPr lang="zh-CN" altLang="en-US" dirty="0"/>
              <a:t>📝 数据驱动：</a:t>
            </a:r>
            <a:r>
              <a:rPr lang="en-US" altLang="zh-CN" dirty="0"/>
              <a:t>Tiled </a:t>
            </a:r>
            <a:r>
              <a:rPr lang="zh-CN" altLang="en-US" dirty="0"/>
              <a:t>配置音效，自动加载</a:t>
            </a:r>
          </a:p>
          <a:p>
            <a:r>
              <a:rPr lang="zh-CN" altLang="en-US" dirty="0"/>
              <a:t>🎼 逻辑解耦：音效</a:t>
            </a:r>
            <a:r>
              <a:rPr lang="en-US" altLang="zh-CN" dirty="0"/>
              <a:t>ID</a:t>
            </a:r>
            <a:r>
              <a:rPr lang="zh-CN" altLang="en-US" dirty="0"/>
              <a:t>与文件路径分离</a:t>
            </a:r>
          </a:p>
          <a:p>
            <a:r>
              <a:rPr lang="zh-CN" altLang="en-US" dirty="0"/>
              <a:t>🎚️ 音量控制：背景音乐和音效独立调节</a:t>
            </a:r>
          </a:p>
          <a:p>
            <a:r>
              <a:rPr lang="zh-CN" altLang="en-US" dirty="0"/>
              <a:t>🌍 空间音频：简化版的距离判断</a:t>
            </a:r>
          </a:p>
          <a:p>
            <a:r>
              <a:rPr lang="zh-CN" altLang="en-US" dirty="0"/>
              <a:t>🔄 双重接口：组件播放 </a:t>
            </a:r>
            <a:r>
              <a:rPr lang="en-US" altLang="zh-CN" dirty="0"/>
              <a:t>+ </a:t>
            </a:r>
            <a:r>
              <a:rPr lang="zh-CN" altLang="en-US" dirty="0"/>
              <a:t>直接播放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096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73EA-5D48-CD92-2017-993F3FEA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0988B-105E-7882-0C1C-92423EE9F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我们回顾一下本课的成果</a:t>
            </a:r>
            <a:r>
              <a:rPr lang="en-US" altLang="zh-CN" dirty="0"/>
              <a:t>——</a:t>
            </a:r>
            <a:r>
              <a:rPr lang="zh-CN" altLang="en-US" dirty="0"/>
              <a:t>引擎层：我们拥有了可复用的 </a:t>
            </a:r>
            <a:r>
              <a:rPr lang="en-US" altLang="zh-CN" dirty="0" err="1"/>
              <a:t>AudioPlayer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AudioComponent</a:t>
            </a:r>
            <a:r>
              <a:rPr lang="zh-CN" altLang="en-US" dirty="0"/>
              <a:t>。数据驱动：我们可以在 </a:t>
            </a:r>
            <a:r>
              <a:rPr lang="en-US" altLang="zh-CN" dirty="0"/>
              <a:t>Tiled </a:t>
            </a:r>
            <a:r>
              <a:rPr lang="zh-CN" altLang="en-US" dirty="0"/>
              <a:t>中为任何对象配置它自己的声音，无需修改一行代码。游戏层：我们将音效与玩家状态、敌人</a:t>
            </a:r>
            <a:r>
              <a:rPr lang="en-US" altLang="zh-CN" dirty="0"/>
              <a:t>AI</a:t>
            </a:r>
            <a:r>
              <a:rPr lang="zh-CN" altLang="en-US" dirty="0"/>
              <a:t>和场景事件紧密结合，提供了丰富的听觉反馈。这套系统不仅让我们的游戏体验大幅提升，也再次印证了分层架构和组件化设计的强大威力。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900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6C0B-09F8-3947-1299-CBF09F03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🚀 下一步展望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52F9D-50F3-84B4-1CE7-C8583BF07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154"/>
            <a:ext cx="10515600" cy="5144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现在，我们的</a:t>
            </a:r>
            <a:r>
              <a:rPr lang="en-US" altLang="zh-CN" dirty="0"/>
              <a:t>"</a:t>
            </a:r>
            <a:r>
              <a:rPr lang="zh-CN" altLang="en-US" dirty="0"/>
              <a:t>阳光岛</a:t>
            </a:r>
            <a:r>
              <a:rPr lang="en-US" altLang="zh-CN" dirty="0"/>
              <a:t>"</a:t>
            </a:r>
            <a:r>
              <a:rPr lang="zh-CN" altLang="en-US" dirty="0"/>
              <a:t>已经有了完整的视觉、交互和听觉系统。但游戏只有一个关卡，玩家无法体验到更多内容。</a:t>
            </a:r>
          </a:p>
          <a:p>
            <a:r>
              <a:rPr lang="zh-CN" altLang="en-US" dirty="0"/>
              <a:t>❓ 如何设计多个关卡？</a:t>
            </a:r>
          </a:p>
          <a:p>
            <a:r>
              <a:rPr lang="zh-CN" altLang="en-US" dirty="0"/>
              <a:t>❓ 如何在关卡之间切换？</a:t>
            </a:r>
          </a:p>
          <a:p>
            <a:r>
              <a:rPr lang="zh-CN" altLang="en-US" dirty="0"/>
              <a:t>❓ 如何在关卡间共享游戏数据？</a:t>
            </a:r>
          </a:p>
          <a:p>
            <a:pPr marL="0" indent="0">
              <a:buNone/>
            </a:pPr>
            <a:r>
              <a:rPr lang="zh-CN" altLang="en-US" dirty="0"/>
              <a:t>下一课，我们将继续扩展游戏世界：</a:t>
            </a:r>
          </a:p>
          <a:p>
            <a:r>
              <a:rPr lang="zh-CN" altLang="en-US" dirty="0"/>
              <a:t>🗺️ </a:t>
            </a:r>
            <a:r>
              <a:rPr lang="zh-CN" altLang="en-US" b="1" dirty="0"/>
              <a:t>关卡切换</a:t>
            </a:r>
            <a:r>
              <a:rPr lang="zh-CN" altLang="en-US" dirty="0"/>
              <a:t>：实现多关卡系统</a:t>
            </a:r>
          </a:p>
          <a:p>
            <a:r>
              <a:rPr lang="zh-CN" altLang="en-US" dirty="0"/>
              <a:t>🚪 </a:t>
            </a:r>
            <a:r>
              <a:rPr lang="zh-CN" altLang="en-US" b="1" dirty="0"/>
              <a:t>传送门机制</a:t>
            </a:r>
            <a:r>
              <a:rPr lang="zh-CN" altLang="en-US" dirty="0"/>
              <a:t>：关卡间的过渡</a:t>
            </a:r>
          </a:p>
          <a:p>
            <a:r>
              <a:rPr lang="zh-CN" altLang="en-US" dirty="0"/>
              <a:t>💾 </a:t>
            </a:r>
            <a:r>
              <a:rPr lang="zh-CN" altLang="en-US" b="1" dirty="0"/>
              <a:t>共享游戏数据</a:t>
            </a:r>
            <a:r>
              <a:rPr lang="zh-CN" altLang="en-US" dirty="0"/>
              <a:t>：玩家状态的保持</a:t>
            </a:r>
          </a:p>
          <a:p>
            <a:r>
              <a:rPr lang="zh-CN" altLang="en-US" dirty="0"/>
              <a:t>🎮 </a:t>
            </a:r>
            <a:r>
              <a:rPr lang="zh-CN" altLang="en-US" b="1" dirty="0"/>
              <a:t>更丰富的游戏内容</a:t>
            </a:r>
            <a:r>
              <a:rPr lang="zh-CN" altLang="en-US" dirty="0"/>
              <a:t>：构建完整的游戏流程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197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1510</Words>
  <Application>Microsoft Office PowerPoint</Application>
  <PresentationFormat>Widescreen</PresentationFormat>
  <Paragraphs>176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-apple-system</vt:lpstr>
      <vt:lpstr>source-code-pro</vt:lpstr>
      <vt:lpstr>Aptos</vt:lpstr>
      <vt:lpstr>Aptos Display</vt:lpstr>
      <vt:lpstr>Arial</vt:lpstr>
      <vt:lpstr>Office Theme</vt:lpstr>
      <vt:lpstr>音频引擎与音频组件</vt:lpstr>
      <vt:lpstr>📌 问题背景</vt:lpstr>
      <vt:lpstr>PowerPoint Presentation</vt:lpstr>
      <vt:lpstr>💡 解决方案：完整的音频系统</vt:lpstr>
      <vt:lpstr>核心思想：</vt:lpstr>
      <vt:lpstr>PowerPoint Presentation</vt:lpstr>
      <vt:lpstr>🎯 本课目标</vt:lpstr>
      <vt:lpstr>第一部分：引擎层音频系统</vt:lpstr>
      <vt:lpstr>1. 音频播放器：AudioPlayer</vt:lpstr>
      <vt:lpstr>PowerPoint Presentation</vt:lpstr>
      <vt:lpstr>💡 设计亮点：单一职责原则</vt:lpstr>
      <vt:lpstr>PowerPoint Presentation</vt:lpstr>
      <vt:lpstr>PowerPoint Presentation</vt:lpstr>
      <vt:lpstr>2. AudioPlayer 实现</vt:lpstr>
      <vt:lpstr>💡 C++封装的优势</vt:lpstr>
      <vt:lpstr>第二部分：引擎集成与组件化</vt:lpstr>
      <vt:lpstr>3. 集成到引擎核心</vt:lpstr>
      <vt:lpstr>4. 音频组件：AudioComponent</vt:lpstr>
      <vt:lpstr>PowerPoint Presentation</vt:lpstr>
      <vt:lpstr>PowerPoint Presentation</vt:lpstr>
      <vt:lpstr>空间音频预留</vt:lpstr>
      <vt:lpstr>第三部分：数据驱动的音效配置</vt:lpstr>
      <vt:lpstr>6. LevelLoader 读取音效配置</vt:lpstr>
      <vt:lpstr>PowerPoint Presentation</vt:lpstr>
      <vt:lpstr>第四部分：在游戏中发声！</vt:lpstr>
      <vt:lpstr>7. 背景音乐与全局音量</vt:lpstr>
      <vt:lpstr>8. 玩家状态音效</vt:lpstr>
      <vt:lpstr>第二步：在各状态中播放音效</vt:lpstr>
      <vt:lpstr>9. 敌人AI音效</vt:lpstr>
      <vt:lpstr>10. 场景事件音效</vt:lpstr>
      <vt:lpstr>🎯 系统架构总结</vt:lpstr>
      <vt:lpstr>📚 总结</vt:lpstr>
      <vt:lpstr>💡 设计哲学</vt:lpstr>
      <vt:lpstr>🚀 下一步展望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3</cp:revision>
  <dcterms:created xsi:type="dcterms:W3CDTF">2025-11-18T16:17:57Z</dcterms:created>
  <dcterms:modified xsi:type="dcterms:W3CDTF">2025-11-18T16:30:26Z</dcterms:modified>
</cp:coreProperties>
</file>