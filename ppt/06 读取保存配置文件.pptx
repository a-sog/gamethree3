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94FF6-4AEC-2315-FA4E-FC8DDEBFD8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B345A2-7F25-6D18-D59F-A92252BF05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F705FE-A2CD-25DB-8E78-74E674B9053B}"/>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5" name="Footer Placeholder 4">
            <a:extLst>
              <a:ext uri="{FF2B5EF4-FFF2-40B4-BE49-F238E27FC236}">
                <a16:creationId xmlns:a16="http://schemas.microsoft.com/office/drawing/2014/main" id="{AA1451A4-5D15-497C-F056-FBC623B54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10466C-E4D2-EC4D-EDE6-915F319DD3AC}"/>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3730786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489E0-2FDF-8ADF-2D73-7027516095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D31B2C-C6BA-A5C6-0123-0E7611C898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F994A8-2981-C76F-B49E-E2C6C387CB38}"/>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5" name="Footer Placeholder 4">
            <a:extLst>
              <a:ext uri="{FF2B5EF4-FFF2-40B4-BE49-F238E27FC236}">
                <a16:creationId xmlns:a16="http://schemas.microsoft.com/office/drawing/2014/main" id="{9506C784-BA5E-08BA-5182-BFD7036281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5DEA2D-1921-EBCC-5B10-639889B912B1}"/>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2664601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A9C07-7F9C-2584-3D6E-F12987FB3C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B64DC7-75EA-7FA3-46AE-308CA1EE67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0249D3-98EC-2AB1-9A45-35434ECFAC1F}"/>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5" name="Footer Placeholder 4">
            <a:extLst>
              <a:ext uri="{FF2B5EF4-FFF2-40B4-BE49-F238E27FC236}">
                <a16:creationId xmlns:a16="http://schemas.microsoft.com/office/drawing/2014/main" id="{E2364E66-C5CA-62D0-9A68-A0F6BF1B55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C513F4-BEC6-6024-DBE0-C380915D56B1}"/>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1754953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89F5B-9DA3-C895-32C3-F3A4A0D5A3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729C34-DA1E-8135-3DD1-B97B7AF080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519ABA-806F-5900-E6C2-36B279923C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F6333C-22A0-B440-5013-978AA8C740F6}"/>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6" name="Footer Placeholder 5">
            <a:extLst>
              <a:ext uri="{FF2B5EF4-FFF2-40B4-BE49-F238E27FC236}">
                <a16:creationId xmlns:a16="http://schemas.microsoft.com/office/drawing/2014/main" id="{47383F27-CB1B-5EF6-9918-4E03A8E9C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219679-BAEA-D36A-89C0-B56EDB621483}"/>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2223556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71F6-0DE8-565F-EEC4-A75C39F642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58AC17-1549-2997-DE23-CDF5B66DEA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37A633-E42A-EE7A-5947-E7F0FA12B0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301365-3BD0-0669-979E-6AF4699394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AF17DF-1E3E-4B49-5A61-AA88317DC9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C63FFC-7700-E3E4-A158-53EDB609FA42}"/>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8" name="Footer Placeholder 7">
            <a:extLst>
              <a:ext uri="{FF2B5EF4-FFF2-40B4-BE49-F238E27FC236}">
                <a16:creationId xmlns:a16="http://schemas.microsoft.com/office/drawing/2014/main" id="{FB7B7DA8-FB50-7B1D-7D89-11BEFF97DB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0A8131-474F-F974-29B2-231CF3C78CBA}"/>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3619963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FFCB8-5226-9A46-3ACA-0444072D5E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775E59-B4C1-8B1E-4301-C34942CEDEDD}"/>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4" name="Footer Placeholder 3">
            <a:extLst>
              <a:ext uri="{FF2B5EF4-FFF2-40B4-BE49-F238E27FC236}">
                <a16:creationId xmlns:a16="http://schemas.microsoft.com/office/drawing/2014/main" id="{86CD9639-9E5F-BD6A-15DC-A0F93C4EE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273B3E-2F56-067C-9130-DADA2BFF1C08}"/>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1136185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63419-EE5E-4513-2A0E-B6E93EFFAAEB}"/>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3" name="Footer Placeholder 2">
            <a:extLst>
              <a:ext uri="{FF2B5EF4-FFF2-40B4-BE49-F238E27FC236}">
                <a16:creationId xmlns:a16="http://schemas.microsoft.com/office/drawing/2014/main" id="{776018DC-2296-EF49-3CCA-170490091A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C99A97-5292-192D-B38C-D80400F13B37}"/>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809371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F6DD-ACDE-C700-52B2-E637EE9870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DF9241-1A0A-228E-2756-6017E5DE34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33B0AE-A579-0653-2A14-57272A2B36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469E1-2A02-D4CC-62C1-39CDA99DC3B1}"/>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6" name="Footer Placeholder 5">
            <a:extLst>
              <a:ext uri="{FF2B5EF4-FFF2-40B4-BE49-F238E27FC236}">
                <a16:creationId xmlns:a16="http://schemas.microsoft.com/office/drawing/2014/main" id="{9F068FB1-090B-0A08-32B0-31A88BE970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C0F918-3560-ABC8-8893-361D89FB6F6A}"/>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1513599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E122A-61BD-B086-E189-1536C008FA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009E80-E18F-1391-71A2-B8D773089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0BE509-3DEE-55A3-2D11-82ABB5FBD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55D15D-4501-6B79-4917-9B26B4212CFE}"/>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6" name="Footer Placeholder 5">
            <a:extLst>
              <a:ext uri="{FF2B5EF4-FFF2-40B4-BE49-F238E27FC236}">
                <a16:creationId xmlns:a16="http://schemas.microsoft.com/office/drawing/2014/main" id="{B1CFC567-F563-CF9B-143C-3601BF200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C638F-1701-D3D9-4E1E-373C7907DE69}"/>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1298868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70ADE-41FF-F23E-46DC-DD1DC2A117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5A44B5-50F7-83CD-1BD1-BB53977D9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7F66B4-35BB-8478-46F2-0DA223807310}"/>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5" name="Footer Placeholder 4">
            <a:extLst>
              <a:ext uri="{FF2B5EF4-FFF2-40B4-BE49-F238E27FC236}">
                <a16:creationId xmlns:a16="http://schemas.microsoft.com/office/drawing/2014/main" id="{F2CBFD81-7A2F-4C9D-324C-6B55B9A9F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61A2E4-3D75-E3DD-2E77-B1018EEAF595}"/>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1549214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1E06CE-03DF-D8B3-001B-EC9E3DA4A5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48FD55-E8E1-6625-717B-ECDA977BC2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6692AD-8A8B-5967-1350-024DD0CA438D}"/>
              </a:ext>
            </a:extLst>
          </p:cNvPr>
          <p:cNvSpPr>
            <a:spLocks noGrp="1"/>
          </p:cNvSpPr>
          <p:nvPr>
            <p:ph type="dt" sz="half" idx="10"/>
          </p:nvPr>
        </p:nvSpPr>
        <p:spPr/>
        <p:txBody>
          <a:bodyPr/>
          <a:lstStyle/>
          <a:p>
            <a:fld id="{AE49D627-311D-4800-ABF8-D2954C5C38D2}" type="datetimeFigureOut">
              <a:rPr lang="en-US" smtClean="0"/>
              <a:t>10/31/2025</a:t>
            </a:fld>
            <a:endParaRPr lang="en-US"/>
          </a:p>
        </p:txBody>
      </p:sp>
      <p:sp>
        <p:nvSpPr>
          <p:cNvPr id="5" name="Footer Placeholder 4">
            <a:extLst>
              <a:ext uri="{FF2B5EF4-FFF2-40B4-BE49-F238E27FC236}">
                <a16:creationId xmlns:a16="http://schemas.microsoft.com/office/drawing/2014/main" id="{7D9BB1CD-013F-2288-FE73-89169FA41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5A2AB6-8C74-703B-9D3F-38CDF1B50F03}"/>
              </a:ext>
            </a:extLst>
          </p:cNvPr>
          <p:cNvSpPr>
            <a:spLocks noGrp="1"/>
          </p:cNvSpPr>
          <p:nvPr>
            <p:ph type="sldNum" sz="quarter" idx="12"/>
          </p:nvPr>
        </p:nvSpPr>
        <p:spPr/>
        <p:txBody>
          <a:bodyPr/>
          <a:lstStyle/>
          <a:p>
            <a:fld id="{2466F52E-047A-43E0-8020-D58668E6E12C}" type="slidenum">
              <a:rPr lang="en-US" smtClean="0"/>
              <a:t>‹#›</a:t>
            </a:fld>
            <a:endParaRPr lang="en-US"/>
          </a:p>
        </p:txBody>
      </p:sp>
    </p:spTree>
    <p:extLst>
      <p:ext uri="{BB962C8B-B14F-4D97-AF65-F5344CB8AC3E}">
        <p14:creationId xmlns:p14="http://schemas.microsoft.com/office/powerpoint/2010/main" val="1383156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991854-B550-727C-830E-934FE1FEA4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390CFA-2B58-E194-20C8-D0C95E6913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41A03-C528-A38B-1058-10A72DF8C7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49D627-311D-4800-ABF8-D2954C5C38D2}" type="datetimeFigureOut">
              <a:rPr lang="en-US" smtClean="0"/>
              <a:t>10/31/2025</a:t>
            </a:fld>
            <a:endParaRPr lang="en-US"/>
          </a:p>
        </p:txBody>
      </p:sp>
      <p:sp>
        <p:nvSpPr>
          <p:cNvPr id="5" name="Footer Placeholder 4">
            <a:extLst>
              <a:ext uri="{FF2B5EF4-FFF2-40B4-BE49-F238E27FC236}">
                <a16:creationId xmlns:a16="http://schemas.microsoft.com/office/drawing/2014/main" id="{76A9C2E2-03A8-26E8-287E-037A928ED2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685BCD-7709-D5D3-AAE8-C949FBD45E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66F52E-047A-43E0-8020-D58668E6E12C}" type="slidenum">
              <a:rPr lang="en-US" smtClean="0"/>
              <a:t>‹#›</a:t>
            </a:fld>
            <a:endParaRPr lang="en-US"/>
          </a:p>
        </p:txBody>
      </p:sp>
    </p:spTree>
    <p:extLst>
      <p:ext uri="{BB962C8B-B14F-4D97-AF65-F5344CB8AC3E}">
        <p14:creationId xmlns:p14="http://schemas.microsoft.com/office/powerpoint/2010/main" val="2626704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B6268-2CA7-BC1F-E341-5DBF353BDF42}"/>
              </a:ext>
            </a:extLst>
          </p:cNvPr>
          <p:cNvSpPr>
            <a:spLocks noGrp="1"/>
          </p:cNvSpPr>
          <p:nvPr>
            <p:ph type="ctrTitle"/>
          </p:nvPr>
        </p:nvSpPr>
        <p:spPr/>
        <p:txBody>
          <a:bodyPr/>
          <a:lstStyle/>
          <a:p>
            <a:r>
              <a:rPr lang="zh-CN" altLang="en-US" b="1" dirty="0"/>
              <a:t>读取保存配置文件</a:t>
            </a:r>
            <a:endParaRPr lang="en-US" dirty="0"/>
          </a:p>
        </p:txBody>
      </p:sp>
      <p:sp>
        <p:nvSpPr>
          <p:cNvPr id="3" name="Subtitle 2">
            <a:extLst>
              <a:ext uri="{FF2B5EF4-FFF2-40B4-BE49-F238E27FC236}">
                <a16:creationId xmlns:a16="http://schemas.microsoft.com/office/drawing/2014/main" id="{A2F31A81-969D-4B79-70FC-FC23A72FE6B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6170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652E-6622-EDB1-2DA8-BD1692CBA6E0}"/>
              </a:ext>
            </a:extLst>
          </p:cNvPr>
          <p:cNvSpPr>
            <a:spLocks noGrp="1"/>
          </p:cNvSpPr>
          <p:nvPr>
            <p:ph type="title"/>
          </p:nvPr>
        </p:nvSpPr>
        <p:spPr/>
        <p:txBody>
          <a:bodyPr/>
          <a:lstStyle/>
          <a:p>
            <a:r>
              <a:rPr lang="zh-CN" altLang="en-US" b="1" dirty="0"/>
              <a:t>📌 问题背景</a:t>
            </a:r>
            <a:endParaRPr lang="en-US" dirty="0"/>
          </a:p>
        </p:txBody>
      </p:sp>
      <p:sp>
        <p:nvSpPr>
          <p:cNvPr id="3" name="Content Placeholder 2">
            <a:extLst>
              <a:ext uri="{FF2B5EF4-FFF2-40B4-BE49-F238E27FC236}">
                <a16:creationId xmlns:a16="http://schemas.microsoft.com/office/drawing/2014/main" id="{510256CB-085F-7581-78C0-5D794C55D77A}"/>
              </a:ext>
            </a:extLst>
          </p:cNvPr>
          <p:cNvSpPr>
            <a:spLocks noGrp="1"/>
          </p:cNvSpPr>
          <p:nvPr>
            <p:ph idx="1"/>
          </p:nvPr>
        </p:nvSpPr>
        <p:spPr/>
        <p:txBody>
          <a:bodyPr/>
          <a:lstStyle/>
          <a:p>
            <a:r>
              <a:rPr lang="zh-CN" altLang="en-US" dirty="0"/>
              <a:t>随着引擎功能的逐渐丰富，一个问题也日益凸显：我们的许多核心参数，如窗口大小、标题、目标帧率等，都是直接写在代码里的 </a:t>
            </a:r>
            <a:r>
              <a:rPr lang="en-US" altLang="zh-CN" b="1" dirty="0"/>
              <a:t>"</a:t>
            </a:r>
            <a:r>
              <a:rPr lang="zh-CN" altLang="en-US" b="1" dirty="0"/>
              <a:t>魔法数字</a:t>
            </a:r>
            <a:r>
              <a:rPr lang="en-US" altLang="zh-CN" b="1" dirty="0"/>
              <a:t>"</a:t>
            </a:r>
            <a:r>
              <a:rPr lang="zh-CN" altLang="en-US" b="1" dirty="0"/>
              <a:t>（</a:t>
            </a:r>
            <a:r>
              <a:rPr lang="en-US" altLang="zh-CN" b="1" dirty="0"/>
              <a:t>Magic Numbers</a:t>
            </a:r>
            <a:r>
              <a:rPr lang="zh-CN" altLang="en-US" b="1" dirty="0"/>
              <a:t>）</a:t>
            </a:r>
            <a:r>
              <a:rPr lang="zh-CN" altLang="en-US" dirty="0"/>
              <a:t>。这种硬编码的方式极大地降低了灵活性。如果我们想改变窗口大小，就必须修改代码并重新编译。</a:t>
            </a:r>
          </a:p>
          <a:p>
            <a:r>
              <a:rPr lang="zh-CN" altLang="en-US" dirty="0"/>
              <a:t>为了解决这个问题，本节课我们将引入一个配置管理系统。我们将创建一个 </a:t>
            </a:r>
            <a:r>
              <a:rPr lang="en-US" altLang="zh-CN" dirty="0"/>
              <a:t>Config</a:t>
            </a:r>
            <a:r>
              <a:rPr lang="zh-CN" altLang="en-US" dirty="0"/>
              <a:t> 类，负责从一个外部的 </a:t>
            </a:r>
            <a:r>
              <a:rPr lang="en-US" altLang="zh-CN" dirty="0" err="1"/>
              <a:t>config.json</a:t>
            </a:r>
            <a:r>
              <a:rPr lang="zh-CN" altLang="en-US" dirty="0"/>
              <a:t> 文件中读取所有设置。这不仅让调整参数变得轻而易举，也为未来让玩家自定义游戏设置（如画质、音量、键位）打下了基础。</a:t>
            </a:r>
          </a:p>
          <a:p>
            <a:endParaRPr lang="en-US" dirty="0"/>
          </a:p>
        </p:txBody>
      </p:sp>
    </p:spTree>
    <p:extLst>
      <p:ext uri="{BB962C8B-B14F-4D97-AF65-F5344CB8AC3E}">
        <p14:creationId xmlns:p14="http://schemas.microsoft.com/office/powerpoint/2010/main" val="215962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CBB25-6F8C-F924-4D15-016A19F9CBA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9999998-ACDC-EFE8-60BC-31FC03057EDC}"/>
              </a:ext>
            </a:extLst>
          </p:cNvPr>
          <p:cNvPicPr>
            <a:picLocks noGrp="1" noChangeAspect="1"/>
          </p:cNvPicPr>
          <p:nvPr>
            <p:ph idx="1"/>
          </p:nvPr>
        </p:nvPicPr>
        <p:blipFill>
          <a:blip r:embed="rId2"/>
          <a:stretch>
            <a:fillRect/>
          </a:stretch>
        </p:blipFill>
        <p:spPr>
          <a:xfrm>
            <a:off x="1920975" y="1690689"/>
            <a:ext cx="7502596" cy="4152200"/>
          </a:xfrm>
          <a:prstGeom prst="rect">
            <a:avLst/>
          </a:prstGeom>
        </p:spPr>
      </p:pic>
    </p:spTree>
    <p:extLst>
      <p:ext uri="{BB962C8B-B14F-4D97-AF65-F5344CB8AC3E}">
        <p14:creationId xmlns:p14="http://schemas.microsoft.com/office/powerpoint/2010/main" val="1486559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CE7AB-69FD-53CF-93E8-5B056B972D93}"/>
              </a:ext>
            </a:extLst>
          </p:cNvPr>
          <p:cNvSpPr>
            <a:spLocks noGrp="1"/>
          </p:cNvSpPr>
          <p:nvPr>
            <p:ph type="title"/>
          </p:nvPr>
        </p:nvSpPr>
        <p:spPr/>
        <p:txBody>
          <a:bodyPr/>
          <a:lstStyle/>
          <a:p>
            <a:r>
              <a:rPr lang="en-US" b="1" dirty="0"/>
              <a:t>1. </a:t>
            </a:r>
            <a:r>
              <a:rPr lang="en-US" b="1" dirty="0" err="1"/>
              <a:t>config.json</a:t>
            </a:r>
            <a:r>
              <a:rPr lang="en-US" b="1" dirty="0"/>
              <a:t>：</a:t>
            </a:r>
            <a:r>
              <a:rPr lang="zh-CN" altLang="en-US" b="1" dirty="0"/>
              <a:t>引擎的</a:t>
            </a:r>
            <a:r>
              <a:rPr lang="en-US" altLang="zh-CN" b="1" dirty="0"/>
              <a:t>"</a:t>
            </a:r>
            <a:r>
              <a:rPr lang="zh-CN" altLang="en-US" b="1" dirty="0"/>
              <a:t>大脑</a:t>
            </a:r>
            <a:r>
              <a:rPr lang="en-US" altLang="zh-CN" b="1" dirty="0"/>
              <a:t>"</a:t>
            </a:r>
            <a:endParaRPr lang="en-US" dirty="0"/>
          </a:p>
        </p:txBody>
      </p:sp>
      <p:sp>
        <p:nvSpPr>
          <p:cNvPr id="3" name="Content Placeholder 2">
            <a:extLst>
              <a:ext uri="{FF2B5EF4-FFF2-40B4-BE49-F238E27FC236}">
                <a16:creationId xmlns:a16="http://schemas.microsoft.com/office/drawing/2014/main" id="{8E0B5507-E65B-3A35-63B5-97AE2E166CC9}"/>
              </a:ext>
            </a:extLst>
          </p:cNvPr>
          <p:cNvSpPr>
            <a:spLocks noGrp="1"/>
          </p:cNvSpPr>
          <p:nvPr>
            <p:ph idx="1"/>
          </p:nvPr>
        </p:nvSpPr>
        <p:spPr/>
        <p:txBody>
          <a:bodyPr/>
          <a:lstStyle/>
          <a:p>
            <a:r>
              <a:rPr lang="zh-CN" altLang="en-US" dirty="0"/>
              <a:t>首先，我们在 </a:t>
            </a:r>
            <a:r>
              <a:rPr lang="en-US" altLang="zh-CN" dirty="0"/>
              <a:t>assets</a:t>
            </a:r>
            <a:r>
              <a:rPr lang="zh-CN" altLang="en-US" dirty="0"/>
              <a:t> 目录下创建一个名为 </a:t>
            </a:r>
            <a:r>
              <a:rPr lang="en-US" altLang="zh-CN" dirty="0" err="1"/>
              <a:t>config.json</a:t>
            </a:r>
            <a:r>
              <a:rPr lang="zh-CN" altLang="en-US" dirty="0"/>
              <a:t> 的新文件。这个文件将成为我们引擎所有可配置选项的中央存储库。</a:t>
            </a:r>
            <a:endParaRPr lang="en-US" dirty="0"/>
          </a:p>
        </p:txBody>
      </p:sp>
      <p:pic>
        <p:nvPicPr>
          <p:cNvPr id="5" name="Picture 4">
            <a:extLst>
              <a:ext uri="{FF2B5EF4-FFF2-40B4-BE49-F238E27FC236}">
                <a16:creationId xmlns:a16="http://schemas.microsoft.com/office/drawing/2014/main" id="{AFF13D84-9801-E90D-E3B9-17A2795CA788}"/>
              </a:ext>
            </a:extLst>
          </p:cNvPr>
          <p:cNvPicPr>
            <a:picLocks noChangeAspect="1"/>
          </p:cNvPicPr>
          <p:nvPr/>
        </p:nvPicPr>
        <p:blipFill>
          <a:blip r:embed="rId2"/>
          <a:stretch>
            <a:fillRect/>
          </a:stretch>
        </p:blipFill>
        <p:spPr>
          <a:xfrm>
            <a:off x="1119554" y="2657584"/>
            <a:ext cx="3355372" cy="4018707"/>
          </a:xfrm>
          <a:prstGeom prst="rect">
            <a:avLst/>
          </a:prstGeom>
        </p:spPr>
      </p:pic>
    </p:spTree>
    <p:extLst>
      <p:ext uri="{BB962C8B-B14F-4D97-AF65-F5344CB8AC3E}">
        <p14:creationId xmlns:p14="http://schemas.microsoft.com/office/powerpoint/2010/main" val="1727917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D7CB-1EE3-DD18-4D81-4371AB1DC47C}"/>
              </a:ext>
            </a:extLst>
          </p:cNvPr>
          <p:cNvSpPr>
            <a:spLocks noGrp="1"/>
          </p:cNvSpPr>
          <p:nvPr>
            <p:ph type="title"/>
          </p:nvPr>
        </p:nvSpPr>
        <p:spPr/>
        <p:txBody>
          <a:bodyPr/>
          <a:lstStyle/>
          <a:p>
            <a:r>
              <a:rPr lang="zh-CN" altLang="en-US" b="1" dirty="0"/>
              <a:t>配置文件包含的内容</a:t>
            </a:r>
            <a:endParaRPr lang="en-US" dirty="0"/>
          </a:p>
        </p:txBody>
      </p:sp>
      <p:sp>
        <p:nvSpPr>
          <p:cNvPr id="3" name="Content Placeholder 2">
            <a:extLst>
              <a:ext uri="{FF2B5EF4-FFF2-40B4-BE49-F238E27FC236}">
                <a16:creationId xmlns:a16="http://schemas.microsoft.com/office/drawing/2014/main" id="{28A86D02-3D2E-6CD6-910E-9394FF2EE2DA}"/>
              </a:ext>
            </a:extLst>
          </p:cNvPr>
          <p:cNvSpPr>
            <a:spLocks noGrp="1"/>
          </p:cNvSpPr>
          <p:nvPr>
            <p:ph idx="1"/>
          </p:nvPr>
        </p:nvSpPr>
        <p:spPr/>
        <p:txBody>
          <a:bodyPr/>
          <a:lstStyle/>
          <a:p>
            <a:pPr marL="0" indent="0">
              <a:buNone/>
            </a:pPr>
            <a:r>
              <a:rPr lang="zh-CN" altLang="en-US" dirty="0"/>
              <a:t>如你所见，我们把以下配置都定义在了这里：</a:t>
            </a:r>
          </a:p>
          <a:p>
            <a:r>
              <a:rPr lang="zh-CN" altLang="en-US" b="1" dirty="0"/>
              <a:t>窗口设置</a:t>
            </a:r>
            <a:r>
              <a:rPr lang="zh-CN" altLang="en-US" dirty="0"/>
              <a:t>：标题、尺寸、是否可调整大小</a:t>
            </a:r>
          </a:p>
          <a:p>
            <a:r>
              <a:rPr lang="zh-CN" altLang="en-US" b="1" dirty="0"/>
              <a:t>图形选项</a:t>
            </a:r>
            <a:r>
              <a:rPr lang="zh-CN" altLang="en-US" dirty="0"/>
              <a:t>：垂直同步（</a:t>
            </a:r>
            <a:r>
              <a:rPr lang="en-US" altLang="zh-CN" dirty="0" err="1"/>
              <a:t>VSync</a:t>
            </a:r>
            <a:r>
              <a:rPr lang="zh-CN" altLang="en-US" dirty="0"/>
              <a:t>）</a:t>
            </a:r>
          </a:p>
          <a:p>
            <a:r>
              <a:rPr lang="zh-CN" altLang="en-US" b="1" dirty="0"/>
              <a:t>性能目标</a:t>
            </a:r>
            <a:r>
              <a:rPr lang="zh-CN" altLang="en-US" dirty="0"/>
              <a:t>：目标帧率</a:t>
            </a:r>
          </a:p>
          <a:p>
            <a:r>
              <a:rPr lang="zh-CN" altLang="en-US" b="1" dirty="0"/>
              <a:t>音频设置</a:t>
            </a:r>
            <a:r>
              <a:rPr lang="zh-CN" altLang="en-US" dirty="0"/>
              <a:t>：音乐音量、音效音量</a:t>
            </a:r>
          </a:p>
          <a:p>
            <a:r>
              <a:rPr lang="zh-CN" altLang="en-US" b="1" dirty="0"/>
              <a:t>输入映射</a:t>
            </a:r>
            <a:r>
              <a:rPr lang="zh-CN" altLang="en-US" dirty="0"/>
              <a:t>：未来的按键绑定配置</a:t>
            </a:r>
          </a:p>
          <a:p>
            <a:endParaRPr lang="en-US" dirty="0"/>
          </a:p>
        </p:txBody>
      </p:sp>
    </p:spTree>
    <p:extLst>
      <p:ext uri="{BB962C8B-B14F-4D97-AF65-F5344CB8AC3E}">
        <p14:creationId xmlns:p14="http://schemas.microsoft.com/office/powerpoint/2010/main" val="1479140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406E-B74E-11D2-FE8C-3DC4AFB55213}"/>
              </a:ext>
            </a:extLst>
          </p:cNvPr>
          <p:cNvSpPr>
            <a:spLocks noGrp="1"/>
          </p:cNvSpPr>
          <p:nvPr>
            <p:ph type="title"/>
          </p:nvPr>
        </p:nvSpPr>
        <p:spPr/>
        <p:txBody>
          <a:bodyPr/>
          <a:lstStyle/>
          <a:p>
            <a:r>
              <a:rPr lang="en-US" b="1" dirty="0"/>
              <a:t>2. Config </a:t>
            </a:r>
            <a:r>
              <a:rPr lang="zh-CN" altLang="en-US" b="1" dirty="0"/>
              <a:t>类：配置的管理者</a:t>
            </a:r>
            <a:endParaRPr lang="en-US" dirty="0"/>
          </a:p>
        </p:txBody>
      </p:sp>
      <p:sp>
        <p:nvSpPr>
          <p:cNvPr id="3" name="Content Placeholder 2">
            <a:extLst>
              <a:ext uri="{FF2B5EF4-FFF2-40B4-BE49-F238E27FC236}">
                <a16:creationId xmlns:a16="http://schemas.microsoft.com/office/drawing/2014/main" id="{DA52C83C-1A1A-D7E1-227D-E57E1EE8F437}"/>
              </a:ext>
            </a:extLst>
          </p:cNvPr>
          <p:cNvSpPr>
            <a:spLocks noGrp="1"/>
          </p:cNvSpPr>
          <p:nvPr>
            <p:ph idx="1"/>
          </p:nvPr>
        </p:nvSpPr>
        <p:spPr/>
        <p:txBody>
          <a:bodyPr/>
          <a:lstStyle/>
          <a:p>
            <a:pPr marL="0" indent="0">
              <a:buNone/>
            </a:pPr>
            <a:r>
              <a:rPr lang="zh-CN" altLang="en-US" dirty="0"/>
              <a:t>接下来，我们将在 </a:t>
            </a:r>
            <a:r>
              <a:rPr lang="en-US" altLang="zh-CN" dirty="0"/>
              <a:t>engine/core</a:t>
            </a:r>
            <a:r>
              <a:rPr lang="zh-CN" altLang="en-US" dirty="0"/>
              <a:t> 目录下创建一个新的 </a:t>
            </a:r>
            <a:r>
              <a:rPr lang="en-US" altLang="zh-CN" dirty="0"/>
              <a:t>Config</a:t>
            </a:r>
            <a:r>
              <a:rPr lang="zh-CN" altLang="en-US" dirty="0"/>
              <a:t> 类。它的职责很简单：</a:t>
            </a:r>
            <a:endParaRPr lang="en-US" altLang="zh-CN" dirty="0"/>
          </a:p>
          <a:p>
            <a:r>
              <a:rPr lang="zh-CN" altLang="en-US" b="1" dirty="0"/>
              <a:t>核心功能</a:t>
            </a:r>
          </a:p>
          <a:p>
            <a:pPr marL="0" indent="0">
              <a:buNone/>
            </a:pPr>
            <a:r>
              <a:rPr lang="zh-CN" altLang="en-US" dirty="0"/>
              <a:t>✅ 在程序启动时，加载 </a:t>
            </a:r>
            <a:r>
              <a:rPr lang="en-US" altLang="zh-CN" dirty="0" err="1"/>
              <a:t>config.json</a:t>
            </a:r>
            <a:r>
              <a:rPr lang="zh-CN" altLang="en-US" dirty="0"/>
              <a:t> 文件</a:t>
            </a:r>
          </a:p>
          <a:p>
            <a:pPr marL="0" indent="0">
              <a:buNone/>
            </a:pPr>
            <a:r>
              <a:rPr lang="zh-CN" altLang="en-US" dirty="0"/>
              <a:t>✅ 将 </a:t>
            </a:r>
            <a:r>
              <a:rPr lang="en-US" altLang="zh-CN" dirty="0"/>
              <a:t>JSON </a:t>
            </a:r>
            <a:r>
              <a:rPr lang="zh-CN" altLang="en-US" dirty="0"/>
              <a:t>中的数据解析并存储到类的成员变量中</a:t>
            </a:r>
          </a:p>
          <a:p>
            <a:pPr marL="0" indent="0">
              <a:buNone/>
            </a:pPr>
            <a:r>
              <a:rPr lang="zh-CN" altLang="en-US" dirty="0"/>
              <a:t>✅ 提供一个 </a:t>
            </a:r>
            <a:r>
              <a:rPr lang="en-US" altLang="zh-CN" dirty="0" err="1"/>
              <a:t>saveToFile</a:t>
            </a:r>
            <a:r>
              <a:rPr lang="zh-CN" altLang="en-US" dirty="0"/>
              <a:t> 方法，以便在需要时（比如玩家修改了设置）将当前配置写回文件</a:t>
            </a:r>
          </a:p>
          <a:p>
            <a:pPr marL="0" indent="0">
              <a:buNone/>
            </a:pPr>
            <a:endParaRPr lang="en-US" dirty="0"/>
          </a:p>
        </p:txBody>
      </p:sp>
    </p:spTree>
    <p:extLst>
      <p:ext uri="{BB962C8B-B14F-4D97-AF65-F5344CB8AC3E}">
        <p14:creationId xmlns:p14="http://schemas.microsoft.com/office/powerpoint/2010/main" val="1981258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9C8EC-0760-7DD2-7A97-0CF6441E5EE3}"/>
              </a:ext>
            </a:extLst>
          </p:cNvPr>
          <p:cNvSpPr>
            <a:spLocks noGrp="1"/>
          </p:cNvSpPr>
          <p:nvPr>
            <p:ph type="title"/>
          </p:nvPr>
        </p:nvSpPr>
        <p:spPr/>
        <p:txBody>
          <a:bodyPr/>
          <a:lstStyle/>
          <a:p>
            <a:r>
              <a:rPr lang="zh-CN" altLang="en-US" b="1" dirty="0"/>
              <a:t>健壮性设计</a:t>
            </a:r>
            <a:endParaRPr lang="en-US" dirty="0"/>
          </a:p>
        </p:txBody>
      </p:sp>
      <p:sp>
        <p:nvSpPr>
          <p:cNvPr id="3" name="Content Placeholder 2">
            <a:extLst>
              <a:ext uri="{FF2B5EF4-FFF2-40B4-BE49-F238E27FC236}">
                <a16:creationId xmlns:a16="http://schemas.microsoft.com/office/drawing/2014/main" id="{893E1748-1999-86F6-C277-498A5313CABC}"/>
              </a:ext>
            </a:extLst>
          </p:cNvPr>
          <p:cNvSpPr>
            <a:spLocks noGrp="1"/>
          </p:cNvSpPr>
          <p:nvPr>
            <p:ph idx="1"/>
          </p:nvPr>
        </p:nvSpPr>
        <p:spPr/>
        <p:txBody>
          <a:bodyPr/>
          <a:lstStyle/>
          <a:p>
            <a:pPr marL="0" indent="0">
              <a:buNone/>
            </a:pPr>
            <a:r>
              <a:rPr lang="zh-CN" altLang="en-US" dirty="0"/>
              <a:t>💡 如果 </a:t>
            </a:r>
            <a:r>
              <a:rPr lang="en-US" altLang="zh-CN" dirty="0" err="1"/>
              <a:t>config.json</a:t>
            </a:r>
            <a:r>
              <a:rPr lang="zh-CN" altLang="en-US" dirty="0"/>
              <a:t> 文件不存在，它会自动用默认值创建一个。如果文件内容损坏或缺少某些字段，它会使用预设的默认值，保证程序不会因此崩溃。</a:t>
            </a:r>
          </a:p>
          <a:p>
            <a:endParaRPr lang="en-US" dirty="0"/>
          </a:p>
        </p:txBody>
      </p:sp>
    </p:spTree>
    <p:extLst>
      <p:ext uri="{BB962C8B-B14F-4D97-AF65-F5344CB8AC3E}">
        <p14:creationId xmlns:p14="http://schemas.microsoft.com/office/powerpoint/2010/main" val="1319877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D6A97-ECB9-9941-7D60-3472D86763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F536A4-EFF3-1A6E-F463-ED2F53993735}"/>
              </a:ext>
            </a:extLst>
          </p:cNvPr>
          <p:cNvSpPr>
            <a:spLocks noGrp="1"/>
          </p:cNvSpPr>
          <p:nvPr>
            <p:ph idx="1"/>
          </p:nvPr>
        </p:nvSpPr>
        <p:spPr/>
        <p:txBody>
          <a:bodyPr/>
          <a:lstStyle/>
          <a:p>
            <a:r>
              <a:rPr lang="en-US" altLang="zh-CN" dirty="0"/>
              <a:t>Config</a:t>
            </a:r>
            <a:r>
              <a:rPr lang="zh-CN" altLang="en-US" dirty="0"/>
              <a:t> 类的头文件定义了所有可配置的选项作为公有成员变量，并赋予它们默认值。这样做的好处是，引擎的其他部分可以非常直观地通过 </a:t>
            </a:r>
            <a:r>
              <a:rPr lang="en-US" altLang="zh-CN" dirty="0"/>
              <a:t>config-&gt;</a:t>
            </a:r>
            <a:r>
              <a:rPr lang="en-US" altLang="zh-CN" dirty="0" err="1"/>
              <a:t>window_width</a:t>
            </a:r>
            <a:r>
              <a:rPr lang="en-US" altLang="zh-CN" dirty="0"/>
              <a:t>_</a:t>
            </a:r>
            <a:r>
              <a:rPr lang="zh-CN" altLang="en-US" dirty="0"/>
              <a:t> 这样的方式来访问配置项。</a:t>
            </a:r>
            <a:endParaRPr lang="en-US" altLang="zh-CN" dirty="0"/>
          </a:p>
          <a:p>
            <a:endParaRPr lang="en-US" dirty="0"/>
          </a:p>
          <a:p>
            <a:r>
              <a:rPr lang="zh-CN" altLang="en-US" dirty="0"/>
              <a:t>实现文件中，我们充分利用了第二课学习的 </a:t>
            </a:r>
            <a:r>
              <a:rPr lang="en-US" altLang="zh-CN" dirty="0" err="1"/>
              <a:t>nlohmann</a:t>
            </a:r>
            <a:r>
              <a:rPr lang="en-US" altLang="zh-CN" dirty="0"/>
              <a:t>/</a:t>
            </a:r>
            <a:r>
              <a:rPr lang="en-US" altLang="zh-CN" dirty="0" err="1"/>
              <a:t>json</a:t>
            </a:r>
            <a:r>
              <a:rPr lang="zh-CN" altLang="en-US" dirty="0"/>
              <a:t> 库。</a:t>
            </a:r>
            <a:endParaRPr lang="en-US" dirty="0"/>
          </a:p>
        </p:txBody>
      </p:sp>
    </p:spTree>
    <p:extLst>
      <p:ext uri="{BB962C8B-B14F-4D97-AF65-F5344CB8AC3E}">
        <p14:creationId xmlns:p14="http://schemas.microsoft.com/office/powerpoint/2010/main" val="290301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DF824-2475-6497-1067-E49FC1600EAE}"/>
              </a:ext>
            </a:extLst>
          </p:cNvPr>
          <p:cNvSpPr>
            <a:spLocks noGrp="1"/>
          </p:cNvSpPr>
          <p:nvPr>
            <p:ph type="title"/>
          </p:nvPr>
        </p:nvSpPr>
        <p:spPr/>
        <p:txBody>
          <a:bodyPr/>
          <a:lstStyle/>
          <a:p>
            <a:r>
              <a:rPr lang="zh-CN" altLang="en-US" b="1" dirty="0"/>
              <a:t>关键方法说明</a:t>
            </a:r>
            <a:endParaRPr lang="en-US" dirty="0"/>
          </a:p>
        </p:txBody>
      </p:sp>
      <p:graphicFrame>
        <p:nvGraphicFramePr>
          <p:cNvPr id="4" name="Content Placeholder 3">
            <a:extLst>
              <a:ext uri="{FF2B5EF4-FFF2-40B4-BE49-F238E27FC236}">
                <a16:creationId xmlns:a16="http://schemas.microsoft.com/office/drawing/2014/main" id="{35A366D3-C97E-6056-EF3E-924D1DD76230}"/>
              </a:ext>
            </a:extLst>
          </p:cNvPr>
          <p:cNvGraphicFramePr>
            <a:graphicFrameLocks noGrp="1"/>
          </p:cNvGraphicFramePr>
          <p:nvPr>
            <p:ph idx="1"/>
            <p:extLst>
              <p:ext uri="{D42A27DB-BD31-4B8C-83A1-F6EECF244321}">
                <p14:modId xmlns:p14="http://schemas.microsoft.com/office/powerpoint/2010/main" val="3922871348"/>
              </p:ext>
            </p:extLst>
          </p:nvPr>
        </p:nvGraphicFramePr>
        <p:xfrm>
          <a:off x="838200" y="1761147"/>
          <a:ext cx="10515600" cy="450996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23145060"/>
                    </a:ext>
                  </a:extLst>
                </a:gridCol>
                <a:gridCol w="5257800">
                  <a:extLst>
                    <a:ext uri="{9D8B030D-6E8A-4147-A177-3AD203B41FA5}">
                      <a16:colId xmlns:a16="http://schemas.microsoft.com/office/drawing/2014/main" val="3893187105"/>
                    </a:ext>
                  </a:extLst>
                </a:gridCol>
              </a:tblGrid>
              <a:tr h="746223">
                <a:tc>
                  <a:txBody>
                    <a:bodyPr/>
                    <a:lstStyle/>
                    <a:p>
                      <a:pPr algn="l">
                        <a:buNone/>
                      </a:pPr>
                      <a:r>
                        <a:rPr lang="zh-CN" altLang="en-US" b="1" dirty="0">
                          <a:effectLst/>
                        </a:rPr>
                        <a:t>方法</a:t>
                      </a:r>
                    </a:p>
                  </a:txBody>
                  <a:tcPr anchor="ctr"/>
                </a:tc>
                <a:tc>
                  <a:txBody>
                    <a:bodyPr/>
                    <a:lstStyle/>
                    <a:p>
                      <a:pPr algn="l">
                        <a:buNone/>
                      </a:pPr>
                      <a:r>
                        <a:rPr lang="zh-CN" altLang="en-US" b="1">
                          <a:effectLst/>
                        </a:rPr>
                        <a:t>功能描述</a:t>
                      </a:r>
                    </a:p>
                  </a:txBody>
                  <a:tcPr anchor="ctr"/>
                </a:tc>
                <a:extLst>
                  <a:ext uri="{0D108BD9-81ED-4DB2-BD59-A6C34878D82A}">
                    <a16:rowId xmlns:a16="http://schemas.microsoft.com/office/drawing/2014/main" val="679321162"/>
                  </a:ext>
                </a:extLst>
              </a:tr>
              <a:tr h="746223">
                <a:tc>
                  <a:txBody>
                    <a:bodyPr/>
                    <a:lstStyle/>
                    <a:p>
                      <a:pPr>
                        <a:buNone/>
                      </a:pPr>
                      <a:r>
                        <a:rPr lang="en-US" dirty="0" err="1">
                          <a:solidFill>
                            <a:schemeClr val="tx1"/>
                          </a:solidFill>
                          <a:effectLst/>
                          <a:latin typeface="source-code-pro"/>
                        </a:rPr>
                        <a:t>loadFromFile</a:t>
                      </a:r>
                      <a:r>
                        <a:rPr lang="en-US" dirty="0">
                          <a:solidFill>
                            <a:schemeClr val="tx1"/>
                          </a:solidFill>
                          <a:effectLst/>
                          <a:latin typeface="source-code-pro"/>
                        </a:rPr>
                        <a:t>()</a:t>
                      </a:r>
                      <a:endParaRPr lang="en-US" dirty="0">
                        <a:solidFill>
                          <a:schemeClr val="tx1"/>
                        </a:solidFill>
                        <a:effectLst/>
                      </a:endParaRPr>
                    </a:p>
                  </a:txBody>
                  <a:tcPr anchor="ctr"/>
                </a:tc>
                <a:tc>
                  <a:txBody>
                    <a:bodyPr/>
                    <a:lstStyle/>
                    <a:p>
                      <a:pPr>
                        <a:buNone/>
                      </a:pPr>
                      <a:r>
                        <a:rPr lang="zh-CN" altLang="en-US" dirty="0">
                          <a:effectLst/>
                        </a:rPr>
                        <a:t>尝试打开并解析 </a:t>
                      </a:r>
                      <a:r>
                        <a:rPr lang="en-US" altLang="zh-CN" dirty="0">
                          <a:effectLst/>
                        </a:rPr>
                        <a:t>JSON </a:t>
                      </a:r>
                      <a:r>
                        <a:rPr lang="zh-CN" altLang="en-US" dirty="0">
                          <a:effectLst/>
                        </a:rPr>
                        <a:t>文件。如果文件打不开，它会调用 </a:t>
                      </a:r>
                      <a:r>
                        <a:rPr lang="en-US" altLang="zh-CN" dirty="0" err="1">
                          <a:solidFill>
                            <a:srgbClr val="FF0000"/>
                          </a:solidFill>
                          <a:effectLst/>
                          <a:latin typeface="source-code-pro"/>
                        </a:rPr>
                        <a:t>saveToFile</a:t>
                      </a:r>
                      <a:r>
                        <a:rPr lang="en-US" altLang="zh-CN" dirty="0">
                          <a:solidFill>
                            <a:srgbClr val="FF0000"/>
                          </a:solidFill>
                          <a:effectLst/>
                          <a:latin typeface="source-code-pro"/>
                        </a:rPr>
                        <a:t>()</a:t>
                      </a:r>
                      <a:r>
                        <a:rPr lang="zh-CN" altLang="en-US" dirty="0">
                          <a:solidFill>
                            <a:srgbClr val="FF0000"/>
                          </a:solidFill>
                          <a:effectLst/>
                        </a:rPr>
                        <a:t> </a:t>
                      </a:r>
                      <a:r>
                        <a:rPr lang="zh-CN" altLang="en-US" dirty="0">
                          <a:effectLst/>
                        </a:rPr>
                        <a:t>来生成一个包含默认设置的新配置文件</a:t>
                      </a:r>
                    </a:p>
                  </a:txBody>
                  <a:tcPr anchor="ctr"/>
                </a:tc>
                <a:extLst>
                  <a:ext uri="{0D108BD9-81ED-4DB2-BD59-A6C34878D82A}">
                    <a16:rowId xmlns:a16="http://schemas.microsoft.com/office/drawing/2014/main" val="2953720855"/>
                  </a:ext>
                </a:extLst>
              </a:tr>
              <a:tr h="746223">
                <a:tc>
                  <a:txBody>
                    <a:bodyPr/>
                    <a:lstStyle/>
                    <a:p>
                      <a:pPr>
                        <a:buNone/>
                      </a:pPr>
                      <a:r>
                        <a:rPr lang="en-US" dirty="0" err="1">
                          <a:solidFill>
                            <a:schemeClr val="tx1"/>
                          </a:solidFill>
                          <a:effectLst/>
                          <a:latin typeface="source-code-pro"/>
                        </a:rPr>
                        <a:t>saveToFile</a:t>
                      </a:r>
                      <a:r>
                        <a:rPr lang="en-US" dirty="0">
                          <a:solidFill>
                            <a:schemeClr val="tx1"/>
                          </a:solidFill>
                          <a:effectLst/>
                          <a:latin typeface="source-code-pro"/>
                        </a:rPr>
                        <a:t>()</a:t>
                      </a:r>
                      <a:endParaRPr lang="en-US" dirty="0">
                        <a:solidFill>
                          <a:schemeClr val="tx1"/>
                        </a:solidFill>
                        <a:effectLst/>
                      </a:endParaRPr>
                    </a:p>
                  </a:txBody>
                  <a:tcPr anchor="ctr"/>
                </a:tc>
                <a:tc>
                  <a:txBody>
                    <a:bodyPr/>
                    <a:lstStyle/>
                    <a:p>
                      <a:pPr>
                        <a:buNone/>
                      </a:pPr>
                      <a:r>
                        <a:rPr lang="zh-CN" altLang="en-US" dirty="0">
                          <a:effectLst/>
                        </a:rPr>
                        <a:t>调用 </a:t>
                      </a:r>
                      <a:r>
                        <a:rPr lang="en-US" altLang="zh-CN" dirty="0" err="1">
                          <a:solidFill>
                            <a:srgbClr val="FF0000"/>
                          </a:solidFill>
                          <a:effectLst/>
                          <a:latin typeface="source-code-pro"/>
                        </a:rPr>
                        <a:t>toJson</a:t>
                      </a:r>
                      <a:r>
                        <a:rPr lang="en-US" altLang="zh-CN" dirty="0">
                          <a:solidFill>
                            <a:srgbClr val="FF0000"/>
                          </a:solidFill>
                          <a:effectLst/>
                          <a:latin typeface="source-code-pro"/>
                        </a:rPr>
                        <a:t>()</a:t>
                      </a:r>
                      <a:r>
                        <a:rPr lang="zh-CN" altLang="en-US" dirty="0">
                          <a:solidFill>
                            <a:srgbClr val="FF0000"/>
                          </a:solidFill>
                          <a:effectLst/>
                        </a:rPr>
                        <a:t> </a:t>
                      </a:r>
                      <a:r>
                        <a:rPr lang="zh-CN" altLang="en-US" dirty="0">
                          <a:effectLst/>
                        </a:rPr>
                        <a:t>将当前对象的状态序列化，然后写入文件</a:t>
                      </a:r>
                    </a:p>
                  </a:txBody>
                  <a:tcPr anchor="ctr"/>
                </a:tc>
                <a:extLst>
                  <a:ext uri="{0D108BD9-81ED-4DB2-BD59-A6C34878D82A}">
                    <a16:rowId xmlns:a16="http://schemas.microsoft.com/office/drawing/2014/main" val="470732057"/>
                  </a:ext>
                </a:extLst>
              </a:tr>
              <a:tr h="746223">
                <a:tc>
                  <a:txBody>
                    <a:bodyPr/>
                    <a:lstStyle/>
                    <a:p>
                      <a:pPr>
                        <a:buNone/>
                      </a:pPr>
                      <a:r>
                        <a:rPr lang="en-US">
                          <a:solidFill>
                            <a:schemeClr val="tx1"/>
                          </a:solidFill>
                          <a:effectLst/>
                          <a:latin typeface="source-code-pro"/>
                        </a:rPr>
                        <a:t>fromJson()</a:t>
                      </a:r>
                      <a:endParaRPr lang="en-US">
                        <a:solidFill>
                          <a:schemeClr val="tx1"/>
                        </a:solidFill>
                        <a:effectLst/>
                      </a:endParaRPr>
                    </a:p>
                  </a:txBody>
                  <a:tcPr anchor="ctr"/>
                </a:tc>
                <a:tc>
                  <a:txBody>
                    <a:bodyPr/>
                    <a:lstStyle/>
                    <a:p>
                      <a:pPr>
                        <a:buNone/>
                      </a:pPr>
                      <a:r>
                        <a:rPr lang="zh-CN" altLang="en-US" dirty="0">
                          <a:effectLst/>
                        </a:rPr>
                        <a:t>核心的解析逻辑。它使用 </a:t>
                      </a:r>
                      <a:r>
                        <a:rPr lang="en-US" altLang="zh-CN" dirty="0">
                          <a:solidFill>
                            <a:srgbClr val="C8C3BC"/>
                          </a:solidFill>
                          <a:effectLst/>
                          <a:latin typeface="source-code-pro"/>
                        </a:rPr>
                        <a:t>.</a:t>
                      </a:r>
                      <a:r>
                        <a:rPr lang="en-US" dirty="0">
                          <a:solidFill>
                            <a:srgbClr val="FF0000"/>
                          </a:solidFill>
                          <a:effectLst/>
                          <a:latin typeface="source-code-pro"/>
                        </a:rPr>
                        <a:t>value("key", </a:t>
                      </a:r>
                      <a:r>
                        <a:rPr lang="en-US" dirty="0" err="1">
                          <a:solidFill>
                            <a:srgbClr val="FF0000"/>
                          </a:solidFill>
                          <a:effectLst/>
                          <a:latin typeface="source-code-pro"/>
                        </a:rPr>
                        <a:t>default_value</a:t>
                      </a:r>
                      <a:r>
                        <a:rPr lang="en-US" dirty="0">
                          <a:solidFill>
                            <a:srgbClr val="FF0000"/>
                          </a:solidFill>
                          <a:effectLst/>
                          <a:latin typeface="source-code-pro"/>
                        </a:rPr>
                        <a:t>)</a:t>
                      </a:r>
                      <a:r>
                        <a:rPr lang="en-US" dirty="0">
                          <a:solidFill>
                            <a:srgbClr val="FF0000"/>
                          </a:solidFill>
                          <a:effectLst/>
                        </a:rPr>
                        <a:t> </a:t>
                      </a:r>
                      <a:r>
                        <a:rPr lang="zh-CN" altLang="en-US" dirty="0">
                          <a:effectLst/>
                        </a:rPr>
                        <a:t>这种安全的方式从 </a:t>
                      </a:r>
                      <a:r>
                        <a:rPr lang="en-US" dirty="0">
                          <a:effectLst/>
                        </a:rPr>
                        <a:t>JSON </a:t>
                      </a:r>
                      <a:r>
                        <a:rPr lang="zh-CN" altLang="en-US" dirty="0">
                          <a:effectLst/>
                        </a:rPr>
                        <a:t>对象中提取数据。即使 </a:t>
                      </a:r>
                      <a:r>
                        <a:rPr lang="en-US" dirty="0">
                          <a:effectLst/>
                        </a:rPr>
                        <a:t>JSON </a:t>
                      </a:r>
                      <a:r>
                        <a:rPr lang="zh-CN" altLang="en-US" dirty="0">
                          <a:effectLst/>
                        </a:rPr>
                        <a:t>文件中缺少某个字段，程序也能平稳地使用 </a:t>
                      </a:r>
                      <a:r>
                        <a:rPr lang="en-US" dirty="0" err="1">
                          <a:solidFill>
                            <a:srgbClr val="FF0000"/>
                          </a:solidFill>
                          <a:effectLst/>
                          <a:latin typeface="source-code-pro"/>
                        </a:rPr>
                        <a:t>default_value</a:t>
                      </a:r>
                      <a:r>
                        <a:rPr lang="en-US" dirty="0">
                          <a:effectLst/>
                        </a:rPr>
                        <a:t>（</a:t>
                      </a:r>
                      <a:r>
                        <a:rPr lang="zh-CN" altLang="en-US" dirty="0">
                          <a:effectLst/>
                        </a:rPr>
                        <a:t>即成员变量的初始值）</a:t>
                      </a:r>
                    </a:p>
                  </a:txBody>
                  <a:tcPr anchor="ctr"/>
                </a:tc>
                <a:extLst>
                  <a:ext uri="{0D108BD9-81ED-4DB2-BD59-A6C34878D82A}">
                    <a16:rowId xmlns:a16="http://schemas.microsoft.com/office/drawing/2014/main" val="4058230073"/>
                  </a:ext>
                </a:extLst>
              </a:tr>
              <a:tr h="746223">
                <a:tc>
                  <a:txBody>
                    <a:bodyPr/>
                    <a:lstStyle/>
                    <a:p>
                      <a:pPr>
                        <a:buNone/>
                      </a:pPr>
                      <a:r>
                        <a:rPr lang="en-US" dirty="0" err="1">
                          <a:solidFill>
                            <a:schemeClr val="tx1"/>
                          </a:solidFill>
                          <a:effectLst/>
                          <a:latin typeface="source-code-pro"/>
                        </a:rPr>
                        <a:t>toJson</a:t>
                      </a:r>
                      <a:r>
                        <a:rPr lang="en-US" dirty="0">
                          <a:solidFill>
                            <a:schemeClr val="tx1"/>
                          </a:solidFill>
                          <a:effectLst/>
                          <a:latin typeface="source-code-pro"/>
                        </a:rPr>
                        <a:t>()</a:t>
                      </a:r>
                      <a:endParaRPr lang="en-US" dirty="0">
                        <a:solidFill>
                          <a:schemeClr val="tx1"/>
                        </a:solidFill>
                        <a:effectLst/>
                      </a:endParaRPr>
                    </a:p>
                  </a:txBody>
                  <a:tcPr anchor="ctr"/>
                </a:tc>
                <a:tc>
                  <a:txBody>
                    <a:bodyPr/>
                    <a:lstStyle/>
                    <a:p>
                      <a:pPr>
                        <a:buNone/>
                      </a:pPr>
                      <a:r>
                        <a:rPr lang="zh-CN" altLang="en-US" dirty="0">
                          <a:effectLst/>
                        </a:rPr>
                        <a:t>将所有成员变量打包成一个 </a:t>
                      </a:r>
                      <a:r>
                        <a:rPr lang="en-US" dirty="0" err="1">
                          <a:solidFill>
                            <a:srgbClr val="FF0000"/>
                          </a:solidFill>
                          <a:effectLst/>
                          <a:latin typeface="source-code-pro"/>
                        </a:rPr>
                        <a:t>nlohmann</a:t>
                      </a:r>
                      <a:r>
                        <a:rPr lang="en-US" dirty="0">
                          <a:solidFill>
                            <a:srgbClr val="FF0000"/>
                          </a:solidFill>
                          <a:effectLst/>
                          <a:latin typeface="source-code-pro"/>
                        </a:rPr>
                        <a:t>::</a:t>
                      </a:r>
                      <a:r>
                        <a:rPr lang="en-US" dirty="0" err="1">
                          <a:solidFill>
                            <a:srgbClr val="FF0000"/>
                          </a:solidFill>
                          <a:effectLst/>
                          <a:latin typeface="source-code-pro"/>
                        </a:rPr>
                        <a:t>ordered_json</a:t>
                      </a:r>
                      <a:r>
                        <a:rPr lang="en-US" dirty="0">
                          <a:solidFill>
                            <a:srgbClr val="FF0000"/>
                          </a:solidFill>
                          <a:effectLst/>
                        </a:rPr>
                        <a:t> </a:t>
                      </a:r>
                      <a:r>
                        <a:rPr lang="zh-CN" altLang="en-US" dirty="0">
                          <a:effectLst/>
                        </a:rPr>
                        <a:t>对象，以便能以固定的顺序写入文件，增加可读性</a:t>
                      </a:r>
                    </a:p>
                  </a:txBody>
                  <a:tcPr anchor="ctr"/>
                </a:tc>
                <a:extLst>
                  <a:ext uri="{0D108BD9-81ED-4DB2-BD59-A6C34878D82A}">
                    <a16:rowId xmlns:a16="http://schemas.microsoft.com/office/drawing/2014/main" val="3307015056"/>
                  </a:ext>
                </a:extLst>
              </a:tr>
            </a:tbl>
          </a:graphicData>
        </a:graphic>
      </p:graphicFrame>
    </p:spTree>
    <p:extLst>
      <p:ext uri="{BB962C8B-B14F-4D97-AF65-F5344CB8AC3E}">
        <p14:creationId xmlns:p14="http://schemas.microsoft.com/office/powerpoint/2010/main" val="1136297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0A950-6427-CCCF-5BBD-5657C386B37D}"/>
              </a:ext>
            </a:extLst>
          </p:cNvPr>
          <p:cNvSpPr>
            <a:spLocks noGrp="1"/>
          </p:cNvSpPr>
          <p:nvPr>
            <p:ph type="title"/>
          </p:nvPr>
        </p:nvSpPr>
        <p:spPr/>
        <p:txBody>
          <a:bodyPr/>
          <a:lstStyle/>
          <a:p>
            <a:r>
              <a:rPr lang="en-US" altLang="zh-CN" b="1" dirty="0"/>
              <a:t>3. </a:t>
            </a:r>
            <a:r>
              <a:rPr lang="zh-CN" altLang="en-US" b="1" dirty="0"/>
              <a:t>集成到 </a:t>
            </a:r>
            <a:r>
              <a:rPr lang="en-US" b="1" dirty="0" err="1"/>
              <a:t>GameApp</a:t>
            </a:r>
            <a:endParaRPr lang="en-US" dirty="0"/>
          </a:p>
        </p:txBody>
      </p:sp>
      <p:sp>
        <p:nvSpPr>
          <p:cNvPr id="3" name="Content Placeholder 2">
            <a:extLst>
              <a:ext uri="{FF2B5EF4-FFF2-40B4-BE49-F238E27FC236}">
                <a16:creationId xmlns:a16="http://schemas.microsoft.com/office/drawing/2014/main" id="{A51B8190-3A08-8A4A-CDF7-EADF786D500C}"/>
              </a:ext>
            </a:extLst>
          </p:cNvPr>
          <p:cNvSpPr>
            <a:spLocks noGrp="1"/>
          </p:cNvSpPr>
          <p:nvPr>
            <p:ph idx="1"/>
          </p:nvPr>
        </p:nvSpPr>
        <p:spPr/>
        <p:txBody>
          <a:bodyPr/>
          <a:lstStyle/>
          <a:p>
            <a:pPr marL="0" indent="0">
              <a:buNone/>
            </a:pPr>
            <a:r>
              <a:rPr lang="zh-CN" altLang="en-US" dirty="0"/>
              <a:t>最后一步是将新的 </a:t>
            </a:r>
            <a:r>
              <a:rPr lang="en-US" altLang="zh-CN" dirty="0"/>
              <a:t>Config</a:t>
            </a:r>
            <a:r>
              <a:rPr lang="zh-CN" altLang="en-US" dirty="0"/>
              <a:t> 模块无缝集成到我们的主应用 </a:t>
            </a:r>
            <a:r>
              <a:rPr lang="en-US" altLang="zh-CN" dirty="0" err="1"/>
              <a:t>GameApp</a:t>
            </a:r>
            <a:r>
              <a:rPr lang="zh-CN" altLang="en-US" dirty="0"/>
              <a:t> 中。</a:t>
            </a:r>
            <a:endParaRPr lang="en-US" altLang="zh-CN" dirty="0"/>
          </a:p>
          <a:p>
            <a:r>
              <a:rPr lang="zh-CN" altLang="en-US" b="1" dirty="0"/>
              <a:t>新的初始化流程</a:t>
            </a:r>
          </a:p>
          <a:p>
            <a:pPr marL="0" indent="0">
              <a:buNone/>
            </a:pPr>
            <a:r>
              <a:rPr lang="zh-CN" altLang="en-US" dirty="0"/>
              <a:t>我们在 </a:t>
            </a:r>
            <a:r>
              <a:rPr lang="en-US" altLang="zh-CN" dirty="0" err="1"/>
              <a:t>GameApp</a:t>
            </a:r>
            <a:r>
              <a:rPr lang="zh-CN" altLang="en-US" dirty="0"/>
              <a:t> 中添加了一个 </a:t>
            </a:r>
            <a:r>
              <a:rPr lang="en-US" altLang="zh-CN" dirty="0" err="1"/>
              <a:t>initConfig</a:t>
            </a:r>
            <a:r>
              <a:rPr lang="en-US" altLang="zh-CN" dirty="0"/>
              <a:t>()</a:t>
            </a:r>
            <a:r>
              <a:rPr lang="zh-CN" altLang="en-US" dirty="0"/>
              <a:t> 方法，并确保它在 </a:t>
            </a:r>
            <a:r>
              <a:rPr lang="en-US" altLang="zh-CN" dirty="0" err="1"/>
              <a:t>init</a:t>
            </a:r>
            <a:r>
              <a:rPr lang="en-US" altLang="zh-CN" dirty="0"/>
              <a:t>()</a:t>
            </a:r>
            <a:r>
              <a:rPr lang="zh-CN" altLang="en-US" dirty="0"/>
              <a:t> 函数中 </a:t>
            </a:r>
            <a:r>
              <a:rPr lang="zh-CN" altLang="en-US" b="1" dirty="0"/>
              <a:t>最先被调用</a:t>
            </a:r>
            <a:r>
              <a:rPr lang="zh-CN" altLang="en-US" dirty="0"/>
              <a:t>。因为后续所有的初始化步骤（如创建窗口、设置帧率）都依赖于从配置文件中读取的数据。</a:t>
            </a:r>
            <a:endParaRPr lang="en-US" dirty="0"/>
          </a:p>
        </p:txBody>
      </p:sp>
    </p:spTree>
    <p:extLst>
      <p:ext uri="{BB962C8B-B14F-4D97-AF65-F5344CB8AC3E}">
        <p14:creationId xmlns:p14="http://schemas.microsoft.com/office/powerpoint/2010/main" val="2421000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495EB-3FF1-2F9F-C42E-360F79EB114A}"/>
              </a:ext>
            </a:extLst>
          </p:cNvPr>
          <p:cNvSpPr>
            <a:spLocks noGrp="1"/>
          </p:cNvSpPr>
          <p:nvPr>
            <p:ph idx="1"/>
          </p:nvPr>
        </p:nvSpPr>
        <p:spPr>
          <a:xfrm>
            <a:off x="838200" y="439615"/>
            <a:ext cx="10515600" cy="5737348"/>
          </a:xfrm>
        </p:spPr>
        <p:txBody>
          <a:bodyPr>
            <a:normAutofit/>
          </a:bodyPr>
          <a:lstStyle/>
          <a:p>
            <a:r>
              <a:rPr lang="zh-CN" altLang="en-US" b="1" dirty="0"/>
              <a:t>移除硬编码</a:t>
            </a:r>
          </a:p>
          <a:p>
            <a:endParaRPr lang="en-US" dirty="0"/>
          </a:p>
          <a:p>
            <a:pPr marL="0" indent="0">
              <a:buNone/>
            </a:pPr>
            <a:r>
              <a:rPr lang="zh-CN" altLang="en-US" dirty="0"/>
              <a:t>我们仔细检查了 </a:t>
            </a:r>
            <a:r>
              <a:rPr lang="en-US" dirty="0" err="1"/>
              <a:t>GameApp</a:t>
            </a:r>
            <a:r>
              <a:rPr lang="en-US" dirty="0"/>
              <a:t> </a:t>
            </a:r>
            <a:r>
              <a:rPr lang="zh-CN" altLang="en-US" dirty="0"/>
              <a:t>的代码，并将所有之前硬编码的值替换为从 </a:t>
            </a:r>
            <a:r>
              <a:rPr lang="en-US" dirty="0"/>
              <a:t>config_ </a:t>
            </a:r>
            <a:r>
              <a:rPr lang="zh-CN" altLang="en-US" dirty="0"/>
              <a:t>对象中获取的动态值：</a:t>
            </a:r>
          </a:p>
          <a:p>
            <a:r>
              <a:rPr lang="en-US" dirty="0"/>
              <a:t>✨ </a:t>
            </a:r>
            <a:r>
              <a:rPr lang="en-US" dirty="0" err="1"/>
              <a:t>SDL_CreateWindow</a:t>
            </a:r>
            <a:r>
              <a:rPr lang="en-US" dirty="0"/>
              <a:t> </a:t>
            </a:r>
            <a:r>
              <a:rPr lang="zh-CN" altLang="en-US" dirty="0"/>
              <a:t>的参数现在来自 </a:t>
            </a:r>
            <a:r>
              <a:rPr lang="en-US" dirty="0"/>
              <a:t>config_-&gt;</a:t>
            </a:r>
            <a:r>
              <a:rPr lang="en-US" dirty="0" err="1"/>
              <a:t>window_title</a:t>
            </a:r>
            <a:r>
              <a:rPr lang="en-US" dirty="0"/>
              <a:t>_, config_-&gt;</a:t>
            </a:r>
            <a:r>
              <a:rPr lang="en-US" dirty="0" err="1"/>
              <a:t>window_width</a:t>
            </a:r>
            <a:r>
              <a:rPr lang="en-US" dirty="0"/>
              <a:t>_ </a:t>
            </a:r>
            <a:r>
              <a:rPr lang="zh-CN" altLang="en-US" dirty="0"/>
              <a:t>等</a:t>
            </a:r>
          </a:p>
          <a:p>
            <a:r>
              <a:rPr lang="en-US" dirty="0"/>
              <a:t>✨ </a:t>
            </a:r>
            <a:r>
              <a:rPr lang="zh-CN" altLang="en-US" dirty="0"/>
              <a:t>垂直同步的开关由 </a:t>
            </a:r>
            <a:r>
              <a:rPr lang="en-US" dirty="0"/>
              <a:t>config_-&gt;</a:t>
            </a:r>
            <a:r>
              <a:rPr lang="en-US" dirty="0" err="1"/>
              <a:t>vsync_enabled</a:t>
            </a:r>
            <a:r>
              <a:rPr lang="en-US" dirty="0"/>
              <a:t>_ </a:t>
            </a:r>
            <a:r>
              <a:rPr lang="zh-CN" altLang="en-US" dirty="0"/>
              <a:t>控制</a:t>
            </a:r>
          </a:p>
          <a:p>
            <a:r>
              <a:rPr lang="en-US" dirty="0"/>
              <a:t>✨ time_-&gt;</a:t>
            </a:r>
            <a:r>
              <a:rPr lang="en-US" dirty="0" err="1"/>
              <a:t>setTargetFps</a:t>
            </a:r>
            <a:r>
              <a:rPr lang="en-US" dirty="0"/>
              <a:t>() </a:t>
            </a:r>
            <a:r>
              <a:rPr lang="zh-CN" altLang="en-US" dirty="0"/>
              <a:t>的目标值来自 </a:t>
            </a:r>
            <a:r>
              <a:rPr lang="en-US" dirty="0"/>
              <a:t>config_-&gt;</a:t>
            </a:r>
            <a:r>
              <a:rPr lang="en-US" dirty="0" err="1"/>
              <a:t>target_fps</a:t>
            </a:r>
            <a:r>
              <a:rPr lang="en-US" dirty="0"/>
              <a:t>_</a:t>
            </a:r>
          </a:p>
          <a:p>
            <a:r>
              <a:rPr lang="en-US" dirty="0"/>
              <a:t>✨ </a:t>
            </a:r>
            <a:r>
              <a:rPr lang="zh-CN" altLang="en-US" dirty="0"/>
              <a:t>我们的逻辑分辨率和相机视口大小现在也动态地设置为窗口尺寸的一半，以更好地适应不同的分辨率</a:t>
            </a:r>
          </a:p>
          <a:p>
            <a:endParaRPr lang="en-US" dirty="0"/>
          </a:p>
        </p:txBody>
      </p:sp>
    </p:spTree>
    <p:extLst>
      <p:ext uri="{BB962C8B-B14F-4D97-AF65-F5344CB8AC3E}">
        <p14:creationId xmlns:p14="http://schemas.microsoft.com/office/powerpoint/2010/main" val="1435635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F6854-9198-42E0-0EB5-491481FF3954}"/>
              </a:ext>
            </a:extLst>
          </p:cNvPr>
          <p:cNvSpPr>
            <a:spLocks noGrp="1"/>
          </p:cNvSpPr>
          <p:nvPr>
            <p:ph type="title"/>
          </p:nvPr>
        </p:nvSpPr>
        <p:spPr/>
        <p:txBody>
          <a:bodyPr/>
          <a:lstStyle/>
          <a:p>
            <a:r>
              <a:rPr lang="zh-CN" altLang="en-US" b="1" dirty="0"/>
              <a:t>🎯 总结</a:t>
            </a:r>
            <a:endParaRPr lang="en-US" dirty="0"/>
          </a:p>
        </p:txBody>
      </p:sp>
      <p:sp>
        <p:nvSpPr>
          <p:cNvPr id="3" name="Content Placeholder 2">
            <a:extLst>
              <a:ext uri="{FF2B5EF4-FFF2-40B4-BE49-F238E27FC236}">
                <a16:creationId xmlns:a16="http://schemas.microsoft.com/office/drawing/2014/main" id="{EC4C07DD-1813-FD09-D716-66A3809EE5D6}"/>
              </a:ext>
            </a:extLst>
          </p:cNvPr>
          <p:cNvSpPr>
            <a:spLocks noGrp="1"/>
          </p:cNvSpPr>
          <p:nvPr>
            <p:ph idx="1"/>
          </p:nvPr>
        </p:nvSpPr>
        <p:spPr/>
        <p:txBody>
          <a:bodyPr/>
          <a:lstStyle/>
          <a:p>
            <a:pPr marL="0" indent="0">
              <a:buNone/>
            </a:pPr>
            <a:r>
              <a:rPr lang="zh-CN" altLang="en-US" dirty="0"/>
              <a:t>通过本节课的改造，我们的引擎在灵活性和健壮性上迈出了一大步。我们不再受制于写死在代码里的参数，为未来的功能拓展（如图形设置菜单、按键绑定界面）铺平了道路。</a:t>
            </a:r>
          </a:p>
          <a:p>
            <a:pPr marL="0" indent="0">
              <a:buNone/>
            </a:pPr>
            <a:r>
              <a:rPr lang="zh-CN" altLang="en-US" b="1" dirty="0"/>
              <a:t>关键要点：</a:t>
            </a:r>
            <a:endParaRPr lang="zh-CN" altLang="en-US" dirty="0"/>
          </a:p>
          <a:p>
            <a:r>
              <a:rPr lang="zh-CN" altLang="en-US" dirty="0"/>
              <a:t>📁 配置文件集中管理所有可配置参数</a:t>
            </a:r>
          </a:p>
          <a:p>
            <a:r>
              <a:rPr lang="zh-CN" altLang="en-US" dirty="0"/>
              <a:t>🛡️ 健壮的错误处理机制</a:t>
            </a:r>
          </a:p>
          <a:p>
            <a:r>
              <a:rPr lang="zh-CN" altLang="en-US" dirty="0"/>
              <a:t>🔄 支持运行时读取和保存配置</a:t>
            </a:r>
          </a:p>
          <a:p>
            <a:r>
              <a:rPr lang="zh-CN" altLang="en-US" dirty="0"/>
              <a:t>🚀 为未来功能扩展打下基础</a:t>
            </a:r>
          </a:p>
          <a:p>
            <a:endParaRPr lang="en-US" dirty="0"/>
          </a:p>
        </p:txBody>
      </p:sp>
    </p:spTree>
    <p:extLst>
      <p:ext uri="{BB962C8B-B14F-4D97-AF65-F5344CB8AC3E}">
        <p14:creationId xmlns:p14="http://schemas.microsoft.com/office/powerpoint/2010/main" val="2768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850</Words>
  <Application>Microsoft Office PowerPoint</Application>
  <PresentationFormat>Widescreen</PresentationFormat>
  <Paragraphs>53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source-code-pro</vt:lpstr>
      <vt:lpstr>Aptos</vt:lpstr>
      <vt:lpstr>Aptos Display</vt:lpstr>
      <vt:lpstr>Arial</vt:lpstr>
      <vt:lpstr>Office Theme</vt:lpstr>
      <vt:lpstr>读取保存配置文件</vt:lpstr>
      <vt:lpstr>📌 问题背景</vt:lpstr>
      <vt:lpstr>PowerPoint Presentation</vt:lpstr>
      <vt:lpstr>1. config.json：引擎的"大脑"</vt:lpstr>
      <vt:lpstr>配置文件包含的内容</vt:lpstr>
      <vt:lpstr>2. Config 类：配置的管理者</vt:lpstr>
      <vt:lpstr>健壮性设计</vt:lpstr>
      <vt:lpstr>PowerPoint Presentation</vt:lpstr>
      <vt:lpstr>关键方法说明</vt:lpstr>
      <vt:lpstr>3. 集成到 GameApp</vt:lpstr>
      <vt:lpstr>PowerPoint Presentation</vt:lpstr>
      <vt:lpstr>🎯 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佳浩 华</dc:creator>
  <cp:lastModifiedBy>佳浩 华</cp:lastModifiedBy>
  <cp:revision>1</cp:revision>
  <dcterms:created xsi:type="dcterms:W3CDTF">2025-10-31T13:22:03Z</dcterms:created>
  <dcterms:modified xsi:type="dcterms:W3CDTF">2025-10-31T13:27:44Z</dcterms:modified>
</cp:coreProperties>
</file>