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E7BA-CD86-1BFA-51B6-4665CE4BC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9CE04-5356-D618-E080-2BE9185F9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63CC4-C885-6E80-F968-97B050BD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0525F-F8CF-891E-5156-3C432190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87B32-39F5-8A5F-77A2-45A2344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4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8B49-87FF-E0E5-F4E1-F1317B61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9FFDE-21FD-DF8F-4AEC-8BE08435A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019FA-910B-3AA2-6D08-D854FFE4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66DBA-7AAB-B1E1-26DF-3264F017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256E4-176D-19B8-A5A9-B03FD435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9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6ADC-9034-10EA-41A3-097DB89B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0FA56-4E2B-E2AE-694B-8E2681A79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7BB73-A853-7ECC-75C2-DA9E4C1E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2C61A-44C2-A051-F77E-EF4ECF50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0FECF-F4B9-0436-2BFC-07581A44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3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2161-6532-CB14-4488-526E941B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F9CE-25BA-A75E-544F-52136865D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6C907-7A12-CA08-B0D5-2B3D1F8DD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DEAF7-8F1B-8732-382A-F882F54C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2DF47-55B8-5053-D216-CF6B71BE0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80698-8183-6D37-F9AA-F1FA62E7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9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BE03-B21B-5758-C35B-E5350C25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1C02D-90A4-F00B-8C79-6FF0E719C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52570-61E2-874D-3E9A-1F1DE8077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E7A17-5541-3AC0-E464-C0D05DFE0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2027B-AB78-FADA-754A-76F3B6F23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8CA2D-9EAB-341B-6490-B1B1C2A1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9F011-28ED-19FA-D02A-F924C2EE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7F30C-CB6E-3DB6-0C36-4548414D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CA8B-8461-F062-EA2D-21A2E21E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9CD01-6841-721F-3ED9-388A3291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CE234-EF6F-606F-0D79-0F1056E67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61C83-51A9-2B51-BF69-BDCD7FD3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5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B033B-0741-1B47-E46E-6695CB821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D703B-9996-16A4-C066-9DF77F84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7FD1D-5249-3EA2-7C91-FD52B487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7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7910-2725-477C-C5B0-11466962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7947A-D75C-B9B5-94EE-92B068E48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8D7E8-0272-6E64-3AB2-8D4C80A7C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3DCF-C60B-675E-5243-D1207B3A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F886B-2678-2546-CD0F-1BAB0EA2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E08AA-B855-616E-3EC5-D846091B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43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5C6-7A9E-6F1A-A745-D204648E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03FDC-83CD-C509-AFF8-83C941E4D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52CD8-2F9B-68CA-5C66-5A2AB783B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CC5E2-5850-E6C1-8291-B009E9546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DB3B0-F161-62AD-8CD0-2E0F53F5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75713-80E6-E526-E21B-FDD15B72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5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F9C3-C355-DFC3-E61E-F08DD973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AA013-D906-9C15-27A9-A981FA184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1A3AF-154C-C945-D3D4-5D8F5BE6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FB38B-C34E-12ED-A887-D21E9775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3707F-555C-2EED-E334-C94ED177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5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53417-000F-E117-B962-551E9B502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19DD5-D2E0-F6B2-2C9C-ED82D3181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8CC09-D187-6392-F82F-D13A46C4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BE097-A75F-3232-B817-CE1B0622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D042A-D5DF-A43C-8346-DB729C56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D5EA2-6394-7B3C-3748-E31922DD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F9B81-40DC-ADE3-8E6B-8DF4F39A0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C3C49-F0ED-34A3-D2C9-56DE1E68B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A84CC-4CB1-4DDD-8261-36A6DE9072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14881-137B-8DC2-A900-C3ADEB836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3D769-933C-7E46-DCFA-080972C5A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2BB2D-ABBC-4C4E-8FBB-36AEFA232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8B3C-2D06-769B-073E-0FABE88FE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碰撞器组件与碰撞检测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AF34E-062B-B8FC-503D-24DA03632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92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9CA5-FD6E-51A6-2F6A-9E228336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D9115-F8AA-5BE4-1322-774486B2A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在上一课中，我们成功地为游戏对象引入了基本的物理运动。然而，这些物体目前还生活在一个 </a:t>
            </a:r>
            <a:r>
              <a:rPr lang="en-US" altLang="zh-CN" b="1" dirty="0"/>
              <a:t>"</a:t>
            </a:r>
            <a:r>
              <a:rPr lang="zh-CN" altLang="en-US" b="1" dirty="0"/>
              <a:t>幽灵世界</a:t>
            </a:r>
            <a:r>
              <a:rPr lang="en-US" altLang="zh-CN" b="1" dirty="0"/>
              <a:t>"</a:t>
            </a:r>
            <a:r>
              <a:rPr lang="zh-CN" altLang="en-US" dirty="0"/>
              <a:t> 里，可以毫无阻碍地相互穿透。为了建立一个有秩序的物理世界，我们必须教会引擎如何 </a:t>
            </a:r>
            <a:r>
              <a:rPr lang="zh-CN" altLang="en-US" b="1" dirty="0"/>
              <a:t>检测碰撞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FAE186-3315-589D-E7F1-544030B25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53" y="3541578"/>
            <a:ext cx="3606985" cy="26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6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8F3D5-5B5C-6FD8-C9D0-13E96255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本课目标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31DAF3-07BE-6D08-A0AF-B8C58E4B2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本节课的目标 </a:t>
            </a:r>
            <a:r>
              <a:rPr lang="zh-CN" altLang="en-US" b="1" dirty="0"/>
              <a:t>不是</a:t>
            </a:r>
            <a:r>
              <a:rPr lang="zh-CN" altLang="en-US" dirty="0"/>
              <a:t> 实现碰撞后的物理反应（即碰撞解析，那是下一课的内容），而是构建一个能够准确判断 </a:t>
            </a:r>
            <a:r>
              <a:rPr lang="en-US" altLang="zh-CN" b="1" dirty="0"/>
              <a:t>"</a:t>
            </a:r>
            <a:r>
              <a:rPr lang="zh-CN" altLang="en-US" b="1" dirty="0"/>
              <a:t>哪两个物体在当前帧发生了重叠</a:t>
            </a:r>
            <a:r>
              <a:rPr lang="en-US" altLang="zh-CN" b="1" dirty="0"/>
              <a:t>"</a:t>
            </a:r>
            <a:r>
              <a:rPr lang="zh-CN" altLang="en-US" dirty="0"/>
              <a:t> 的系统。</a:t>
            </a:r>
          </a:p>
          <a:p>
            <a:r>
              <a:rPr lang="zh-CN" altLang="en-US" dirty="0"/>
              <a:t>我们将通过创建一系列新的组件和类来完成这个任务：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5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2EB8-9453-F602-1269-D5CB6C43E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76AEEF-E449-CF21-D52F-90E3BBA0B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319" y="984740"/>
            <a:ext cx="8361665" cy="459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8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4544-D025-B5D9-0B87-B39369CF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938B83-E600-4A19-E809-66524BB08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19915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148233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60844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88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Collider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定义碰撞形状（矩形、圆形）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563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ColliderComponent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将碰撞器附加到 </a:t>
                      </a:r>
                      <a:r>
                        <a:rPr lang="en-US">
                          <a:effectLst/>
                        </a:rPr>
                        <a:t>GameObject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9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collision </a:t>
                      </a:r>
                      <a:r>
                        <a:rPr lang="zh-CN" altLang="en-US" b="1">
                          <a:effectLst/>
                        </a:rPr>
                        <a:t>命名空间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提供碰撞检测算法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02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PhysicsEngine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在每帧检测所有碰撞对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555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85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65ED-568B-0AE1-9EE0-61FA0DC5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碰撞形状（</a:t>
            </a:r>
            <a:r>
              <a:rPr lang="en-US" altLang="zh-CN" b="1" dirty="0"/>
              <a:t>Collider</a:t>
            </a:r>
            <a:r>
              <a:rPr lang="zh-CN" altLang="en-US" b="1" dirty="0"/>
              <a:t>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4EBBB-0FA8-6618-8C86-EFE7DC9D4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首先，我们需要用数学方式来描述一个物体的 </a:t>
            </a:r>
            <a:r>
              <a:rPr lang="zh-CN" altLang="en-US" b="1" dirty="0"/>
              <a:t>物理边界</a:t>
            </a:r>
            <a:r>
              <a:rPr lang="zh-CN" altLang="en-US" dirty="0"/>
              <a:t>。在 </a:t>
            </a:r>
            <a:r>
              <a:rPr lang="en-US" altLang="zh-CN" dirty="0"/>
              <a:t>2D </a:t>
            </a:r>
            <a:r>
              <a:rPr lang="zh-CN" altLang="en-US" dirty="0"/>
              <a:t>游戏中，最常用的碰撞形状是 </a:t>
            </a:r>
            <a:r>
              <a:rPr lang="zh-CN" altLang="en-US" b="1" dirty="0"/>
              <a:t>矩形（</a:t>
            </a:r>
            <a:r>
              <a:rPr lang="en-US" altLang="zh-CN" b="1" dirty="0"/>
              <a:t>AABB</a:t>
            </a:r>
            <a:r>
              <a:rPr lang="zh-CN" altLang="en-US" b="1" dirty="0"/>
              <a:t>）</a:t>
            </a:r>
            <a:r>
              <a:rPr lang="zh-CN" altLang="en-US" dirty="0"/>
              <a:t> 和 </a:t>
            </a:r>
            <a:r>
              <a:rPr lang="zh-CN" altLang="en-US" b="1" dirty="0"/>
              <a:t>圆形（</a:t>
            </a:r>
            <a:r>
              <a:rPr lang="en-US" altLang="zh-CN" b="1" dirty="0"/>
              <a:t>Circle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碰撞形状类型</a:t>
            </a:r>
          </a:p>
          <a:p>
            <a:pPr marL="0" indent="0">
              <a:buNone/>
            </a:pPr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我们将创建一个 </a:t>
            </a:r>
            <a:r>
              <a:rPr lang="en-US" altLang="zh-CN" dirty="0"/>
              <a:t>Collider</a:t>
            </a:r>
            <a:r>
              <a:rPr lang="zh-CN" altLang="en-US" dirty="0"/>
              <a:t> 基类和几个派生类来代表这些形状。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770991-864A-9188-5CEA-4820F7B68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73233"/>
              </p:ext>
            </p:extLst>
          </p:nvPr>
        </p:nvGraphicFramePr>
        <p:xfrm>
          <a:off x="941755" y="3697327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911005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684839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986873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33862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形状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全称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特点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适用场景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961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AABB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Axis-Aligned Bounding 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轴对齐，计算快速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箱子、平台、建筑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8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Circle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Circle Collider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精确的圆形检测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球、硬币、弹丸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326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0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C14B-BD33-F3EF-5202-5EDC9417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0A68-692B-F8D0-AAA7-18977B041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engine/physics/</a:t>
            </a:r>
            <a:r>
              <a:rPr lang="en-US" b="1" dirty="0" err="1"/>
              <a:t>collider.h</a:t>
            </a:r>
            <a:r>
              <a:rPr lang="en-US" b="1" dirty="0"/>
              <a:t>（</a:t>
            </a:r>
            <a:r>
              <a:rPr lang="zh-CN" altLang="en-US" b="1" dirty="0"/>
              <a:t>新建）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134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70FA-C7F6-C2F1-B573-28D3D2F7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设计要点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CFA90A-740C-F05A-C3B6-A2BDAA4DD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368043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947153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93519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要点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04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抽象基类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Collider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是抽象基类，定义了所有碰撞器共有的接口，如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getType()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97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AABB </a:t>
                      </a:r>
                      <a:r>
                        <a:rPr lang="zh-CN" altLang="en-US" b="1">
                          <a:effectLst/>
                        </a:rPr>
                        <a:t>尺寸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它还包含一个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aabb_size_</a:t>
                      </a:r>
                      <a:r>
                        <a:rPr lang="zh-CN" altLang="en-US">
                          <a:effectLst/>
                        </a:rPr>
                        <a:t>，代表能完全包围这个碰撞器的最小矩形尺寸，这在后续的优化中非常有用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49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具体实现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AABBCollider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和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CircleCollider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是具体的碰撞形状实现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348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7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E2E8-17B9-B49D-F142-7A9B379D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为什么圆形也需要 </a:t>
            </a:r>
            <a:r>
              <a:rPr lang="en-US" altLang="zh-CN" b="1" dirty="0"/>
              <a:t>AABB</a:t>
            </a:r>
            <a:r>
              <a:rPr lang="zh-CN" altLang="en-US" b="1" dirty="0"/>
              <a:t>？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A17BD0-4CF2-8C2A-107C-FD810F852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742" y="1690688"/>
            <a:ext cx="3778978" cy="2265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D26D8F-5E49-EAE1-9B27-158E83727DAB}"/>
              </a:ext>
            </a:extLst>
          </p:cNvPr>
          <p:cNvSpPr txBox="1"/>
          <p:nvPr/>
        </p:nvSpPr>
        <p:spPr>
          <a:xfrm>
            <a:off x="5562600" y="2177281"/>
            <a:ext cx="28897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原因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：可以先用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快速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AABB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检测过滤大部分不碰撞的情况，只对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AABB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重叠的情况再进行精确的圆形检测。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4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EAF2-4C0A-7128-984F-84D5D041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ColliderComponent</a:t>
            </a:r>
            <a:r>
              <a:rPr lang="en-US" b="1" dirty="0"/>
              <a:t>：</a:t>
            </a:r>
            <a:r>
              <a:rPr lang="zh-CN" altLang="en-US" b="1" dirty="0"/>
              <a:t>为 </a:t>
            </a:r>
            <a:r>
              <a:rPr lang="en-US" b="1" dirty="0" err="1"/>
              <a:t>GameObject</a:t>
            </a:r>
            <a:r>
              <a:rPr lang="en-US" b="1" dirty="0"/>
              <a:t> </a:t>
            </a:r>
            <a:r>
              <a:rPr lang="zh-CN" altLang="en-US" b="1" dirty="0"/>
              <a:t>添加碰撞体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E26C8-FC93-9B66-8B55-03AC85F8A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和 </a:t>
            </a:r>
            <a:r>
              <a:rPr lang="en-US" dirty="0" err="1"/>
              <a:t>PhysicsComponent</a:t>
            </a:r>
            <a:r>
              <a:rPr lang="en-US" dirty="0"/>
              <a:t> </a:t>
            </a:r>
            <a:r>
              <a:rPr lang="zh-CN" altLang="en-US" dirty="0"/>
              <a:t>类似，我们需要一个 </a:t>
            </a:r>
            <a:r>
              <a:rPr lang="en-US" dirty="0" err="1"/>
              <a:t>ColliderComponent</a:t>
            </a:r>
            <a:r>
              <a:rPr lang="en-US" dirty="0"/>
              <a:t> </a:t>
            </a:r>
            <a:r>
              <a:rPr lang="zh-CN" altLang="en-US" dirty="0"/>
              <a:t>来将一个 </a:t>
            </a:r>
            <a:r>
              <a:rPr lang="en-US" dirty="0"/>
              <a:t>Collider </a:t>
            </a:r>
            <a:r>
              <a:rPr lang="zh-CN" altLang="en-US" dirty="0"/>
              <a:t>形状附加到 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dirty="0"/>
              <a:t>上。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608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EDEB-8A19-CDC9-F962-47319857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核心功能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1E45EC-1EC2-1F1F-A5CD-ADA244FDA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865742"/>
              </p:ext>
            </p:extLst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233597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9534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516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持有 </a:t>
                      </a:r>
                      <a:r>
                        <a:rPr lang="en-US" b="1">
                          <a:effectLst/>
                        </a:rPr>
                        <a:t>Collider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std::unique_ptr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管理 </a:t>
                      </a:r>
                      <a:r>
                        <a:rPr lang="en-US">
                          <a:effectLst/>
                        </a:rPr>
                        <a:t>Collider </a:t>
                      </a:r>
                      <a:r>
                        <a:rPr lang="zh-CN" altLang="en-US">
                          <a:effectLst/>
                        </a:rPr>
                        <a:t>的生命周期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572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对齐方式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offset_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和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alignment_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确定碰撞体相对于 </a:t>
                      </a:r>
                      <a:r>
                        <a:rPr lang="en-US">
                          <a:effectLst/>
                        </a:rPr>
                        <a:t>Transform </a:t>
                      </a:r>
                      <a:r>
                        <a:rPr lang="zh-CN" altLang="en-US">
                          <a:effectLst/>
                        </a:rPr>
                        <a:t>的位置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6357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世界坐标转换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提供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getWorldAABB()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方法，计算碰撞体在世界坐标系中的精确包围盒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09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触发器支持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支持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is_trigger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_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标志，用于不产生物理响应的区域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297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338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1EB0-3140-BEC2-F27C-2D5F9A5B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079E-328D-1351-1A61-15CEDBFBA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engine/component/</a:t>
            </a:r>
            <a:r>
              <a:rPr lang="en-US" b="1" dirty="0" err="1"/>
              <a:t>collider_component.h</a:t>
            </a:r>
            <a:r>
              <a:rPr lang="en-US" b="1" dirty="0"/>
              <a:t>（</a:t>
            </a:r>
            <a:r>
              <a:rPr lang="zh-CN" altLang="en-US" b="1" dirty="0"/>
              <a:t>新建）</a:t>
            </a:r>
          </a:p>
          <a:p>
            <a:r>
              <a:rPr lang="en-US" b="1" dirty="0"/>
              <a:t>engine/component/collider_component.cpp（</a:t>
            </a:r>
            <a:r>
              <a:rPr lang="zh-CN" altLang="en-US" b="1" dirty="0"/>
              <a:t>新建）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14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D353-2108-0208-274B-E000A09F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关键方法解析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3E6578-A4A4-6DEC-F3A9-30A5AB844A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950257"/>
              </p:ext>
            </p:extLst>
          </p:nvPr>
        </p:nvGraphicFramePr>
        <p:xfrm>
          <a:off x="838200" y="1825625"/>
          <a:ext cx="105156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517028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55506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15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updateOffset()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根据对齐方式计算碰撞器相对于 </a:t>
                      </a:r>
                      <a:r>
                        <a:rPr lang="en-US">
                          <a:effectLst/>
                        </a:rPr>
                        <a:t>Transform </a:t>
                      </a:r>
                      <a:r>
                        <a:rPr lang="zh-CN" altLang="en-US">
                          <a:effectLst/>
                        </a:rPr>
                        <a:t>的偏移量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62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getWorldAABB()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关键方法</a:t>
                      </a:r>
                      <a:r>
                        <a:rPr lang="zh-CN" altLang="en-US" dirty="0">
                          <a:effectLst/>
                        </a:rPr>
                        <a:t>：计算碰撞体在世界坐标系中的精确包围盒，为碰撞检测提供数据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9480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0070B0-5DEB-B70A-4441-11D123840518}"/>
              </a:ext>
            </a:extLst>
          </p:cNvPr>
          <p:cNvSpPr txBox="1"/>
          <p:nvPr/>
        </p:nvSpPr>
        <p:spPr>
          <a:xfrm>
            <a:off x="890954" y="3819436"/>
            <a:ext cx="9366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这个组件持有 </a:t>
            </a:r>
            <a:r>
              <a:rPr lang="en-US" b="0" i="0" dirty="0">
                <a:solidFill>
                  <a:srgbClr val="333333"/>
                </a:solidFill>
                <a:effectLst/>
                <a:latin typeface="source-code-pro"/>
              </a:rPr>
              <a:t>Collider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通过 </a:t>
            </a:r>
            <a:r>
              <a:rPr lang="en-US" b="0" i="0" dirty="0">
                <a:solidFill>
                  <a:srgbClr val="333333"/>
                </a:solidFill>
                <a:effectLst/>
                <a:latin typeface="source-code-pro"/>
              </a:rPr>
              <a:t>std::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unique_ptr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管理其生命周期），并像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SpriteComponent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一样，通过 </a:t>
            </a:r>
            <a:r>
              <a:rPr lang="en-US" b="0" i="0" dirty="0">
                <a:solidFill>
                  <a:srgbClr val="333333"/>
                </a:solidFill>
                <a:effectLst/>
                <a:latin typeface="source-code-pro"/>
              </a:rPr>
              <a:t>offset_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和 </a:t>
            </a:r>
            <a:r>
              <a:rPr lang="en-US" b="0" i="0" dirty="0">
                <a:solidFill>
                  <a:srgbClr val="333333"/>
                </a:solidFill>
                <a:effectLst/>
                <a:latin typeface="source-code-pro"/>
              </a:rPr>
              <a:t>alignment_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来确定碰撞体相对于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TransformComponent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的位置。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3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DC7D-E979-0437-B087-57A8C6DF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碰撞检测算法（</a:t>
            </a:r>
            <a:r>
              <a:rPr lang="en-US" b="1" dirty="0" err="1"/>
              <a:t>collision.h</a:t>
            </a:r>
            <a:r>
              <a:rPr lang="en-US" b="1" dirty="0"/>
              <a:t>/</a:t>
            </a:r>
            <a:r>
              <a:rPr lang="en-US" b="1" dirty="0" err="1"/>
              <a:t>cpp</a:t>
            </a:r>
            <a:r>
              <a:rPr lang="en-US" b="1" dirty="0"/>
              <a:t>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54BB5-00DA-EB49-4571-5112FA6E8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我们将所有纯粹的 </a:t>
            </a:r>
            <a:r>
              <a:rPr lang="zh-CN" altLang="en-US" b="1" dirty="0"/>
              <a:t>数学碰撞检测函数</a:t>
            </a:r>
            <a:r>
              <a:rPr lang="zh-CN" altLang="en-US" dirty="0"/>
              <a:t> 放在一个独立的 </a:t>
            </a:r>
            <a:r>
              <a:rPr lang="en-US" altLang="zh-CN" dirty="0"/>
              <a:t>collision</a:t>
            </a:r>
            <a:r>
              <a:rPr lang="zh-CN" altLang="en-US" dirty="0"/>
              <a:t> 命名空间下，这让我们的代码更加清晰。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6FC33F-4F52-B558-D9F7-AEE8DBC3B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998806"/>
              </p:ext>
            </p:extLst>
          </p:nvPr>
        </p:nvGraphicFramePr>
        <p:xfrm>
          <a:off x="1070708" y="2917743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278743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185962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77134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检测类型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算法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复杂度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7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AABB vs AABB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分离轴定理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305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Circle vs Circle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圆心距离比较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836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AABB vs Circle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最近点检测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6309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310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6D05-C222-6C64-37F7-3CBD0DEF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F57FF-0727-29D5-AABE-605A31063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engine/physics/</a:t>
            </a:r>
            <a:r>
              <a:rPr lang="en-US" b="1" dirty="0" err="1"/>
              <a:t>collision.h</a:t>
            </a:r>
            <a:r>
              <a:rPr lang="en-US" b="1" dirty="0"/>
              <a:t>（</a:t>
            </a:r>
            <a:r>
              <a:rPr lang="zh-CN" altLang="en-US" b="1" dirty="0"/>
              <a:t>新建）</a:t>
            </a:r>
          </a:p>
          <a:p>
            <a:r>
              <a:rPr lang="en-US" b="1" dirty="0"/>
              <a:t>engine/physics/collision.cpp（</a:t>
            </a:r>
            <a:r>
              <a:rPr lang="zh-CN" altLang="en-US" b="1" dirty="0"/>
              <a:t>新建）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9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5D9A-C3AF-AE4E-5527-72D6353E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🔑 核心算法：两阶段检测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B5EC-26D9-1650-D63B-900D97F20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checkCollision</a:t>
            </a:r>
            <a:r>
              <a:rPr lang="en-US" dirty="0"/>
              <a:t> </a:t>
            </a:r>
            <a:r>
              <a:rPr lang="zh-CN" altLang="en-US" dirty="0"/>
              <a:t>函数采用 </a:t>
            </a:r>
            <a:r>
              <a:rPr lang="zh-CN" altLang="en-US" b="1" dirty="0"/>
              <a:t>两阶段检测</a:t>
            </a:r>
            <a:r>
              <a:rPr lang="zh-CN" altLang="en-US" dirty="0"/>
              <a:t> 策略：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3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9B4F-D5B8-8DB1-197B-D353450D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阶段 </a:t>
            </a:r>
            <a:r>
              <a:rPr lang="en-US" altLang="zh-CN" b="1" dirty="0"/>
              <a:t>1</a:t>
            </a:r>
            <a:r>
              <a:rPr lang="zh-CN" altLang="en-US" b="1" dirty="0"/>
              <a:t>：粗略检测（</a:t>
            </a:r>
            <a:r>
              <a:rPr lang="en-US" altLang="zh-CN" b="1" dirty="0"/>
              <a:t>AABB </a:t>
            </a:r>
            <a:r>
              <a:rPr lang="zh-CN" altLang="en-US" b="1" dirty="0"/>
              <a:t>过滤）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2353FB-BB11-F101-E839-D6A2017BE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413" y="1690688"/>
            <a:ext cx="4267419" cy="1797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203604-91E4-EA57-8EDD-F10CAF7727CF}"/>
              </a:ext>
            </a:extLst>
          </p:cNvPr>
          <p:cNvSpPr txBox="1"/>
          <p:nvPr/>
        </p:nvSpPr>
        <p:spPr>
          <a:xfrm>
            <a:off x="1060939" y="396698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优势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⚡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AABB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检测非常快速（仅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次比较）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🎯 能过滤掉大部分不碰撞的情况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💰 节省了昂贵的精确检测计算</a:t>
            </a:r>
          </a:p>
        </p:txBody>
      </p:sp>
    </p:spTree>
    <p:extLst>
      <p:ext uri="{BB962C8B-B14F-4D97-AF65-F5344CB8AC3E}">
        <p14:creationId xmlns:p14="http://schemas.microsoft.com/office/powerpoint/2010/main" val="118265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FA8C-38EF-38BF-D456-894357E4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阶段 </a:t>
            </a:r>
            <a:r>
              <a:rPr lang="en-US" altLang="zh-CN" b="1" dirty="0"/>
              <a:t>2</a:t>
            </a:r>
            <a:r>
              <a:rPr lang="zh-CN" altLang="en-US" b="1" dirty="0"/>
              <a:t>：精确检测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3D5E3C-D90A-5F42-B977-9A0DDEAD9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187091"/>
              </p:ext>
            </p:extLst>
          </p:nvPr>
        </p:nvGraphicFramePr>
        <p:xfrm>
          <a:off x="838200" y="1825625"/>
          <a:ext cx="1051559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897933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27792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088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类型组合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检测方法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483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AABB vs AABB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直接返回 </a:t>
                      </a:r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已经在阶段 </a:t>
                      </a:r>
                      <a:r>
                        <a:rPr lang="en-US" altLang="zh-CN">
                          <a:effectLst/>
                        </a:rPr>
                        <a:t>1 </a:t>
                      </a:r>
                      <a:r>
                        <a:rPr lang="zh-CN" altLang="en-US">
                          <a:effectLst/>
                        </a:rPr>
                        <a:t>检测过了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09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Circle vs Circle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圆心距离 </a:t>
                      </a:r>
                      <a:r>
                        <a:rPr lang="en-US" altLang="zh-CN">
                          <a:effectLst/>
                        </a:rPr>
                        <a:t>&lt; </a:t>
                      </a:r>
                      <a:r>
                        <a:rPr lang="zh-CN" altLang="en-US">
                          <a:effectLst/>
                        </a:rPr>
                        <a:t>半径和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distance(c1, c2) &lt; r1 + r2</a:t>
                      </a:r>
                      <a:endParaRPr lang="pt-BR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526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AABB vs Circle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最近点检测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找到 </a:t>
                      </a:r>
                      <a:r>
                        <a:rPr lang="en-US" altLang="zh-CN" dirty="0">
                          <a:effectLst/>
                        </a:rPr>
                        <a:t>AABB </a:t>
                      </a:r>
                      <a:r>
                        <a:rPr lang="zh-CN" altLang="en-US" dirty="0">
                          <a:effectLst/>
                        </a:rPr>
                        <a:t>上离圆心最近的点，检查是否在圆内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898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620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033C0-4649-666A-6C25-AF2C4485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📐 AABB vs Circle </a:t>
            </a:r>
            <a:r>
              <a:rPr lang="zh-CN" altLang="en-US" b="1" dirty="0"/>
              <a:t>算法详解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9A3087-BB97-3849-2FEA-0904A5651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034" y="1690688"/>
            <a:ext cx="3568883" cy="337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62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67D9-1949-8D74-638D-F5E20C7C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在 </a:t>
            </a:r>
            <a:r>
              <a:rPr lang="en-US" b="1" dirty="0" err="1"/>
              <a:t>PhysicsEngine</a:t>
            </a:r>
            <a:r>
              <a:rPr lang="en-US" b="1" dirty="0"/>
              <a:t> </a:t>
            </a:r>
            <a:r>
              <a:rPr lang="zh-CN" altLang="en-US" b="1" dirty="0"/>
              <a:t>中集成碰撞检测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B98A-A04C-4117-5ECA-F1FBEA939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现在，</a:t>
            </a:r>
            <a:r>
              <a:rPr lang="en-US" dirty="0" err="1"/>
              <a:t>PhysicsEngine</a:t>
            </a:r>
            <a:r>
              <a:rPr lang="en-US" dirty="0"/>
              <a:t> </a:t>
            </a:r>
            <a:r>
              <a:rPr lang="zh-CN" altLang="en-US" dirty="0"/>
              <a:t>不仅要更新物体位置，还要负责在更新后检测所有物体之间的碰撞。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b="1" dirty="0"/>
              <a:t>engine/physics/</a:t>
            </a:r>
            <a:r>
              <a:rPr lang="en-US" b="1" dirty="0" err="1"/>
              <a:t>physics_engine.h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  <a:endParaRPr lang="en-US" altLang="zh-CN" b="1" dirty="0"/>
          </a:p>
          <a:p>
            <a:r>
              <a:rPr lang="en-US" b="1" dirty="0"/>
              <a:t>engine/physics/physics_engine.cpp（</a:t>
            </a:r>
            <a:r>
              <a:rPr lang="zh-CN" altLang="en-US" b="1" dirty="0"/>
              <a:t>更新）</a:t>
            </a:r>
          </a:p>
          <a:p>
            <a:endParaRPr lang="zh-CN" altLang="en-US" b="1" dirty="0"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881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F8E0-FDE6-CB10-C362-D05230A2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代码解析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61A32-692E-65C9-5204-A620C49847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098895"/>
              </p:ext>
            </p:extLst>
          </p:nvPr>
        </p:nvGraphicFramePr>
        <p:xfrm>
          <a:off x="838200" y="1825625"/>
          <a:ext cx="10515597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9175606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945318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40490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99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1. </a:t>
                      </a:r>
                      <a:r>
                        <a:rPr lang="zh-CN" altLang="en-US" b="1">
                          <a:effectLst/>
                        </a:rPr>
                        <a:t>清空碰撞记录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collision_pairs_.clear()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每帧开始时清空上一帧的碰撞记录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62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更新位置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遍历所有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PhysicsComponent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应用物理规则更新位置（与上一课相同）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4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3. </a:t>
                      </a:r>
                      <a:r>
                        <a:rPr lang="zh-CN" altLang="en-US" b="1">
                          <a:effectLst/>
                        </a:rPr>
                        <a:t>检测碰撞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checkObjectCollisions()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执行碰撞检测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206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460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4EF9-BFDF-884D-4A89-FA6BAC17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⚙️ </a:t>
            </a:r>
            <a:r>
              <a:rPr lang="en-US" b="1" dirty="0" err="1"/>
              <a:t>checkObjectCollisions</a:t>
            </a:r>
            <a:r>
              <a:rPr lang="en-US" b="1" dirty="0"/>
              <a:t> </a:t>
            </a:r>
            <a:r>
              <a:rPr lang="zh-CN" altLang="en-US" b="1" dirty="0"/>
              <a:t>优化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240B26-02E4-1BE9-EDDF-FF93BC1FC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971" y="1850571"/>
            <a:ext cx="4807197" cy="10541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BCF336-DC6F-894D-3DD1-5B5C7970C276}"/>
              </a:ext>
            </a:extLst>
          </p:cNvPr>
          <p:cNvSpPr txBox="1"/>
          <p:nvPr/>
        </p:nvSpPr>
        <p:spPr>
          <a:xfrm>
            <a:off x="1131277" y="3228092"/>
            <a:ext cx="89388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优化点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内层循环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ource-code-pro"/>
              </a:rPr>
              <a:t>j =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ource-code-pro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ource-code-pro"/>
              </a:rPr>
              <a:t> + 1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：避免重复检测（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A vs B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和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B vs 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避免自我检测（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A vs 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⏱️ 时间复杂度：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O(n²)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666666"/>
                </a:solidFill>
                <a:effectLst/>
                <a:latin typeface="-apple-system"/>
              </a:rPr>
              <a:t>💡 </a:t>
            </a:r>
            <a:r>
              <a:rPr lang="zh-CN" altLang="en-US" b="1" i="0" dirty="0">
                <a:solidFill>
                  <a:srgbClr val="666666"/>
                </a:solidFill>
                <a:effectLst/>
                <a:latin typeface="-apple-system"/>
              </a:rPr>
              <a:t>性能考虑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-apple-system"/>
              </a:rPr>
              <a:t>：对于对象层的物体不多的情况，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-apple-system"/>
              </a:rPr>
              <a:t>O(n²) 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-apple-system"/>
              </a:rPr>
              <a:t>暴力法是可以接受的。瓦片层</a:t>
            </a:r>
            <a:r>
              <a:rPr lang="zh-CN" altLang="en-US" dirty="0">
                <a:solidFill>
                  <a:srgbClr val="666666"/>
                </a:solidFill>
                <a:latin typeface="-apple-system"/>
              </a:rPr>
              <a:t>以后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-apple-system"/>
              </a:rPr>
              <a:t>会在使用专门的优化算法。</a:t>
            </a:r>
          </a:p>
        </p:txBody>
      </p:sp>
    </p:spTree>
    <p:extLst>
      <p:ext uri="{BB962C8B-B14F-4D97-AF65-F5344CB8AC3E}">
        <p14:creationId xmlns:p14="http://schemas.microsoft.com/office/powerpoint/2010/main" val="612259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7077-C9AB-51EC-0791-D4610BEC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碰撞对的存储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9EA05-5A9A-5973-36DA-82568BF5B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44702"/>
            <a:ext cx="3873699" cy="387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47C8F3-91DB-623E-DD8C-F866D528FE92}"/>
              </a:ext>
            </a:extLst>
          </p:cNvPr>
          <p:cNvSpPr txBox="1"/>
          <p:nvPr/>
        </p:nvSpPr>
        <p:spPr>
          <a:xfrm>
            <a:off x="779584" y="2450013"/>
            <a:ext cx="108204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如果 </a:t>
            </a:r>
            <a:r>
              <a:rPr lang="en-US" b="0" i="0" dirty="0">
                <a:solidFill>
                  <a:srgbClr val="333333"/>
                </a:solidFill>
                <a:effectLst/>
                <a:latin typeface="source-code-pro"/>
              </a:rPr>
              <a:t>collision::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checkCollision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返回 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true，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就将这对发生碰撞的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GameObject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指针存入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collision_pairs</a:t>
            </a:r>
            <a:r>
              <a:rPr lang="en-US" b="0" i="0" dirty="0">
                <a:solidFill>
                  <a:srgbClr val="333333"/>
                </a:solidFill>
                <a:effectLst/>
                <a:latin typeface="source-code-pro"/>
              </a:rPr>
              <a:t>_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>
              <a:buNone/>
            </a:pPr>
            <a:endParaRPr 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职责分离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✅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物理引擎：报告碰撞事件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✅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上层逻辑：决定如何响应碰撞</a:t>
            </a:r>
          </a:p>
        </p:txBody>
      </p:sp>
    </p:spTree>
    <p:extLst>
      <p:ext uri="{BB962C8B-B14F-4D97-AF65-F5344CB8AC3E}">
        <p14:creationId xmlns:p14="http://schemas.microsoft.com/office/powerpoint/2010/main" val="3283719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70E1-97BD-0F64-67A0-E64572D0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测试碰撞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42B66-8937-1714-BF0D-8ABDB6DD7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我们在 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中创建两个物体：一个受重力影响的箱子（</a:t>
            </a:r>
            <a:r>
              <a:rPr lang="en-US" dirty="0"/>
              <a:t>AABB </a:t>
            </a:r>
            <a:r>
              <a:rPr lang="zh-CN" altLang="en-US" dirty="0"/>
              <a:t>碰撞体）和一个静止的箱子（圆形碰撞体），并给它们都加上 </a:t>
            </a:r>
            <a:r>
              <a:rPr lang="en-US" dirty="0" err="1"/>
              <a:t>ColliderComponent</a:t>
            </a:r>
            <a:r>
              <a:rPr lang="en-US" dirty="0"/>
              <a:t>。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774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E630-16D0-79CE-06DE-6474E43AA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14656-CBCE-B4A8-A8F1-F4A2C2C59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完整的碰撞检测架构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ABA48-A7DE-8970-296B-3B31DA62E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75" y="2448639"/>
            <a:ext cx="3352972" cy="310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06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5EF2-5057-C149-94DB-7F30BE28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CBA98-A9B1-42FD-4A4B-2AD5D58BA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定义碰撞形状</a:t>
            </a:r>
            <a:r>
              <a:rPr lang="zh-CN" altLang="en-US" dirty="0"/>
              <a:t>：</a:t>
            </a:r>
            <a:r>
              <a:rPr lang="en-US" altLang="zh-CN" dirty="0"/>
              <a:t>AABB </a:t>
            </a:r>
            <a:r>
              <a:rPr lang="zh-CN" altLang="en-US" dirty="0"/>
              <a:t>和 </a:t>
            </a:r>
            <a:r>
              <a:rPr lang="en-US" altLang="zh-CN" dirty="0"/>
              <a:t>Circle </a:t>
            </a:r>
            <a:r>
              <a:rPr lang="zh-CN" altLang="en-US" dirty="0"/>
              <a:t>两种基本形状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创建碰撞组件</a:t>
            </a:r>
            <a:r>
              <a:rPr lang="zh-CN" altLang="en-US" dirty="0"/>
              <a:t>：</a:t>
            </a:r>
            <a:r>
              <a:rPr lang="en-US" altLang="zh-CN" dirty="0" err="1"/>
              <a:t>ColliderComponent</a:t>
            </a:r>
            <a:r>
              <a:rPr lang="en-US" altLang="zh-CN" dirty="0"/>
              <a:t> </a:t>
            </a:r>
            <a:r>
              <a:rPr lang="zh-CN" altLang="en-US" dirty="0"/>
              <a:t>管理碰撞器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实现检测算法</a:t>
            </a:r>
            <a:r>
              <a:rPr lang="zh-CN" altLang="en-US" dirty="0"/>
              <a:t>：两阶段检测优化性能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集成到引擎</a:t>
            </a:r>
            <a:r>
              <a:rPr lang="zh-CN" altLang="en-US" dirty="0"/>
              <a:t>：</a:t>
            </a:r>
            <a:r>
              <a:rPr lang="en-US" altLang="zh-CN" dirty="0" err="1"/>
              <a:t>PhysicsEngine</a:t>
            </a:r>
            <a:r>
              <a:rPr lang="en-US" altLang="zh-CN" dirty="0"/>
              <a:t> </a:t>
            </a:r>
            <a:r>
              <a:rPr lang="zh-CN" altLang="en-US" dirty="0"/>
              <a:t>统一管理碰撞检测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碰撞对记录</a:t>
            </a:r>
            <a:r>
              <a:rPr lang="zh-CN" altLang="en-US" dirty="0"/>
              <a:t>：为下一步碰撞解析做准备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777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6EA6A-DA9F-182F-67B4-DA6D3871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24686-1BC8-FC2A-0876-F5047685E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569"/>
            <a:ext cx="10515600" cy="5363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我们已经为游戏世界建立了碰撞检测系统！</a:t>
            </a:r>
          </a:p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🔷 </a:t>
            </a:r>
            <a:r>
              <a:rPr lang="en-US" altLang="zh-CN" dirty="0"/>
              <a:t>Collider </a:t>
            </a:r>
            <a:r>
              <a:rPr lang="zh-CN" altLang="en-US" dirty="0"/>
              <a:t>定义碰撞形状（</a:t>
            </a:r>
            <a:r>
              <a:rPr lang="en-US" altLang="zh-CN" dirty="0"/>
              <a:t>AABB</a:t>
            </a:r>
            <a:r>
              <a:rPr lang="zh-CN" altLang="en-US" dirty="0"/>
              <a:t>、</a:t>
            </a:r>
            <a:r>
              <a:rPr lang="en-US" altLang="zh-CN" dirty="0"/>
              <a:t>Circle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zh-CN" altLang="en-US" dirty="0"/>
              <a:t>🧩 </a:t>
            </a:r>
            <a:r>
              <a:rPr lang="en-US" altLang="zh-CN" dirty="0" err="1"/>
              <a:t>ColliderComponent</a:t>
            </a:r>
            <a:r>
              <a:rPr lang="en-US" altLang="zh-CN" dirty="0"/>
              <a:t> </a:t>
            </a:r>
            <a:r>
              <a:rPr lang="zh-CN" altLang="en-US" dirty="0"/>
              <a:t>将碰撞器附加到 </a:t>
            </a:r>
            <a:r>
              <a:rPr lang="en-US" altLang="zh-CN" dirty="0" err="1"/>
              <a:t>GameObject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🔍 两阶段检测：</a:t>
            </a:r>
            <a:r>
              <a:rPr lang="en-US" altLang="zh-CN" dirty="0"/>
              <a:t>AABB </a:t>
            </a:r>
            <a:r>
              <a:rPr lang="zh-CN" altLang="en-US" dirty="0"/>
              <a:t>粗检 </a:t>
            </a:r>
            <a:r>
              <a:rPr lang="en-US" altLang="zh-CN" dirty="0"/>
              <a:t>+ </a:t>
            </a:r>
            <a:r>
              <a:rPr lang="zh-CN" altLang="en-US" dirty="0"/>
              <a:t>精确检测</a:t>
            </a:r>
          </a:p>
          <a:p>
            <a:pPr marL="0" indent="0">
              <a:buNone/>
            </a:pPr>
            <a:r>
              <a:rPr lang="zh-CN" altLang="en-US" dirty="0"/>
              <a:t>⚡ </a:t>
            </a:r>
            <a:r>
              <a:rPr lang="en-US" altLang="zh-CN" dirty="0" err="1"/>
              <a:t>PhysicsEngine</a:t>
            </a:r>
            <a:r>
              <a:rPr lang="en-US" altLang="zh-CN" dirty="0"/>
              <a:t> </a:t>
            </a:r>
            <a:r>
              <a:rPr lang="zh-CN" altLang="en-US" dirty="0"/>
              <a:t>统一管理碰撞检测</a:t>
            </a:r>
          </a:p>
          <a:p>
            <a:pPr marL="0" indent="0">
              <a:buNone/>
            </a:pPr>
            <a:r>
              <a:rPr lang="zh-CN" altLang="en-US" dirty="0"/>
              <a:t>📊 </a:t>
            </a:r>
            <a:r>
              <a:rPr lang="en-US" altLang="zh-CN" dirty="0" err="1"/>
              <a:t>collision_pairs</a:t>
            </a:r>
            <a:r>
              <a:rPr lang="en-US" altLang="zh-CN" dirty="0"/>
              <a:t>_ </a:t>
            </a:r>
            <a:r>
              <a:rPr lang="zh-CN" altLang="en-US" dirty="0"/>
              <a:t>记录所有碰撞对</a:t>
            </a:r>
          </a:p>
          <a:p>
            <a:pPr marL="0" indent="0">
              <a:buNone/>
            </a:pPr>
            <a:r>
              <a:rPr lang="zh-CN" altLang="en-US" dirty="0"/>
              <a:t>🎯 </a:t>
            </a:r>
            <a:r>
              <a:rPr lang="en-US" altLang="zh-CN" dirty="0"/>
              <a:t>O(n²) </a:t>
            </a:r>
            <a:r>
              <a:rPr lang="zh-CN" altLang="en-US" dirty="0"/>
              <a:t>适用于对象层，瓦片层需特殊优化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：碰撞检测只负责</a:t>
            </a:r>
            <a:r>
              <a:rPr lang="en-US" altLang="zh-CN" dirty="0"/>
              <a:t>"</a:t>
            </a:r>
            <a:r>
              <a:rPr lang="zh-CN" altLang="en-US" dirty="0"/>
              <a:t>检测</a:t>
            </a:r>
            <a:r>
              <a:rPr lang="en-US" altLang="zh-CN" dirty="0"/>
              <a:t>"</a:t>
            </a:r>
            <a:r>
              <a:rPr lang="zh-CN" altLang="en-US" dirty="0"/>
              <a:t>，不负责</a:t>
            </a:r>
            <a:r>
              <a:rPr lang="en-US" altLang="zh-CN" dirty="0"/>
              <a:t>"</a:t>
            </a:r>
            <a:r>
              <a:rPr lang="zh-CN" altLang="en-US" dirty="0"/>
              <a:t>响应</a:t>
            </a:r>
            <a:r>
              <a:rPr lang="en-US" altLang="zh-CN" dirty="0"/>
              <a:t>"</a:t>
            </a:r>
            <a:r>
              <a:rPr lang="zh-CN" altLang="en-US" dirty="0"/>
              <a:t>。职责分离让系统更加灵活</a:t>
            </a:r>
            <a:r>
              <a:rPr lang="en-US" altLang="zh-CN" dirty="0"/>
              <a:t>——</a:t>
            </a:r>
            <a:r>
              <a:rPr lang="zh-CN" altLang="en-US" dirty="0"/>
              <a:t>我们可以对不同的碰撞做出不同的响应（物理反弹、触发事件、伤害计算等）。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59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3943-91DB-F649-1C9D-292EE51D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A2B5-FC8F-3636-7FE2-3B6027624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我们将继续处理 </a:t>
            </a:r>
            <a:r>
              <a:rPr lang="zh-CN" altLang="en-US" b="1" dirty="0"/>
              <a:t>瓦片层与游戏对象之间的碰撞解析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🗺️ 瓦片层中的物体非常多（可能上千个瓦片）</a:t>
            </a:r>
          </a:p>
          <a:p>
            <a:r>
              <a:rPr lang="zh-CN" altLang="en-US" dirty="0"/>
              <a:t>⚡ 我们会采用专门针对瓦片地图的优化算法</a:t>
            </a:r>
          </a:p>
          <a:p>
            <a:r>
              <a:rPr lang="zh-CN" altLang="en-US" dirty="0"/>
              <a:t>🎯 高效实现碰撞检测（远快于 </a:t>
            </a:r>
            <a:r>
              <a:rPr lang="en-US" altLang="zh-CN" dirty="0"/>
              <a:t>O(n²)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🏃 让角色真正站在地面上，而不是穿透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022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1325</Words>
  <Application>Microsoft Office PowerPoint</Application>
  <PresentationFormat>Widescreen</PresentationFormat>
  <Paragraphs>168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-apple-system</vt:lpstr>
      <vt:lpstr>source-code-pro</vt:lpstr>
      <vt:lpstr>Aptos</vt:lpstr>
      <vt:lpstr>Aptos Display</vt:lpstr>
      <vt:lpstr>Arial</vt:lpstr>
      <vt:lpstr>Office Theme</vt:lpstr>
      <vt:lpstr>碰撞器组件与碰撞检测</vt:lpstr>
      <vt:lpstr>📌 问题背景</vt:lpstr>
      <vt:lpstr>🎯 本课目标</vt:lpstr>
      <vt:lpstr>PowerPoint Presentation</vt:lpstr>
      <vt:lpstr>PowerPoint Presentation</vt:lpstr>
      <vt:lpstr>1. 碰撞形状（Collider）</vt:lpstr>
      <vt:lpstr>PowerPoint Presentation</vt:lpstr>
      <vt:lpstr>设计要点</vt:lpstr>
      <vt:lpstr>💡 为什么圆形也需要 AABB？</vt:lpstr>
      <vt:lpstr>2. ColliderComponent：为 GameObject 添加碰撞体</vt:lpstr>
      <vt:lpstr>核心功能</vt:lpstr>
      <vt:lpstr>PowerPoint Presentation</vt:lpstr>
      <vt:lpstr>关键方法解析</vt:lpstr>
      <vt:lpstr>3. 碰撞检测算法（collision.h/cpp）</vt:lpstr>
      <vt:lpstr>PowerPoint Presentation</vt:lpstr>
      <vt:lpstr>🔑 核心算法：两阶段检测</vt:lpstr>
      <vt:lpstr>阶段 1：粗略检测（AABB 过滤）</vt:lpstr>
      <vt:lpstr>阶段 2：精确检测</vt:lpstr>
      <vt:lpstr>📐 AABB vs Circle 算法详解</vt:lpstr>
      <vt:lpstr>4. 在 PhysicsEngine 中集成碰撞检测</vt:lpstr>
      <vt:lpstr>代码解析</vt:lpstr>
      <vt:lpstr>⚙️ checkObjectCollisions 优化</vt:lpstr>
      <vt:lpstr>碰撞对的存储</vt:lpstr>
      <vt:lpstr>5. 测试碰撞</vt:lpstr>
      <vt:lpstr>🎯 系统架构总结</vt:lpstr>
      <vt:lpstr>核心成就</vt:lpstr>
      <vt:lpstr>📚 总结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2025-11-13T05:13:31Z</dcterms:created>
  <dcterms:modified xsi:type="dcterms:W3CDTF">2025-11-13T05:28:39Z</dcterms:modified>
</cp:coreProperties>
</file>