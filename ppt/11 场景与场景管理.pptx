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F4A5B-A3E3-5F55-0900-23DD33C2A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E73527-59B4-2ADC-6BFE-2AE7FDCA6D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E0D80-6DF0-E6E5-C1B9-5089F7654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9263A-3BEC-41C3-A15C-EDB091FA1030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FABB1-D2CC-682D-C22D-EF0151269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8B55B-93CC-79B3-9611-D6BB5B59A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85C89-9B1C-4DE0-B503-3F0C24CA2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236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9EBB3-CFA5-C232-8696-B43925270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1E3EF-6709-5CCF-0C8E-A23272598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9BB91-0991-708A-B626-3EBC8E9EA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9263A-3BEC-41C3-A15C-EDB091FA1030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221D5-3D69-4E3F-898E-5C8DEBFAE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AC897-B46E-7CB4-4C11-4E59CA7C9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85C89-9B1C-4DE0-B503-3F0C24CA2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134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7A1DC-0E9F-9B26-E728-3D1BEEF04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F4EFC9-3241-5E9A-7022-1A130B782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75506-ABD8-0D9B-1F56-8BE972B7A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9263A-3BEC-41C3-A15C-EDB091FA1030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5B5BC-11F4-2A6E-008B-FA4E93B31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5E87C-A3D6-0D7C-3235-E71EC7301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85C89-9B1C-4DE0-B503-3F0C24CA2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095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1AAE4-21CD-E099-EC4E-3A7677C92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86D63-ABA3-7D70-3E69-DAAFDFA4D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C8DAA-4104-AD73-E97D-02F416175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C75314-B583-0053-F045-7D7C91724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9263A-3BEC-41C3-A15C-EDB091FA1030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894965-E6F1-125C-9A6C-627F524D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8F4F1-B98B-DA15-AB08-46F74DB88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85C89-9B1C-4DE0-B503-3F0C24CA2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764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FD38D-1CB0-CD69-7626-074818AB6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51A59-EAB1-1DF2-A07E-8C89B62A0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7CC00-0498-AF9A-D579-36953EC4BC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02E27C-5626-DBCB-766C-1FFF10EA5A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53537A-6A43-C7BA-9C17-1DCE3E50EC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B0D682-275E-C5E8-BF7D-48149840E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9263A-3BEC-41C3-A15C-EDB091FA1030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01860F-14E5-E35D-BC4C-EC9E359F8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89CD93-D660-E107-724E-1770EB608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85C89-9B1C-4DE0-B503-3F0C24CA2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76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CA043-82B9-7382-EC77-FC8E0756F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EF860-D070-78CC-75F8-626BCD297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9263A-3BEC-41C3-A15C-EDB091FA1030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E05396-1082-1501-EF3B-13942BAF1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5B5ABF-A857-CE86-BAD5-12297006C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85C89-9B1C-4DE0-B503-3F0C24CA2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80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EFA2BA-E2ED-BDFB-9CFA-1E035E2A8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9263A-3BEC-41C3-A15C-EDB091FA1030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52D259-3E2D-B5F6-0951-83EDD436B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CBAC1-5CC7-4341-A587-1D39D3CD6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85C89-9B1C-4DE0-B503-3F0C24CA2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536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FCC3E-F5E6-D79F-9F4F-53D92475A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4A921-CE7B-BBDE-E465-12239CB65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6CA576-EEDA-1A12-02AD-F82795E82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F01343-41D2-7530-103E-824A9D97D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9263A-3BEC-41C3-A15C-EDB091FA1030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B7EBC6-B372-7986-47C5-7FAB663F6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6CF847-7917-9D01-8FC6-9B94B18E2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85C89-9B1C-4DE0-B503-3F0C24CA2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340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F0D63-9F7A-B2A8-8227-17CB85E98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841F10-78A2-F351-D6AA-18F441566F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856BB1-D208-8F4C-9070-C2E143B76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4FEF2-71F7-CBD9-D8A6-096332867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9263A-3BEC-41C3-A15C-EDB091FA1030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03E79F-ACE0-6439-AE29-8B9C4E519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03FD1F-393C-7C01-9556-342FD6F40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85C89-9B1C-4DE0-B503-3F0C24CA2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133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0015E-C73E-E462-B64F-83ADB274F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C038E0-30E3-4B97-87BD-FC2240AD5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F02EF-44D8-79E1-E09B-2D1A80943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9263A-3BEC-41C3-A15C-EDB091FA1030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DA220-539A-0D17-E42F-6D45322F2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3302A-409D-3FAE-3151-3CECAB58E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85C89-9B1C-4DE0-B503-3F0C24CA2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62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D0DEF3-D8F6-4FF4-396B-045913F87C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264A37-09E1-8898-5504-9FC8BC603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44F9B-822A-4440-27D1-55217DE12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9263A-3BEC-41C3-A15C-EDB091FA1030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A4D72-AC5E-185F-44D8-56DA4792A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2BA75-4FFF-9B43-A5CA-76BEDCC70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85C89-9B1C-4DE0-B503-3F0C24CA2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731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F1088D-488E-7D3C-72A2-28609167E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BFEEFE-8E32-A703-0E31-A8DB94991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3F348-43D3-E782-4965-9A702BB541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99263A-3BEC-41C3-A15C-EDB091FA1030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40270-4306-66EC-86AE-DB7FB3EC2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9D139-D69F-BF3C-ED03-41D33A9DDD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685C89-9B1C-4DE0-B503-3F0C24CA2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439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520D9-17C1-87E4-9A82-B811BF5421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场景与场景管理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0F7CB1-3B40-D8BC-A910-B3F801335A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92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04EED-F9CD-73AA-C991-2BA2A9D5A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📌 问题背景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4D077-DEDC-A044-38DA-A684C0014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到目前为止，我们所有的测试代码都直接写在 </a:t>
            </a:r>
            <a:r>
              <a:rPr lang="en-US" altLang="zh-CN" dirty="0" err="1"/>
              <a:t>GameApp</a:t>
            </a:r>
            <a:r>
              <a:rPr lang="zh-CN" altLang="en-US" dirty="0"/>
              <a:t> 中。虽然这在初期很方便，但随着项目变大，</a:t>
            </a:r>
            <a:r>
              <a:rPr lang="en-US" altLang="zh-CN" dirty="0" err="1"/>
              <a:t>GameApp</a:t>
            </a:r>
            <a:r>
              <a:rPr lang="zh-CN" altLang="en-US" dirty="0"/>
              <a:t> 会变得臃肿不堪。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614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73C15-1110-333A-97F3-16A7779F0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⚠️ 现有架构的问题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E062C-7F72-288E-C585-45527432B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692"/>
            <a:ext cx="10515600" cy="49981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一个完整的游戏包含多个状态：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b="1" dirty="0"/>
              <a:t>把所有这些逻辑都塞进一个类里，会是一场灾难。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本节课，我们将构建一个 </a:t>
            </a:r>
            <a:r>
              <a:rPr lang="zh-CN" altLang="en-US" b="1" dirty="0"/>
              <a:t>场景管理系统</a:t>
            </a:r>
            <a:r>
              <a:rPr lang="zh-CN" altLang="en-US" dirty="0"/>
              <a:t>，将游戏的不同部分划分到独立的 </a:t>
            </a:r>
            <a:r>
              <a:rPr lang="zh-CN" altLang="en-US" b="1" dirty="0"/>
              <a:t>场景（</a:t>
            </a:r>
            <a:r>
              <a:rPr lang="en-US" altLang="zh-CN" b="1" dirty="0"/>
              <a:t>Scene</a:t>
            </a:r>
            <a:r>
              <a:rPr lang="zh-CN" altLang="en-US" b="1" dirty="0"/>
              <a:t>）</a:t>
            </a:r>
            <a:r>
              <a:rPr lang="zh-CN" altLang="en-US" dirty="0"/>
              <a:t> 中，并由 </a:t>
            </a:r>
            <a:r>
              <a:rPr lang="zh-CN" altLang="en-US" b="1" dirty="0"/>
              <a:t>场景管理器（</a:t>
            </a:r>
            <a:r>
              <a:rPr lang="en-US" altLang="zh-CN" b="1" dirty="0" err="1"/>
              <a:t>SceneManager</a:t>
            </a:r>
            <a:r>
              <a:rPr lang="zh-CN" altLang="en-US" b="1" dirty="0"/>
              <a:t>）</a:t>
            </a:r>
            <a:r>
              <a:rPr lang="zh-CN" altLang="en-US" dirty="0"/>
              <a:t> 来统一调度。</a:t>
            </a:r>
          </a:p>
          <a:p>
            <a:r>
              <a:rPr lang="zh-CN" altLang="en-US" dirty="0"/>
              <a:t>🎯 这是构建一个真正可扩展游戏架构的关键一步。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C6802D-0A90-3E57-E91A-3EDAA1294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719" y="1939206"/>
            <a:ext cx="1930499" cy="209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418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77655-1891-4FCA-F3FD-3A4946388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核心概念：场景栈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EE5A1-4150-0ABF-D4CE-D5AA81665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我们将使用一种经典且强大的模式</a:t>
            </a:r>
            <a:r>
              <a:rPr lang="en-US" altLang="zh-CN" dirty="0"/>
              <a:t>——</a:t>
            </a:r>
            <a:r>
              <a:rPr lang="zh-CN" altLang="en-US" b="1" dirty="0"/>
              <a:t>场景栈（</a:t>
            </a:r>
            <a:r>
              <a:rPr lang="en-US" altLang="zh-CN" b="1" dirty="0"/>
              <a:t>Scene Stack</a:t>
            </a:r>
            <a:r>
              <a:rPr lang="zh-CN" altLang="en-US" b="1" dirty="0"/>
              <a:t>）</a:t>
            </a:r>
            <a:r>
              <a:rPr lang="zh-CN" altLang="en-US" dirty="0"/>
              <a:t>。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3E381C-7419-EA06-0B53-4BC41CC56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189" y="2412420"/>
            <a:ext cx="6483683" cy="356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328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39B5F-CED1-839D-27BC-1474A4548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D64E50-A4EC-2DCE-7D5F-B936D0D877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8282" y="2226378"/>
            <a:ext cx="6515435" cy="354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264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05E87-D163-FC3F-CEEE-4BFB172C8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487B32-80E2-27C6-30DD-1ACB2A74F1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7808" y="2229553"/>
            <a:ext cx="6496384" cy="354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267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B42D8-8C1A-3B1B-AA1C-2BC06BA62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65C06-FB5C-A7C6-0D37-B93FCFCB2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/>
              <a:t>Scene</a:t>
            </a:r>
            <a:r>
              <a:rPr lang="zh-CN" altLang="en-US" b="1" dirty="0"/>
              <a:t>（场景）</a:t>
            </a:r>
          </a:p>
          <a:p>
            <a:pPr marL="0" indent="0">
              <a:buNone/>
            </a:pPr>
            <a:r>
              <a:rPr lang="zh-CN" altLang="en-US" sz="2000" dirty="0"/>
              <a:t>代表游戏的一个独立状态，比如 </a:t>
            </a:r>
            <a:r>
              <a:rPr lang="en-US" altLang="zh-CN" sz="2000" dirty="0" err="1"/>
              <a:t>MainMenuScene</a:t>
            </a:r>
            <a:r>
              <a:rPr lang="en-US" altLang="zh-CN" sz="2000" dirty="0"/>
              <a:t>, </a:t>
            </a:r>
            <a:r>
              <a:rPr lang="en-US" altLang="zh-CN" sz="2000" dirty="0" err="1"/>
              <a:t>GameScene</a:t>
            </a:r>
            <a:r>
              <a:rPr lang="en-US" altLang="zh-CN" sz="2000" dirty="0"/>
              <a:t>, </a:t>
            </a:r>
            <a:r>
              <a:rPr lang="en-US" altLang="zh-CN" sz="2000" dirty="0" err="1"/>
              <a:t>PauseScene</a:t>
            </a:r>
            <a:r>
              <a:rPr lang="zh-CN" altLang="en-US" sz="2000" dirty="0"/>
              <a:t>。</a:t>
            </a:r>
          </a:p>
          <a:p>
            <a:pPr marL="0" indent="0">
              <a:buNone/>
            </a:pPr>
            <a:r>
              <a:rPr lang="zh-CN" altLang="en-US" b="1" dirty="0"/>
              <a:t>特点：</a:t>
            </a:r>
            <a:endParaRPr lang="zh-CN" altLang="en-US" dirty="0"/>
          </a:p>
          <a:p>
            <a:r>
              <a:rPr lang="zh-CN" altLang="en-US" sz="2000" dirty="0"/>
              <a:t>每个场景都拥有和管理自己的一组游戏对象（</a:t>
            </a:r>
            <a:r>
              <a:rPr lang="en-US" altLang="zh-CN" sz="2000" dirty="0" err="1"/>
              <a:t>GameObject</a:t>
            </a:r>
            <a:r>
              <a:rPr lang="zh-CN" altLang="en-US" sz="2000" dirty="0"/>
              <a:t>）</a:t>
            </a:r>
          </a:p>
          <a:p>
            <a:r>
              <a:rPr lang="zh-CN" altLang="en-US" sz="2000" dirty="0"/>
              <a:t>场景之间相互独立</a:t>
            </a:r>
          </a:p>
          <a:p>
            <a:pPr marL="0" indent="0">
              <a:buNone/>
            </a:pPr>
            <a:r>
              <a:rPr lang="en-US" altLang="zh-CN" b="1" dirty="0" err="1"/>
              <a:t>SceneManager</a:t>
            </a:r>
            <a:r>
              <a:rPr lang="zh-CN" altLang="en-US" b="1" dirty="0"/>
              <a:t>（场景管理器）</a:t>
            </a:r>
          </a:p>
          <a:p>
            <a:r>
              <a:rPr lang="zh-CN" altLang="en-US" sz="2000" dirty="0"/>
              <a:t>负责维护一个场景的</a:t>
            </a:r>
            <a:r>
              <a:rPr lang="en-US" altLang="zh-CN" sz="2000" dirty="0"/>
              <a:t>"</a:t>
            </a:r>
            <a:r>
              <a:rPr lang="zh-CN" altLang="en-US" sz="2000" dirty="0"/>
              <a:t>栈</a:t>
            </a:r>
            <a:r>
              <a:rPr lang="en-US" altLang="zh-CN" sz="2000" dirty="0"/>
              <a:t>"</a:t>
            </a:r>
            <a:r>
              <a:rPr lang="zh-CN" altLang="en-US" sz="2000" dirty="0"/>
              <a:t>结构。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016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67EDD-FD64-4449-A0C9-8F5B245E5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三种基本操作：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FC084D8-341A-EB02-40B8-96DA2E3E9F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2277603"/>
              </p:ext>
            </p:extLst>
          </p:nvPr>
        </p:nvGraphicFramePr>
        <p:xfrm>
          <a:off x="838200" y="1825625"/>
          <a:ext cx="10515597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8517853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60563715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2673190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操作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使用场景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1912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Push（</a:t>
                      </a:r>
                      <a:r>
                        <a:rPr lang="zh-CN" altLang="en-US" b="1">
                          <a:effectLst/>
                        </a:rPr>
                        <a:t>压入）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将新场景压入栈顶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从主菜单进入游戏时，将 </a:t>
                      </a:r>
                      <a:r>
                        <a:rPr lang="en-US" altLang="zh-CN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GameScene</a:t>
                      </a:r>
                      <a:r>
                        <a:rPr lang="zh-CN" altLang="en-US" dirty="0">
                          <a:effectLst/>
                        </a:rPr>
                        <a:t> 压入栈顶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1653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Pop（</a:t>
                      </a:r>
                      <a:r>
                        <a:rPr lang="zh-CN" altLang="en-US" b="1">
                          <a:effectLst/>
                        </a:rPr>
                        <a:t>弹出）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将栈顶场景弹出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从游戏退出返回主菜单时，将 </a:t>
                      </a:r>
                      <a:r>
                        <a:rPr lang="en-US" altLang="zh-CN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GameScene</a:t>
                      </a:r>
                      <a:r>
                        <a:rPr lang="zh-CN" altLang="en-US" dirty="0">
                          <a:effectLst/>
                        </a:rPr>
                        <a:t> 弹出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3190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Replace（</a:t>
                      </a:r>
                      <a:r>
                        <a:rPr lang="zh-CN" altLang="en-US" b="1">
                          <a:effectLst/>
                        </a:rPr>
                        <a:t>替换）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替换栈顶场景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从第一关切换到第二关时，用 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Level2Scene</a:t>
                      </a:r>
                      <a:r>
                        <a:rPr lang="en-US" dirty="0">
                          <a:effectLst/>
                        </a:rPr>
                        <a:t> </a:t>
                      </a:r>
                      <a:r>
                        <a:rPr lang="zh-CN" altLang="en-US" dirty="0">
                          <a:effectLst/>
                        </a:rPr>
                        <a:t>替换 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Level1Scene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0770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6161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3A17D-9A98-A6B0-3393-C4FA5EB37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🎮 </a:t>
            </a:r>
            <a:r>
              <a:rPr lang="zh-CN" altLang="en-US" b="1" dirty="0"/>
              <a:t>渲染与更新策略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5B405FE-74CF-8EC8-82CE-961ACF2FB1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10932"/>
              </p:ext>
            </p:extLst>
          </p:nvPr>
        </p:nvGraphicFramePr>
        <p:xfrm>
          <a:off x="838200" y="1825625"/>
          <a:ext cx="10515597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21942833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83721347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0108988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生命周期方法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作用范围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613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handleInput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()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仅栈顶场景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只有栈顶的场景接收输入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491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update()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仅栈顶场景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只有栈顶的场景更新逻辑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9112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render()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所有场景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渲染时可能会渲染栈中的多个场景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6104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5034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5D47B-4C9B-6E5A-01D6-61E9728D8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2. </a:t>
            </a:r>
            <a:r>
              <a:rPr lang="zh-CN" altLang="en-US" b="1" dirty="0"/>
              <a:t>新的项目结构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72D2B6-632F-0108-A9A1-9656F4B7D9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4440" y="1851954"/>
            <a:ext cx="4750044" cy="421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007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A229D-AACD-F1BF-0679-0F4E7E5FC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Scene </a:t>
            </a:r>
            <a:r>
              <a:rPr lang="zh-CN" altLang="en-US" b="1" dirty="0"/>
              <a:t>基类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F2C84-84BA-3021-E614-A707E9D0A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这是所有具体场景的父类，它定义了一个场景的基本框架。</a:t>
            </a:r>
            <a:endParaRPr lang="en-US" altLang="zh-CN" dirty="0"/>
          </a:p>
          <a:p>
            <a:r>
              <a:rPr lang="en-US" b="1" dirty="0"/>
              <a:t>engine/scene/</a:t>
            </a:r>
            <a:r>
              <a:rPr lang="en-US" b="1" dirty="0" err="1"/>
              <a:t>scene.h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987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BB41E-B66C-38BA-D38D-9839466AF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核心职责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50573B-B1CA-E505-57E5-167FCC79E6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9202722"/>
              </p:ext>
            </p:extLst>
          </p:nvPr>
        </p:nvGraphicFramePr>
        <p:xfrm>
          <a:off x="838200" y="1825625"/>
          <a:ext cx="10515600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75243619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336508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职责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9570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管理 </a:t>
                      </a:r>
                      <a:r>
                        <a:rPr lang="en-US" b="1">
                          <a:effectLst/>
                        </a:rPr>
                        <a:t>GameObject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管理一个 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std::vector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zh-CN" altLang="en-US" sz="1600" dirty="0">
                          <a:effectLst/>
                        </a:rPr>
                        <a:t>的 </a:t>
                      </a:r>
                      <a:r>
                        <a:rPr lang="en-US" sz="1600" dirty="0" err="1">
                          <a:effectLst/>
                        </a:rPr>
                        <a:t>GameObject</a:t>
                      </a:r>
                      <a:r>
                        <a:rPr lang="en-US" sz="1600" dirty="0">
                          <a:effectLst/>
                        </a:rPr>
                        <a:t>，</a:t>
                      </a:r>
                      <a:r>
                        <a:rPr lang="zh-CN" altLang="en-US" sz="1600" dirty="0">
                          <a:effectLst/>
                        </a:rPr>
                        <a:t>在自己的生命周期内调用这些对象的 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update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</a:rPr>
                        <a:t>, 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render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</a:rPr>
                        <a:t>, 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handleInput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0118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安全的对象管理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提供 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safeAddGameObject</a:t>
                      </a:r>
                      <a:r>
                        <a:rPr lang="en-US" sz="1600" dirty="0">
                          <a:effectLst/>
                        </a:rPr>
                        <a:t> </a:t>
                      </a:r>
                      <a:r>
                        <a:rPr lang="zh-CN" altLang="en-US" sz="1600" dirty="0">
                          <a:effectLst/>
                        </a:rPr>
                        <a:t>和 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safeRemoveGameObject</a:t>
                      </a:r>
                      <a:r>
                        <a:rPr lang="en-US" sz="1600" dirty="0">
                          <a:effectLst/>
                        </a:rPr>
                        <a:t> </a:t>
                      </a:r>
                      <a:r>
                        <a:rPr lang="zh-CN" altLang="en-US" sz="1600" dirty="0">
                          <a:effectLst/>
                        </a:rPr>
                        <a:t>方法，避免在游戏循环中直接修改容器导致迭代器失效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1750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947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E8CBE-69BE-035B-8333-DEE3C2F53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🛡️ 安全的对象管理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E3073-B393-ECFE-166A-949EE46A4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在游戏循环中直接添加或删除对象（即修改 </a:t>
            </a:r>
            <a:r>
              <a:rPr lang="en-US" dirty="0" err="1"/>
              <a:t>game_objects</a:t>
            </a:r>
            <a:r>
              <a:rPr lang="en-US" dirty="0"/>
              <a:t>_ </a:t>
            </a:r>
            <a:r>
              <a:rPr lang="zh-CN" altLang="en-US" dirty="0"/>
              <a:t>这个 </a:t>
            </a:r>
            <a:r>
              <a:rPr lang="en-US" dirty="0"/>
              <a:t>vector）</a:t>
            </a:r>
            <a:r>
              <a:rPr lang="zh-CN" altLang="en-US" dirty="0"/>
              <a:t>是 </a:t>
            </a:r>
            <a:r>
              <a:rPr lang="zh-CN" altLang="en-US" b="1" dirty="0"/>
              <a:t>非常危险</a:t>
            </a:r>
            <a:r>
              <a:rPr lang="zh-CN" altLang="en-US" dirty="0"/>
              <a:t> 的，因为它可能导致迭代器失效。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B7F5E1-F283-E7F6-4F2F-51CF39CBE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345" y="2720781"/>
            <a:ext cx="3187864" cy="377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525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5B79A-886C-D66F-8C06-74B13ED67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A4228-54B7-E029-84C8-8E4E282B5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engine/scene/scene.cpp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921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D867F-8C3E-5235-6E9D-249DADC55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</a:t>
            </a:r>
            <a:r>
              <a:rPr lang="en-US" b="1" dirty="0" err="1"/>
              <a:t>SceneManager</a:t>
            </a:r>
            <a:r>
              <a:rPr lang="en-US" b="1" dirty="0"/>
              <a:t>：</a:t>
            </a:r>
            <a:r>
              <a:rPr lang="zh-CN" altLang="en-US" b="1" dirty="0"/>
              <a:t>场景的总调度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52FD0-8F19-14CF-03A9-69CF9E975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SceneManager</a:t>
            </a:r>
            <a:r>
              <a:rPr lang="zh-CN" altLang="en-US" dirty="0"/>
              <a:t> 是引擎的核心部分，它负责场景的切换逻辑。</a:t>
            </a:r>
            <a:endParaRPr lang="en-US" altLang="zh-CN" dirty="0"/>
          </a:p>
          <a:p>
            <a:r>
              <a:rPr lang="en-US" b="1" dirty="0"/>
              <a:t>engine/scene/</a:t>
            </a:r>
            <a:r>
              <a:rPr lang="en-US" b="1" dirty="0" err="1"/>
              <a:t>scene_manager.h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226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EFBBC-3B97-5748-ED3C-82675B9CB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🔑 </a:t>
            </a:r>
            <a:r>
              <a:rPr lang="zh-CN" altLang="en-US" b="1" dirty="0"/>
              <a:t>关键设计：延迟处理（</a:t>
            </a:r>
            <a:r>
              <a:rPr lang="en-US" b="1" dirty="0"/>
              <a:t>Pending Actions）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CC41E-C824-AB64-D525-2FCFA9618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与 </a:t>
            </a:r>
            <a:r>
              <a:rPr lang="en-US" dirty="0"/>
              <a:t>Scene </a:t>
            </a:r>
            <a:r>
              <a:rPr lang="zh-CN" altLang="en-US" dirty="0"/>
              <a:t>管理 </a:t>
            </a:r>
            <a:r>
              <a:rPr lang="en-US" dirty="0" err="1"/>
              <a:t>GameObject</a:t>
            </a:r>
            <a:r>
              <a:rPr lang="en-US" dirty="0"/>
              <a:t> </a:t>
            </a:r>
            <a:r>
              <a:rPr lang="zh-CN" altLang="en-US" dirty="0"/>
              <a:t>类似，</a:t>
            </a:r>
            <a:r>
              <a:rPr lang="en-US" dirty="0" err="1"/>
              <a:t>SceneManager</a:t>
            </a:r>
            <a:r>
              <a:rPr lang="en-US" dirty="0"/>
              <a:t> </a:t>
            </a:r>
            <a:r>
              <a:rPr lang="zh-CN" altLang="en-US" dirty="0"/>
              <a:t>也不能在主循环中直接修改场景栈。</a:t>
            </a:r>
          </a:p>
          <a:p>
            <a:pPr marL="0" indent="0">
              <a:buNone/>
            </a:pPr>
            <a:r>
              <a:rPr lang="zh-CN" altLang="en-US" b="1" dirty="0"/>
              <a:t>原因：</a:t>
            </a:r>
            <a:endParaRPr lang="zh-CN" altLang="en-US" dirty="0"/>
          </a:p>
          <a:p>
            <a:r>
              <a:rPr lang="zh-CN" altLang="en-US" dirty="0"/>
              <a:t>避免在遍历栈时修改栈结构</a:t>
            </a:r>
          </a:p>
          <a:p>
            <a:r>
              <a:rPr lang="zh-CN" altLang="en-US" dirty="0"/>
              <a:t>保证场景切换的稳定性和安全性</a:t>
            </a:r>
          </a:p>
          <a:p>
            <a:pPr marL="0" indent="0">
              <a:buNone/>
            </a:pPr>
            <a:r>
              <a:rPr lang="zh-CN" altLang="en-US" b="1" dirty="0"/>
              <a:t>实现：</a:t>
            </a:r>
            <a:endParaRPr lang="zh-CN" altLang="en-US" dirty="0"/>
          </a:p>
          <a:p>
            <a:r>
              <a:rPr lang="zh-CN" altLang="en-US" dirty="0"/>
              <a:t>使用 </a:t>
            </a:r>
            <a:r>
              <a:rPr lang="en-US" dirty="0" err="1"/>
              <a:t>pending_action</a:t>
            </a:r>
            <a:r>
              <a:rPr lang="en-US" dirty="0"/>
              <a:t>_ </a:t>
            </a:r>
            <a:r>
              <a:rPr lang="zh-CN" altLang="en-US" dirty="0"/>
              <a:t>记录请求（</a:t>
            </a:r>
            <a:r>
              <a:rPr lang="en-US" dirty="0"/>
              <a:t>Push, Pop, or Replace）</a:t>
            </a:r>
          </a:p>
          <a:p>
            <a:r>
              <a:rPr lang="zh-CN" altLang="en-US" dirty="0"/>
              <a:t>在 </a:t>
            </a:r>
            <a:r>
              <a:rPr lang="en-US" dirty="0"/>
              <a:t>update </a:t>
            </a:r>
            <a:r>
              <a:rPr lang="zh-CN" altLang="en-US" dirty="0"/>
              <a:t>的最后统一处理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648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36878-5005-A92B-39F7-B80C5DD13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C6AA7C-AC3D-FF2B-33A5-2525B56AD7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2883048" cy="219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429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E8CFD-B6D2-1760-93CD-04B4D9AF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engine/scene/scene_manager.cpp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35FA3-FB6D-A6AE-0535-B37D09F78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07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D6F05-341C-58D0-6639-B6BD7CA27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5. </a:t>
            </a:r>
            <a:r>
              <a:rPr lang="en-US" b="1" dirty="0" err="1"/>
              <a:t>GameScene</a:t>
            </a:r>
            <a:r>
              <a:rPr lang="en-US" b="1" dirty="0"/>
              <a:t>：</a:t>
            </a:r>
            <a:r>
              <a:rPr lang="zh-CN" altLang="en-US" b="1" dirty="0"/>
              <a:t>我们的第一个具体场景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0CD6C-88F3-1A06-523A-DE29CF42D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现在，我们把之前在 </a:t>
            </a:r>
            <a:r>
              <a:rPr lang="en-US" dirty="0" err="1"/>
              <a:t>GameApp</a:t>
            </a:r>
            <a:r>
              <a:rPr lang="en-US" dirty="0"/>
              <a:t> </a:t>
            </a:r>
            <a:r>
              <a:rPr lang="zh-CN" altLang="en-US" dirty="0"/>
              <a:t>中的测试逻辑，迁移到一个专门的 </a:t>
            </a:r>
            <a:r>
              <a:rPr lang="en-US" dirty="0" err="1"/>
              <a:t>GameScene</a:t>
            </a:r>
            <a:r>
              <a:rPr lang="en-US" dirty="0"/>
              <a:t> </a:t>
            </a:r>
            <a:r>
              <a:rPr lang="zh-CN" altLang="en-US" dirty="0"/>
              <a:t>中。这是我们第一个属于 </a:t>
            </a:r>
            <a:r>
              <a:rPr lang="en-US" b="1" dirty="0"/>
              <a:t>game </a:t>
            </a:r>
            <a:r>
              <a:rPr lang="zh-CN" altLang="en-US" b="1" dirty="0"/>
              <a:t>逻辑层</a:t>
            </a:r>
            <a:r>
              <a:rPr lang="zh-CN" altLang="en-US" dirty="0"/>
              <a:t> 的类。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/game/scene/</a:t>
            </a:r>
            <a:r>
              <a:rPr lang="en-US" b="1" dirty="0" err="1"/>
              <a:t>game_scene.h</a:t>
            </a:r>
            <a:endParaRPr lang="en-US" b="1" dirty="0"/>
          </a:p>
          <a:p>
            <a:r>
              <a:rPr lang="en-US" b="1" dirty="0" err="1"/>
              <a:t>src</a:t>
            </a:r>
            <a:r>
              <a:rPr lang="en-US" b="1" dirty="0"/>
              <a:t>/game/scene/game_scene.cpp</a:t>
            </a:r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09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7BE4E-9B84-656E-D92A-330E0BAB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🎯 </a:t>
            </a:r>
            <a:r>
              <a:rPr lang="zh-CN" altLang="en-US" b="1" dirty="0"/>
              <a:t>设计亮点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2B3F496-2088-E135-6771-C751517814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5127640"/>
              </p:ext>
            </p:extLst>
          </p:nvPr>
        </p:nvGraphicFramePr>
        <p:xfrm>
          <a:off x="838200" y="1825625"/>
          <a:ext cx="105156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4236496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354997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特性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9023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继承 </a:t>
                      </a:r>
                      <a:r>
                        <a:rPr lang="en-US" b="1">
                          <a:effectLst/>
                        </a:rPr>
                        <a:t>Scene </a:t>
                      </a:r>
                      <a:r>
                        <a:rPr lang="zh-CN" altLang="en-US" b="1">
                          <a:effectLst/>
                        </a:rPr>
                        <a:t>基类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获得完整的场景生命周期管理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2521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调用基类方法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在各生命周期函数中调用 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Scene::xxx()</a:t>
                      </a:r>
                      <a:r>
                        <a:rPr lang="zh-CN" altLang="en-US" dirty="0">
                          <a:effectLst/>
                        </a:rPr>
                        <a:t>，确保基类逻辑正确执行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6788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逻辑封装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将对象创建封装到 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createTestObject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()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zh-CN" altLang="en-US" dirty="0">
                          <a:effectLst/>
                        </a:rPr>
                        <a:t>等私有方法中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1686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命名空间分离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使用 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game::scene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zh-CN" altLang="en-US" dirty="0">
                          <a:effectLst/>
                        </a:rPr>
                        <a:t>命名空间，与引擎层分离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9879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7858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A6BF6-8D79-D2B2-CE81-A4636AD29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 </a:t>
            </a:r>
            <a:r>
              <a:rPr lang="zh-CN" altLang="en-US" b="1" dirty="0"/>
              <a:t>改造 </a:t>
            </a:r>
            <a:r>
              <a:rPr lang="en-US" b="1" dirty="0" err="1"/>
              <a:t>GameApp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3C0AB-592E-53C3-117C-02F8DDAB8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最后一步，我们改造 </a:t>
            </a:r>
            <a:r>
              <a:rPr lang="en-US" altLang="zh-CN" dirty="0" err="1"/>
              <a:t>GameApp</a:t>
            </a:r>
            <a:r>
              <a:rPr lang="zh-CN" altLang="en-US" dirty="0"/>
              <a:t>，让它成为一个 </a:t>
            </a:r>
            <a:r>
              <a:rPr lang="zh-CN" altLang="en-US" b="1" dirty="0"/>
              <a:t>纯粹的引擎引导者和循环驱动者</a:t>
            </a:r>
            <a:r>
              <a:rPr lang="zh-CN" altLang="en-US" dirty="0"/>
              <a:t>，不再包含任何游戏逻辑。</a:t>
            </a:r>
            <a:endParaRPr lang="en-US" altLang="zh-CN" dirty="0"/>
          </a:p>
          <a:p>
            <a:r>
              <a:rPr lang="en-US" b="1" dirty="0"/>
              <a:t>engine/core/</a:t>
            </a:r>
            <a:r>
              <a:rPr lang="en-US" b="1" dirty="0" err="1"/>
              <a:t>game_app.h</a:t>
            </a:r>
            <a:endParaRPr lang="en-US" b="1" dirty="0"/>
          </a:p>
          <a:p>
            <a:r>
              <a:rPr lang="en-US" b="1" dirty="0"/>
              <a:t>engine/core/game_app.cpp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304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6114B-54DB-9CF7-C3D4-30EA52637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✨ </a:t>
            </a:r>
            <a:r>
              <a:rPr lang="zh-CN" altLang="en-US" b="1" dirty="0"/>
              <a:t>改造成果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E5974-5E32-006E-6131-1098003B5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所有的 </a:t>
            </a:r>
            <a:r>
              <a:rPr lang="en-US" b="1" dirty="0"/>
              <a:t>test... </a:t>
            </a:r>
            <a:r>
              <a:rPr lang="zh-CN" altLang="en-US" b="1" dirty="0"/>
              <a:t>函数都已被移除。</a:t>
            </a:r>
            <a:r>
              <a:rPr lang="zh-CN" altLang="en-US" dirty="0"/>
              <a:t> </a:t>
            </a:r>
            <a:r>
              <a:rPr lang="en-US" dirty="0" err="1"/>
              <a:t>GameApp</a:t>
            </a:r>
            <a:r>
              <a:rPr lang="en-US" dirty="0"/>
              <a:t> </a:t>
            </a:r>
            <a:r>
              <a:rPr lang="zh-CN" altLang="en-US" dirty="0"/>
              <a:t>的主循环现在变得 </a:t>
            </a:r>
            <a:r>
              <a:rPr lang="zh-CN" altLang="en-US" b="1" dirty="0"/>
              <a:t>极其简洁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0AA961-2467-7C93-1D74-120180BD1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28259"/>
            <a:ext cx="2387723" cy="168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769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54BE8-B534-B8C8-AD20-0B30CCE77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核心成就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2165F-5DE8-4B28-2604-C5A7D3100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实现场景栈系统</a:t>
            </a:r>
            <a:r>
              <a:rPr lang="zh-CN" altLang="en-US" dirty="0"/>
              <a:t>：支持 </a:t>
            </a:r>
            <a:r>
              <a:rPr lang="en-US" altLang="zh-CN" dirty="0"/>
              <a:t>Push</a:t>
            </a:r>
            <a:r>
              <a:rPr lang="zh-CN" altLang="en-US" dirty="0"/>
              <a:t>、</a:t>
            </a:r>
            <a:r>
              <a:rPr lang="en-US" altLang="zh-CN" dirty="0"/>
              <a:t>Pop</a:t>
            </a:r>
            <a:r>
              <a:rPr lang="zh-CN" altLang="en-US" dirty="0"/>
              <a:t>、</a:t>
            </a:r>
            <a:r>
              <a:rPr lang="en-US" altLang="zh-CN" dirty="0"/>
              <a:t>Replace </a:t>
            </a:r>
            <a:r>
              <a:rPr lang="zh-CN" altLang="en-US" dirty="0"/>
              <a:t>三种场景切换操作</a:t>
            </a:r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安全的生命周期管理</a:t>
            </a:r>
            <a:r>
              <a:rPr lang="zh-CN" altLang="en-US" dirty="0"/>
              <a:t>：通过延迟处理确保场景和对象的安全切换</a:t>
            </a:r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分层架构</a:t>
            </a:r>
            <a:r>
              <a:rPr lang="zh-CN" altLang="en-US" dirty="0"/>
              <a:t>：引擎层（</a:t>
            </a:r>
            <a:r>
              <a:rPr lang="en-US" altLang="zh-CN" dirty="0"/>
              <a:t>engine</a:t>
            </a:r>
            <a:r>
              <a:rPr lang="zh-CN" altLang="en-US" dirty="0"/>
              <a:t>）和游戏层（</a:t>
            </a:r>
            <a:r>
              <a:rPr lang="en-US" altLang="zh-CN" dirty="0"/>
              <a:t>game</a:t>
            </a:r>
            <a:r>
              <a:rPr lang="zh-CN" altLang="en-US" dirty="0"/>
              <a:t>）清晰分离</a:t>
            </a:r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简化 </a:t>
            </a:r>
            <a:r>
              <a:rPr lang="en-US" altLang="zh-CN" b="1" dirty="0" err="1"/>
              <a:t>GameApp</a:t>
            </a:r>
            <a:r>
              <a:rPr lang="zh-CN" altLang="en-US" dirty="0"/>
              <a:t>：将游戏逻辑从引擎核心剥离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0187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40640-DF44-D57D-C0A0-A99811125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架构对比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BAD95B2-4313-D14F-9B83-1FC6F3D023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4354239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37600117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0857112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526746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特性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改造前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改造后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875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代码组织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所有逻辑在 </a:t>
                      </a:r>
                      <a:r>
                        <a:rPr lang="en-US">
                          <a:effectLst/>
                        </a:rPr>
                        <a:t>GameApp </a:t>
                      </a:r>
                      <a:r>
                        <a:rPr lang="zh-CN" altLang="en-US">
                          <a:effectLst/>
                        </a:rPr>
                        <a:t>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按场景和功能模块划分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5000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可扩展性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添加新状态困难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只需添加新场景类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0289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代码复用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引擎和游戏逻辑混在一起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引擎层可在其他项目复用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4742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维护性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GameApp </a:t>
                      </a:r>
                      <a:r>
                        <a:rPr lang="zh-CN" altLang="en-US">
                          <a:effectLst/>
                        </a:rPr>
                        <a:t>臃肿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每个场景独立维护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4566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57351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246F0-33D8-1757-4CC7-B39FAA002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设计模式应用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89CC3CD-6744-97C4-08B0-A6A7F2B97D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0105971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72217592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6917822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模式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应用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8609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栈模式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场景栈管理游戏状态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93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延迟执行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Pending Actions </a:t>
                      </a:r>
                      <a:r>
                        <a:rPr lang="zh-CN" altLang="en-US">
                          <a:effectLst/>
                        </a:rPr>
                        <a:t>避免并发修改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897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模板方法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Scene </a:t>
                      </a:r>
                      <a:r>
                        <a:rPr lang="zh-CN" altLang="en-US">
                          <a:effectLst/>
                        </a:rPr>
                        <a:t>定义生命周期框架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3247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策略模式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不同场景实现不同逻辑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6288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59980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5A29B-978F-93E0-22DD-1DF242C8E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📚 总结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D0FDA-4453-8545-F09E-D779069DB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692"/>
            <a:ext cx="10515600" cy="468227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CN" altLang="en-US" dirty="0"/>
              <a:t>我们成功地将游戏逻辑从引擎核心中剥离，并为构建一个拥有 </a:t>
            </a:r>
            <a:r>
              <a:rPr lang="zh-CN" altLang="en-US" b="1" dirty="0"/>
              <a:t>多个关卡和菜单</a:t>
            </a:r>
            <a:r>
              <a:rPr lang="zh-CN" altLang="en-US" dirty="0"/>
              <a:t> 的复杂游戏铺平了道路。</a:t>
            </a:r>
          </a:p>
          <a:p>
            <a:r>
              <a:rPr lang="zh-CN" altLang="en-US" dirty="0"/>
              <a:t>🏗️ 场景栈模式管理游戏状态</a:t>
            </a:r>
          </a:p>
          <a:p>
            <a:r>
              <a:rPr lang="zh-CN" altLang="en-US" dirty="0"/>
              <a:t>🛡️ 延迟处理确保安全性</a:t>
            </a:r>
          </a:p>
          <a:p>
            <a:r>
              <a:rPr lang="zh-CN" altLang="en-US" dirty="0"/>
              <a:t>📦 </a:t>
            </a:r>
            <a:r>
              <a:rPr lang="en-US" altLang="zh-CN" dirty="0"/>
              <a:t>Scene </a:t>
            </a:r>
            <a:r>
              <a:rPr lang="zh-CN" altLang="en-US" dirty="0"/>
              <a:t>类管理游戏对象集合</a:t>
            </a:r>
          </a:p>
          <a:p>
            <a:r>
              <a:rPr lang="zh-CN" altLang="en-US" dirty="0"/>
              <a:t>🎮 </a:t>
            </a:r>
            <a:r>
              <a:rPr lang="en-US" altLang="zh-CN" dirty="0" err="1"/>
              <a:t>SceneManager</a:t>
            </a:r>
            <a:r>
              <a:rPr lang="en-US" altLang="zh-CN" dirty="0"/>
              <a:t> </a:t>
            </a:r>
            <a:r>
              <a:rPr lang="zh-CN" altLang="en-US" dirty="0"/>
              <a:t>统一调度场景</a:t>
            </a:r>
          </a:p>
          <a:p>
            <a:r>
              <a:rPr lang="zh-CN" altLang="en-US" dirty="0"/>
              <a:t>🔀 支持 </a:t>
            </a:r>
            <a:r>
              <a:rPr lang="en-US" altLang="zh-CN" dirty="0"/>
              <a:t>Push / Pop / Replace </a:t>
            </a:r>
            <a:r>
              <a:rPr lang="zh-CN" altLang="en-US" dirty="0"/>
              <a:t>三种切换方式</a:t>
            </a:r>
          </a:p>
          <a:p>
            <a:r>
              <a:rPr lang="zh-CN" altLang="en-US" dirty="0"/>
              <a:t>🎯 引擎层和游戏层清晰分离</a:t>
            </a:r>
          </a:p>
          <a:p>
            <a:pPr marL="0" indent="0">
              <a:buNone/>
            </a:pPr>
            <a:r>
              <a:rPr lang="zh-CN" altLang="en-US" dirty="0"/>
              <a:t>💡 </a:t>
            </a:r>
            <a:r>
              <a:rPr lang="zh-CN" altLang="en-US" b="1" dirty="0"/>
              <a:t>架构原则</a:t>
            </a:r>
            <a:r>
              <a:rPr lang="zh-CN" altLang="en-US" dirty="0"/>
              <a:t>：一个好的架构不是一开始就完美的，而是在实践中不断重构和改进的。我们的引擎正朝着更加模块化、可扩展的方向发展！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6612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0E4BC-9930-DAA6-7CF3-2C6CB6A9D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难点</a:t>
            </a:r>
            <a:endParaRPr lang="en-US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8A5B3-BE04-9761-0FBF-7C6D9161B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从下一课开始，我们将不再手动创建测试对象，而是通过 </a:t>
            </a:r>
            <a:r>
              <a:rPr lang="zh-CN" altLang="en-US" sz="4400" b="1" dirty="0">
                <a:solidFill>
                  <a:srgbClr val="FF0000"/>
                </a:solidFill>
              </a:rPr>
              <a:t>关卡载入器</a:t>
            </a:r>
            <a:r>
              <a:rPr lang="zh-CN" altLang="en-US" sz="4400" dirty="0">
                <a:solidFill>
                  <a:srgbClr val="FF0000"/>
                </a:solidFill>
              </a:rPr>
              <a:t> </a:t>
            </a:r>
            <a:r>
              <a:rPr lang="zh-CN" altLang="en-US" dirty="0"/>
              <a:t>从地图文件中加载整个游戏世界。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988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1066</Words>
  <Application>Microsoft Office PowerPoint</Application>
  <PresentationFormat>Widescreen</PresentationFormat>
  <Paragraphs>137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source-code-pro</vt:lpstr>
      <vt:lpstr>Aptos</vt:lpstr>
      <vt:lpstr>Aptos Display</vt:lpstr>
      <vt:lpstr>Arial</vt:lpstr>
      <vt:lpstr>Office Theme</vt:lpstr>
      <vt:lpstr>场景与场景管理</vt:lpstr>
      <vt:lpstr>📌 问题背景</vt:lpstr>
      <vt:lpstr>⚠️ 现有架构的问题</vt:lpstr>
      <vt:lpstr>1. 核心概念：场景栈</vt:lpstr>
      <vt:lpstr>PowerPoint Presentation</vt:lpstr>
      <vt:lpstr>PowerPoint Presentation</vt:lpstr>
      <vt:lpstr>PowerPoint Presentation</vt:lpstr>
      <vt:lpstr>三种基本操作：</vt:lpstr>
      <vt:lpstr>🎮 渲染与更新策略</vt:lpstr>
      <vt:lpstr>2. 新的项目结构</vt:lpstr>
      <vt:lpstr>3. Scene 基类</vt:lpstr>
      <vt:lpstr>核心职责</vt:lpstr>
      <vt:lpstr>🛡️ 安全的对象管理</vt:lpstr>
      <vt:lpstr>PowerPoint Presentation</vt:lpstr>
      <vt:lpstr>4. SceneManager：场景的总调度</vt:lpstr>
      <vt:lpstr>🔑 关键设计：延迟处理（Pending Actions）</vt:lpstr>
      <vt:lpstr>PowerPoint Presentation</vt:lpstr>
      <vt:lpstr>engine/scene/scene_manager.cpp</vt:lpstr>
      <vt:lpstr>5. GameScene：我们的第一个具体场景</vt:lpstr>
      <vt:lpstr>🎯 设计亮点</vt:lpstr>
      <vt:lpstr>6. 改造 GameApp</vt:lpstr>
      <vt:lpstr>✨ 改造成果</vt:lpstr>
      <vt:lpstr>核心成就</vt:lpstr>
      <vt:lpstr>架构对比</vt:lpstr>
      <vt:lpstr>设计模式应用</vt:lpstr>
      <vt:lpstr>📚 总结</vt:lpstr>
      <vt:lpstr>难点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佳浩 华</dc:creator>
  <cp:lastModifiedBy>佳浩 华</cp:lastModifiedBy>
  <cp:revision>1</cp:revision>
  <dcterms:created xsi:type="dcterms:W3CDTF">2025-11-05T14:13:17Z</dcterms:created>
  <dcterms:modified xsi:type="dcterms:W3CDTF">2025-11-05T14:23:23Z</dcterms:modified>
</cp:coreProperties>
</file>