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C6C5-3137-7091-E20C-47CFB2FB7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F71C3-C7D4-7CC2-10DE-702CB6094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F4B1D-C05B-0ECB-6AE1-8E60E303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345E-C1D1-3C1C-5249-53C8C032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A2DB9-5134-5C1E-09CB-111D4EE5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664A-60E0-B443-960A-B020FF48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52E3D-200F-1999-31B3-6E9728FD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877F-2976-1EAD-77AE-3F9206BB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E066-0D22-C6FC-3EEE-F360FBD5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00F4D-57AF-2413-83B2-290F46EE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4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E957-0925-5407-7673-7DBAC1D3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15FDE-0C03-1045-978C-F04DA7ED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A616B-4F42-B03D-2F80-38DC1ECD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6975C-4D7E-9E8A-3CE5-1C0437FA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37B0A-09B1-8697-2CC1-75B187F6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7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E34D-5439-BCBA-BE90-A00AF1DE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A506-AA3F-E058-B403-B3DF6134E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A9F06-03F4-6E26-66F9-E6F9AAD19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53CA8-F24A-8223-58CF-E1231850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26ADA-E58D-D515-5792-E4860319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C35E0-541B-CD5C-42D9-B41C71C9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968D-2639-6442-8742-91EA8230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02987-3F6D-0ADA-DF71-44E437958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1B250-7737-9D41-D564-BE0A9AA3D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09352-4CE6-8BD4-696D-CE86BF487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00949-8A45-994E-17A0-80475E26E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A9AC3-8030-C0A1-2D79-B21FEFA2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49C93-FFAC-364C-89D7-3B766B5F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0A339-F336-5136-6673-725AA20F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8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104A-62FF-8697-752D-AEF9100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9FEAC-E3ED-39A2-6FAB-2F5C1147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C5FEB-276A-EBC2-5027-EA644FF6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1372A-6B9B-085B-9570-9B4AD27E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47030-C670-2910-D5CC-941D87DB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E58AB-4A2E-3982-3430-E14B47DD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F01D4-A1B1-8CA5-04D2-56042EA7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3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A50B-4F69-2A77-2952-923288F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C381-1327-F7CE-4815-A703058E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C4E34-D77D-57F5-8CA2-92119138E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0315D-C762-B018-F754-4D13A1BB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CFD2B-239A-1447-1600-67D07E56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69738-D1BD-B13F-11C4-05859C81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FAA2-1945-2C64-3971-C9AA14A8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9C9C2-C183-7A13-561A-737F8E079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27695-0AE8-8EDA-2B8F-C99AB7CE6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1A0D3-2AB0-5F07-112A-9CDDDB45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7C4FF-69E1-B1E6-E1CB-5BCAEA42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50673-2853-07E2-CF15-30D818A4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1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E615-4012-03CC-C203-916D8DB3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08082-4B4F-A046-CE96-90CA5C4D4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E3603-2013-0565-132C-DFC9762D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4E99F-2CF6-2F01-2C9C-4341AD2D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5D82D-A6ED-1502-EDAA-BE7756AB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F7CFC-F99F-9737-3AB6-3E654D437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2979A-7164-B6B2-EB5F-DC9E30D5F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C0BD-7E82-0ABD-B1EC-ECDD1310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6E68-8A8A-08A2-78F3-11D6DDCA5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6E58-9B8E-C74A-3770-14915F06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0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2F7967-46A6-A960-20F7-F18CD4B0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D408B-146A-A1FF-A460-75599B227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E38F3-E70E-3A4C-F42E-094BCBD40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5C58A-34CC-4D5F-9287-6C260B89CB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AB0A1-4E78-DD66-D74F-F75F02930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61EF-ED76-39C6-7560-44D6C4449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C0E01-AE56-469C-B57E-3997BDBA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5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7AB6-5878-3586-6B2D-108F2F5B1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主循环与帧率控制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23E97-2926-8053-274F-56AE40D44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0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EAC-2F4D-91D8-0DA9-85022E5E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📖 概述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3AB0-F688-E51E-96E8-4D939632B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从本节课开始，我们将正式从零开始编写“阳光岛”项目的代码。理论的蓝图已经绘制完毕，现在是时候打下第一行地基了。本课的核心任务是构建起整个游戏的“心脏”</a:t>
            </a:r>
            <a:r>
              <a:rPr lang="en-US" altLang="zh-CN" dirty="0"/>
              <a:t>——</a:t>
            </a:r>
            <a:r>
              <a:rPr lang="zh-CN" altLang="en-US" dirty="0"/>
              <a:t>游戏主循环 </a:t>
            </a:r>
            <a:r>
              <a:rPr lang="en-US" altLang="zh-CN" dirty="0"/>
              <a:t>(Game Loop)</a:t>
            </a:r>
            <a:r>
              <a:rPr lang="zh-CN" altLang="en-US" dirty="0"/>
              <a:t>，并实现稳定的帧率控制。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5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EED0-DE73-32C4-100C-7D944316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学习目标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C82D-E317-6797-B5CC-10AE01E5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我们将课程分为上下两部分：</a:t>
            </a:r>
          </a:p>
          <a:p>
            <a:r>
              <a:rPr lang="en-US" altLang="zh-CN" b="1" dirty="0"/>
              <a:t>Part 1</a:t>
            </a:r>
            <a:r>
              <a:rPr lang="zh-CN" altLang="en-US" b="1" dirty="0"/>
              <a:t>：构建主循环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创建一个</a:t>
            </a:r>
            <a:r>
              <a:rPr lang="en-US" altLang="zh-CN" dirty="0" err="1"/>
              <a:t>GameApp</a:t>
            </a:r>
            <a:r>
              <a:rPr lang="zh-CN" altLang="en-US" dirty="0"/>
              <a:t>类，负责初始化</a:t>
            </a:r>
            <a:r>
              <a:rPr lang="en-US" altLang="zh-CN" dirty="0"/>
              <a:t>SDL</a:t>
            </a:r>
            <a:r>
              <a:rPr lang="zh-CN" altLang="en-US" dirty="0"/>
              <a:t>、创建窗口，并运行一个基本的、能够响应退出事件的游戏循环。</a:t>
            </a:r>
          </a:p>
          <a:p>
            <a:r>
              <a:rPr lang="en-US" altLang="zh-CN" b="1" dirty="0"/>
              <a:t>Part 2</a:t>
            </a:r>
            <a:r>
              <a:rPr lang="zh-CN" altLang="en-US" b="1" dirty="0"/>
              <a:t>：实现帧率控制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在主循环的基础上，精确计算每帧的耗时（</a:t>
            </a:r>
            <a:r>
              <a:rPr lang="en-US" altLang="zh-CN" dirty="0" err="1"/>
              <a:t>delta_time</a:t>
            </a:r>
            <a:r>
              <a:rPr lang="zh-CN" altLang="en-US" dirty="0"/>
              <a:t>），并学习如何将帧率稳定在目标值（如</a:t>
            </a:r>
            <a:r>
              <a:rPr lang="en-US" altLang="zh-CN" dirty="0"/>
              <a:t>60 FPS</a:t>
            </a:r>
            <a:r>
              <a:rPr lang="zh-CN" altLang="en-US" dirty="0"/>
              <a:t>）。制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2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12AA-8F0D-0423-786C-70D2BD1B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🚀 </a:t>
            </a:r>
            <a:r>
              <a:rPr lang="en-US" altLang="zh-CN" b="1" dirty="0"/>
              <a:t>Part 1</a:t>
            </a:r>
            <a:r>
              <a:rPr lang="zh-CN" altLang="en-US" b="1" dirty="0"/>
              <a:t>：构建主循环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B7B81-903A-6146-47CA-179121E92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🎮 游戏主循环原理</a:t>
            </a:r>
          </a:p>
          <a:p>
            <a:pPr marL="0" indent="0">
              <a:buNone/>
            </a:pPr>
            <a:r>
              <a:rPr lang="zh-CN" altLang="en-US" dirty="0"/>
              <a:t>游戏主循环是一个持续运行的循环，直到玩家选择退出。在每一次循环中，游戏都需要处理三件大事：</a:t>
            </a:r>
          </a:p>
          <a:p>
            <a:r>
              <a:rPr lang="zh-CN" altLang="en-US" b="1" dirty="0"/>
              <a:t>处理输入 </a:t>
            </a:r>
            <a:r>
              <a:rPr lang="en-US" altLang="zh-CN" b="1" dirty="0"/>
              <a:t>(Handle Events)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检查玩家是否有任何操作，如按键、移动鼠标或关闭窗口</a:t>
            </a:r>
          </a:p>
          <a:p>
            <a:r>
              <a:rPr lang="zh-CN" altLang="en-US" b="1" dirty="0"/>
              <a:t>更新状态 </a:t>
            </a:r>
            <a:r>
              <a:rPr lang="en-US" altLang="zh-CN" b="1" dirty="0"/>
              <a:t>(Update)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根据输入和时间流逝，更新游戏中所有对象的位置、状态等</a:t>
            </a:r>
          </a:p>
          <a:p>
            <a:r>
              <a:rPr lang="zh-CN" altLang="en-US" b="1" dirty="0"/>
              <a:t>渲染画面 </a:t>
            </a:r>
            <a:r>
              <a:rPr lang="en-US" altLang="zh-CN" b="1" dirty="0"/>
              <a:t>(Render)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将更新后的游戏世界绘制到屏幕上</a:t>
            </a:r>
          </a:p>
          <a:p>
            <a:r>
              <a:rPr lang="zh-CN" altLang="en-US" dirty="0"/>
              <a:t>现在，让我们通过代码来实现这个核心结构。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8BA6-65E9-0BD0-8929-599C6F95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📁 </a:t>
            </a:r>
            <a:r>
              <a:rPr lang="zh-CN" altLang="en-US" b="1" dirty="0"/>
              <a:t>新的项目结构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0689-208A-EE49-8480-5A2F2BCEE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851"/>
            <a:ext cx="10515600" cy="4772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首先，我们需要规划好项目的目录结构，以保证代码的清晰和模块化。在项目根目录下，我们创建如下结构：</a:t>
            </a:r>
          </a:p>
          <a:p>
            <a:pPr marL="0" indent="0">
              <a:buNone/>
            </a:pPr>
            <a:r>
              <a:rPr lang="zh-CN" altLang="en-US" dirty="0"/>
              <a:t>└── </a:t>
            </a:r>
            <a:r>
              <a:rPr lang="en-US" dirty="0" err="1"/>
              <a:t>SunnyLand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   ├── 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      ├── engine/</a:t>
            </a:r>
          </a:p>
          <a:p>
            <a:pPr marL="0" indent="0">
              <a:buNone/>
            </a:pPr>
            <a:r>
              <a:rPr lang="en-US" dirty="0"/>
              <a:t>       │   └── core/</a:t>
            </a:r>
          </a:p>
          <a:p>
            <a:pPr marL="0" indent="0">
              <a:buNone/>
            </a:pPr>
            <a:r>
              <a:rPr lang="en-US" dirty="0"/>
              <a:t>       │       ├── game_app.cpp</a:t>
            </a:r>
          </a:p>
          <a:p>
            <a:pPr marL="0" indent="0">
              <a:buNone/>
            </a:pPr>
            <a:r>
              <a:rPr lang="en-US" dirty="0"/>
              <a:t>       │       └── </a:t>
            </a:r>
            <a:r>
              <a:rPr lang="en-US" dirty="0" err="1"/>
              <a:t>game_app.h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└── main.cpp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8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6232-B56B-C311-723B-1F279511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📂 </a:t>
            </a:r>
            <a:r>
              <a:rPr lang="zh-CN" altLang="en-US" b="1" dirty="0"/>
              <a:t>目录说明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E62B-2849-BC92-BA53-93C4A8A6E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/engine/: </a:t>
            </a:r>
            <a:r>
              <a:rPr lang="zh-CN" altLang="en-US" dirty="0"/>
              <a:t>这个目录将存放我们所有的引擎层代码</a:t>
            </a:r>
          </a:p>
          <a:p>
            <a:r>
              <a:rPr lang="en-US" dirty="0" err="1"/>
              <a:t>src</a:t>
            </a:r>
            <a:r>
              <a:rPr lang="en-US" dirty="0"/>
              <a:t>/engine/core/: </a:t>
            </a:r>
            <a:r>
              <a:rPr lang="zh-CN" altLang="en-US" dirty="0"/>
              <a:t>存放引擎最核心的组件，</a:t>
            </a:r>
            <a:r>
              <a:rPr lang="en-US" dirty="0" err="1"/>
              <a:t>GameApp</a:t>
            </a:r>
            <a:r>
              <a:rPr lang="zh-CN" altLang="en-US" dirty="0"/>
              <a:t>就是第一个</a:t>
            </a:r>
          </a:p>
          <a:p>
            <a:r>
              <a:rPr lang="en-US" dirty="0" err="1"/>
              <a:t>src</a:t>
            </a:r>
            <a:r>
              <a:rPr lang="en-US" dirty="0"/>
              <a:t>/: main.cpp</a:t>
            </a:r>
            <a:r>
              <a:rPr lang="zh-CN" altLang="en-US" dirty="0"/>
              <a:t>作为程序的入口，保持简洁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01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23DC76-C554-CF9E-A21A-D7A01B95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💖 </a:t>
            </a:r>
            <a:r>
              <a:rPr lang="en-US" altLang="zh-CN" b="1" dirty="0" err="1"/>
              <a:t>GameApp</a:t>
            </a:r>
            <a:r>
              <a:rPr lang="zh-CN" altLang="en-US" b="1" dirty="0"/>
              <a:t>类：游戏的心脏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E9FD7-E4BA-F326-DEF9-8ED21B174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我们将创建一个</a:t>
            </a:r>
            <a:r>
              <a:rPr lang="en-US" altLang="zh-CN" dirty="0" err="1"/>
              <a:t>GameApp</a:t>
            </a:r>
            <a:r>
              <a:rPr lang="zh-CN" altLang="en-US" dirty="0"/>
              <a:t>类，它将作为整个应用程序的管理者，封装所有与</a:t>
            </a:r>
            <a:r>
              <a:rPr lang="en-US" altLang="zh-CN" dirty="0"/>
              <a:t>SDL</a:t>
            </a:r>
            <a:r>
              <a:rPr lang="zh-CN" altLang="en-US" dirty="0"/>
              <a:t>初始化、窗口管理和主循环相关的逻辑。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40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3DAAAC-0F59-D444-468D-1B48A878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🔧 </a:t>
            </a:r>
            <a:r>
              <a:rPr lang="zh-CN" altLang="en-US" b="1" dirty="0"/>
              <a:t>头文件 </a:t>
            </a:r>
            <a:r>
              <a:rPr lang="en-US" altLang="zh-CN" b="1" dirty="0"/>
              <a:t>(</a:t>
            </a:r>
            <a:r>
              <a:rPr lang="en-US" b="1" dirty="0" err="1"/>
              <a:t>game_app.h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474DFA-1A1A-1B02-9B2E-B3AF99E6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</a:t>
            </a:r>
            <a:r>
              <a:rPr lang="en-US" altLang="zh-CN" dirty="0" err="1"/>
              <a:t>GameApp</a:t>
            </a:r>
            <a:r>
              <a:rPr lang="zh-CN" altLang="en-US" dirty="0"/>
              <a:t>类的声明。它定义了类的结构和公共接口。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546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BB04-4FCD-0815-A078-012F4037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🔑 </a:t>
            </a:r>
            <a:r>
              <a:rPr lang="zh-CN" altLang="en-US" b="1" dirty="0"/>
              <a:t>关键设计要点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54D8C-40B0-DF38-8987-5D032F63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622483"/>
          </a:xfrm>
        </p:spPr>
        <p:txBody>
          <a:bodyPr>
            <a:normAutofit/>
          </a:bodyPr>
          <a:lstStyle/>
          <a:p>
            <a:r>
              <a:rPr lang="zh-CN" altLang="en-US" b="1" dirty="0"/>
              <a:t>前向声明 </a:t>
            </a:r>
            <a:r>
              <a:rPr lang="en-US" altLang="zh-CN" b="1" dirty="0"/>
              <a:t>(</a:t>
            </a:r>
            <a:r>
              <a:rPr lang="en-US" b="1" dirty="0"/>
              <a:t>Forward Declaration)</a:t>
            </a:r>
            <a:r>
              <a:rPr lang="en-US" dirty="0"/>
              <a:t> - </a:t>
            </a:r>
            <a:r>
              <a:rPr lang="zh-CN" altLang="en-US" dirty="0"/>
              <a:t>我们使用</a:t>
            </a:r>
            <a:r>
              <a:rPr lang="en-US" dirty="0"/>
              <a:t>struct </a:t>
            </a:r>
            <a:r>
              <a:rPr lang="en-US" dirty="0" err="1"/>
              <a:t>SDL_Window</a:t>
            </a:r>
            <a:r>
              <a:rPr lang="en-US" dirty="0"/>
              <a:t>;</a:t>
            </a:r>
            <a:r>
              <a:rPr lang="zh-CN" altLang="en-US" dirty="0"/>
              <a:t>来前向声明</a:t>
            </a:r>
            <a:r>
              <a:rPr lang="en-US" dirty="0"/>
              <a:t>SDL</a:t>
            </a:r>
            <a:r>
              <a:rPr lang="zh-CN" altLang="en-US" dirty="0"/>
              <a:t>的类型，而不是直接包含</a:t>
            </a:r>
            <a:r>
              <a:rPr lang="en-US" altLang="zh-CN" dirty="0"/>
              <a:t>&lt;</a:t>
            </a:r>
            <a:r>
              <a:rPr lang="en-US" dirty="0"/>
              <a:t>SDL3/</a:t>
            </a:r>
            <a:r>
              <a:rPr lang="en-US" dirty="0" err="1"/>
              <a:t>SDL.h</a:t>
            </a:r>
            <a:r>
              <a:rPr lang="en-US" dirty="0"/>
              <a:t>&gt;。</a:t>
            </a:r>
            <a:r>
              <a:rPr lang="zh-CN" altLang="en-US" dirty="0"/>
              <a:t>这样做可以减少头文件依赖，加快编译速度</a:t>
            </a:r>
          </a:p>
          <a:p>
            <a:r>
              <a:rPr lang="zh-CN" altLang="en-US" b="1" dirty="0"/>
              <a:t>命名空间 </a:t>
            </a:r>
            <a:r>
              <a:rPr lang="en-US" altLang="zh-CN" b="1" dirty="0"/>
              <a:t>(</a:t>
            </a:r>
            <a:r>
              <a:rPr lang="en-US" b="1" dirty="0"/>
              <a:t>Namespace)</a:t>
            </a:r>
            <a:r>
              <a:rPr lang="en-US" dirty="0"/>
              <a:t> - </a:t>
            </a:r>
            <a:r>
              <a:rPr lang="zh-CN" altLang="en-US" dirty="0"/>
              <a:t>所有引擎代码都将放在</a:t>
            </a:r>
            <a:r>
              <a:rPr lang="en-US" dirty="0"/>
              <a:t>engine</a:t>
            </a:r>
            <a:r>
              <a:rPr lang="zh-CN" altLang="en-US" dirty="0"/>
              <a:t>命名空间下，</a:t>
            </a:r>
            <a:r>
              <a:rPr lang="en-US" dirty="0"/>
              <a:t>core</a:t>
            </a:r>
            <a:r>
              <a:rPr lang="zh-CN" altLang="en-US" dirty="0"/>
              <a:t>是其子命名空间，有助于避免命名冲突</a:t>
            </a:r>
          </a:p>
          <a:p>
            <a:r>
              <a:rPr lang="zh-CN" altLang="en-US" b="1" dirty="0"/>
              <a:t>禁止拷贝</a:t>
            </a:r>
            <a:r>
              <a:rPr lang="en-US" altLang="zh-CN" b="1" dirty="0"/>
              <a:t>/</a:t>
            </a:r>
            <a:r>
              <a:rPr lang="zh-CN" altLang="en-US" b="1" dirty="0"/>
              <a:t>移动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通过</a:t>
            </a:r>
            <a:r>
              <a:rPr lang="en-US" altLang="zh-CN" dirty="0"/>
              <a:t>= </a:t>
            </a:r>
            <a:r>
              <a:rPr lang="en-US" dirty="0"/>
              <a:t>delete，</a:t>
            </a:r>
            <a:r>
              <a:rPr lang="zh-CN" altLang="en-US" dirty="0"/>
              <a:t>我们明确禁止了</a:t>
            </a:r>
            <a:r>
              <a:rPr lang="en-US" dirty="0" err="1"/>
              <a:t>GameApp</a:t>
            </a:r>
            <a:r>
              <a:rPr lang="zh-CN" altLang="en-US" dirty="0"/>
              <a:t>对象的拷贝和移动。这是一种良好的实践，因为我们的程序中应该只存在一个</a:t>
            </a:r>
            <a:r>
              <a:rPr lang="en-US" dirty="0" err="1"/>
              <a:t>GameApp</a:t>
            </a:r>
            <a:r>
              <a:rPr lang="zh-CN" altLang="en-US" dirty="0"/>
              <a:t>实例</a:t>
            </a:r>
          </a:p>
          <a:p>
            <a:r>
              <a:rPr lang="zh-CN" altLang="en-US" b="1" dirty="0"/>
              <a:t>生命周期方法</a:t>
            </a:r>
            <a:r>
              <a:rPr lang="zh-CN" altLang="en-US" dirty="0"/>
              <a:t> </a:t>
            </a:r>
            <a:r>
              <a:rPr lang="en-US" altLang="zh-CN" dirty="0"/>
              <a:t>- </a:t>
            </a:r>
            <a:r>
              <a:rPr lang="en-US" dirty="0" err="1"/>
              <a:t>init</a:t>
            </a:r>
            <a:r>
              <a:rPr lang="en-US" dirty="0"/>
              <a:t>, </a:t>
            </a:r>
            <a:r>
              <a:rPr lang="en-US" dirty="0" err="1"/>
              <a:t>handleEvents</a:t>
            </a:r>
            <a:r>
              <a:rPr lang="en-US" dirty="0"/>
              <a:t>, update, render, close</a:t>
            </a:r>
            <a:r>
              <a:rPr lang="zh-CN" altLang="en-US" dirty="0"/>
              <a:t>这些私有方法清晰地定义了游戏循环的各个阶段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4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05BE-1600-AC7B-AC64-6288E4A9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⚙️ 实现文件 </a:t>
            </a:r>
            <a:r>
              <a:rPr lang="en-US" altLang="zh-CN" b="1" dirty="0"/>
              <a:t>(</a:t>
            </a:r>
            <a:r>
              <a:rPr lang="en-US" b="1" dirty="0"/>
              <a:t>game_app.cpp)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4A5C-6AD7-EC48-AC5F-570AA15A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这里是</a:t>
            </a:r>
            <a:r>
              <a:rPr lang="en-US" altLang="zh-CN" dirty="0" err="1"/>
              <a:t>GameApp</a:t>
            </a:r>
            <a:r>
              <a:rPr lang="zh-CN" altLang="en-US" dirty="0"/>
              <a:t>类方法的具体实现。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82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0C8B-3C2F-DBF5-756A-9618F6DA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🔄 </a:t>
            </a:r>
            <a:r>
              <a:rPr lang="zh-CN" altLang="en-US" b="1" dirty="0"/>
              <a:t>核心方法解析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1BCC-93E6-DA15-AB79-A1C377054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3"/>
            <a:ext cx="10515600" cy="5195454"/>
          </a:xfrm>
        </p:spPr>
        <p:txBody>
          <a:bodyPr>
            <a:normAutofit fontScale="92500"/>
          </a:bodyPr>
          <a:lstStyle/>
          <a:p>
            <a:r>
              <a:rPr lang="zh-CN" altLang="en-US" b="1" dirty="0"/>
              <a:t>构造</a:t>
            </a:r>
            <a:r>
              <a:rPr lang="en-US" altLang="zh-CN" b="1" dirty="0"/>
              <a:t>/</a:t>
            </a:r>
            <a:r>
              <a:rPr lang="zh-CN" altLang="en-US" b="1" dirty="0"/>
              <a:t>析构函数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我们遵循**</a:t>
            </a:r>
            <a:r>
              <a:rPr lang="en-US" dirty="0"/>
              <a:t>RAII (Resource Acquisition Is Initialization)**</a:t>
            </a:r>
            <a:r>
              <a:rPr lang="zh-CN" altLang="en-US" dirty="0"/>
              <a:t>原则。构造函数什么都不做，但析构函数会检查游戏是否仍在运行，如果是，则调用</a:t>
            </a:r>
            <a:r>
              <a:rPr lang="en-US" dirty="0"/>
              <a:t>close()</a:t>
            </a:r>
            <a:r>
              <a:rPr lang="zh-CN" altLang="en-US" dirty="0"/>
              <a:t>来确保资源被正确释放，防止内存泄漏</a:t>
            </a:r>
          </a:p>
          <a:p>
            <a:r>
              <a:rPr lang="en-US" b="1" dirty="0"/>
              <a:t>run() </a:t>
            </a:r>
            <a:r>
              <a:rPr lang="zh-CN" altLang="en-US" b="1" dirty="0"/>
              <a:t>方法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这是类的公共入口点。它首先调用</a:t>
            </a:r>
            <a:r>
              <a:rPr lang="en-US" dirty="0" err="1"/>
              <a:t>init</a:t>
            </a:r>
            <a:r>
              <a:rPr lang="en-US" dirty="0"/>
              <a:t>()</a:t>
            </a:r>
            <a:r>
              <a:rPr lang="zh-CN" altLang="en-US" dirty="0"/>
              <a:t>进行初始化，如果成功，则进入</a:t>
            </a:r>
            <a:r>
              <a:rPr lang="en-US" dirty="0"/>
              <a:t>while (</a:t>
            </a:r>
            <a:r>
              <a:rPr lang="en-US" dirty="0" err="1"/>
              <a:t>is_running</a:t>
            </a:r>
            <a:r>
              <a:rPr lang="en-US" dirty="0"/>
              <a:t>_)</a:t>
            </a:r>
            <a:r>
              <a:rPr lang="zh-CN" altLang="en-US" dirty="0"/>
              <a:t>主循环。循环结束（即</a:t>
            </a:r>
            <a:r>
              <a:rPr lang="en-US" dirty="0" err="1"/>
              <a:t>is_running</a:t>
            </a:r>
            <a:r>
              <a:rPr lang="en-US" dirty="0"/>
              <a:t>_</a:t>
            </a:r>
            <a:r>
              <a:rPr lang="zh-CN" altLang="en-US" dirty="0"/>
              <a:t>变为</a:t>
            </a:r>
            <a:r>
              <a:rPr lang="en-US" dirty="0"/>
              <a:t>false</a:t>
            </a:r>
            <a:r>
              <a:rPr lang="zh-CN" altLang="en-US" dirty="0"/>
              <a:t>时），自动调用</a:t>
            </a:r>
            <a:r>
              <a:rPr lang="en-US" dirty="0"/>
              <a:t>close()</a:t>
            </a:r>
            <a:r>
              <a:rPr lang="zh-CN" altLang="en-US" dirty="0"/>
              <a:t>进行清理</a:t>
            </a:r>
          </a:p>
          <a:p>
            <a:r>
              <a:rPr lang="en-US" b="1" dirty="0" err="1"/>
              <a:t>init</a:t>
            </a:r>
            <a:r>
              <a:rPr lang="en-US" b="1" dirty="0"/>
              <a:t>() </a:t>
            </a:r>
            <a:r>
              <a:rPr lang="zh-CN" altLang="en-US" b="1" dirty="0"/>
              <a:t>方法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负责所有初始化工作。它初始化</a:t>
            </a:r>
            <a:r>
              <a:rPr lang="en-US" dirty="0"/>
              <a:t>SDL</a:t>
            </a:r>
            <a:r>
              <a:rPr lang="zh-CN" altLang="en-US" dirty="0"/>
              <a:t>的视频和音频子系统，创建窗口 </a:t>
            </a:r>
            <a:r>
              <a:rPr lang="en-US" altLang="zh-CN" dirty="0"/>
              <a:t>(</a:t>
            </a:r>
            <a:r>
              <a:rPr lang="en-US" dirty="0" err="1"/>
              <a:t>SDL_CreateWindow</a:t>
            </a:r>
            <a:r>
              <a:rPr lang="en-US" dirty="0"/>
              <a:t>) </a:t>
            </a:r>
            <a:r>
              <a:rPr lang="zh-CN" altLang="en-US" dirty="0"/>
              <a:t>和渲染器 </a:t>
            </a:r>
            <a:r>
              <a:rPr lang="en-US" altLang="zh-CN" dirty="0"/>
              <a:t>(</a:t>
            </a:r>
            <a:r>
              <a:rPr lang="en-US" dirty="0" err="1"/>
              <a:t>SDL_CreateRenderer</a:t>
            </a:r>
            <a:r>
              <a:rPr lang="en-US" dirty="0"/>
              <a:t>)。</a:t>
            </a:r>
            <a:r>
              <a:rPr lang="zh-CN" altLang="en-US" dirty="0"/>
              <a:t>每一步操作都伴随着严格的错误检查，并通过</a:t>
            </a:r>
            <a:r>
              <a:rPr lang="en-US" dirty="0" err="1"/>
              <a:t>spdlog</a:t>
            </a:r>
            <a:r>
              <a:rPr lang="zh-CN" altLang="en-US" dirty="0"/>
              <a:t>输出错误信息</a:t>
            </a:r>
          </a:p>
          <a:p>
            <a:r>
              <a:rPr lang="en-US" b="1" dirty="0" err="1"/>
              <a:t>handleEvents</a:t>
            </a:r>
            <a:r>
              <a:rPr lang="en-US" b="1" dirty="0"/>
              <a:t>() </a:t>
            </a:r>
            <a:r>
              <a:rPr lang="zh-CN" altLang="en-US" b="1" dirty="0"/>
              <a:t>方法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使用</a:t>
            </a:r>
            <a:r>
              <a:rPr lang="en-US" dirty="0" err="1"/>
              <a:t>SDL_PollEvent</a:t>
            </a:r>
            <a:r>
              <a:rPr lang="zh-CN" altLang="en-US" dirty="0"/>
              <a:t>来轮询事件队列。目前，它只处理</a:t>
            </a:r>
            <a:r>
              <a:rPr lang="en-US" dirty="0"/>
              <a:t>SDL_EVENT_QUIT</a:t>
            </a:r>
            <a:r>
              <a:rPr lang="zh-CN" altLang="en-US" dirty="0"/>
              <a:t>事件（例如点击窗口的关闭按钮），接收到该事件后，将</a:t>
            </a:r>
            <a:r>
              <a:rPr lang="en-US" dirty="0" err="1"/>
              <a:t>is_running</a:t>
            </a:r>
            <a:r>
              <a:rPr lang="en-US" dirty="0"/>
              <a:t>_</a:t>
            </a:r>
            <a:r>
              <a:rPr lang="zh-CN" altLang="en-US" dirty="0"/>
              <a:t>设置为</a:t>
            </a:r>
            <a:r>
              <a:rPr lang="en-US" dirty="0"/>
              <a:t>false，</a:t>
            </a:r>
            <a:r>
              <a:rPr lang="zh-CN" altLang="en-US" dirty="0"/>
              <a:t>从而终止主循环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99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E521-FAEA-4FB0-CF11-C93C7130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813E-1DF8-4D3F-6AA1-28C9D8F5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r>
              <a:rPr lang="en-US" altLang="zh-CN" b="1" dirty="0"/>
              <a:t>update()</a:t>
            </a:r>
            <a:r>
              <a:rPr lang="zh-CN" altLang="en-US" b="1" dirty="0"/>
              <a:t> 与 </a:t>
            </a:r>
            <a:r>
              <a:rPr lang="en-US" altLang="zh-CN" b="1" dirty="0"/>
              <a:t>render()</a:t>
            </a:r>
            <a:r>
              <a:rPr lang="zh-CN" altLang="en-US" b="1" dirty="0"/>
              <a:t> 方法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这两个方法目前是空的。它们是未来添加游戏逻辑和渲染代码的占位符。注意</a:t>
            </a:r>
            <a:r>
              <a:rPr lang="en-US" altLang="zh-CN" dirty="0"/>
              <a:t>update</a:t>
            </a:r>
            <a:r>
              <a:rPr lang="zh-CN" altLang="en-US" dirty="0"/>
              <a:t>方法接收一个</a:t>
            </a:r>
            <a:r>
              <a:rPr lang="en-US" altLang="zh-CN" dirty="0" err="1"/>
              <a:t>delta_time</a:t>
            </a:r>
            <a:r>
              <a:rPr lang="zh-CN" altLang="en-US" dirty="0"/>
              <a:t>参数，我们暂时硬编码了它的值，在第二部分会精确计算它</a:t>
            </a:r>
          </a:p>
          <a:p>
            <a:r>
              <a:rPr lang="en-US" altLang="zh-CN" b="1" dirty="0"/>
              <a:t>close()</a:t>
            </a:r>
            <a:r>
              <a:rPr lang="zh-CN" altLang="en-US" b="1" dirty="0"/>
              <a:t> 方法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负责释放所有在</a:t>
            </a:r>
            <a:r>
              <a:rPr lang="en-US" altLang="zh-CN" dirty="0" err="1"/>
              <a:t>init</a:t>
            </a:r>
            <a:r>
              <a:rPr lang="en-US" altLang="zh-CN" dirty="0"/>
              <a:t>()</a:t>
            </a:r>
            <a:r>
              <a:rPr lang="zh-CN" altLang="en-US" dirty="0"/>
              <a:t>中申请的资源，顺序与申请时相反：先销毁渲染器，再销毁窗口，最后调用</a:t>
            </a:r>
            <a:r>
              <a:rPr lang="en-US" altLang="zh-CN" dirty="0" err="1"/>
              <a:t>SDL_Quit</a:t>
            </a:r>
            <a:r>
              <a:rPr lang="en-US" altLang="zh-CN" dirty="0"/>
              <a:t>()</a:t>
            </a:r>
            <a:r>
              <a:rPr lang="zh-CN" altLang="en-US" dirty="0"/>
              <a:t>关闭整个</a:t>
            </a:r>
            <a:r>
              <a:rPr lang="en-US" altLang="zh-CN" dirty="0"/>
              <a:t>SDL</a:t>
            </a:r>
            <a:r>
              <a:rPr lang="zh-CN" altLang="en-US" dirty="0"/>
              <a:t>库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25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EDAA-5687-94EC-8589-AB54242F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程序入口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7471-2A67-1C5F-9D70-EC3ADA21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main.cpp </a:t>
            </a:r>
            <a:r>
              <a:rPr lang="zh-CN" altLang="en-US" dirty="0"/>
              <a:t>程序的入口文件非常简单。它的唯一职责就是创建</a:t>
            </a:r>
            <a:r>
              <a:rPr lang="en-US" altLang="zh-CN" dirty="0" err="1"/>
              <a:t>GameApp</a:t>
            </a:r>
            <a:r>
              <a:rPr lang="zh-CN" altLang="en-US" dirty="0"/>
              <a:t>对象并调用其</a:t>
            </a:r>
            <a:r>
              <a:rPr lang="en-US" altLang="zh-CN" dirty="0"/>
              <a:t>run()</a:t>
            </a:r>
            <a:r>
              <a:rPr lang="zh-CN" altLang="en-US" dirty="0"/>
              <a:t>方法。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20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8FB442-E662-D4D8-E321-B711A07B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⏱️ </a:t>
            </a:r>
            <a:r>
              <a:rPr lang="en-US" altLang="zh-CN" b="1" dirty="0"/>
              <a:t>Part 2</a:t>
            </a:r>
            <a:r>
              <a:rPr lang="zh-CN" altLang="en-US" b="1" dirty="0"/>
              <a:t>：实现帧率控制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0896F-9F5B-C993-F304-F4BC4C376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5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6B4C96-02EF-383B-7E35-CDCDF5EE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问题分析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88B46E-8FED-9FF2-6415-0D6EF3B40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在第一部分中，我们的主循环虽然能跑，但存在一个严重问题：</a:t>
            </a:r>
            <a:r>
              <a:rPr lang="en-US" altLang="zh-CN" dirty="0" err="1"/>
              <a:t>delta_time</a:t>
            </a:r>
            <a:r>
              <a:rPr lang="zh-CN" altLang="en-US" dirty="0"/>
              <a:t>被硬编码为了</a:t>
            </a:r>
            <a:r>
              <a:rPr lang="en-US" altLang="zh-CN" dirty="0"/>
              <a:t>0.01f</a:t>
            </a:r>
            <a:r>
              <a:rPr lang="zh-CN" altLang="en-US" dirty="0"/>
              <a:t>。这意味着无论电脑性能如何，我们都假设每帧花费固定的时间。这会导致：</a:t>
            </a:r>
          </a:p>
          <a:p>
            <a:r>
              <a:rPr lang="zh-CN" altLang="en-US" dirty="0"/>
              <a:t>🚀 </a:t>
            </a:r>
            <a:r>
              <a:rPr lang="zh-CN" altLang="en-US" b="1" dirty="0"/>
              <a:t>高性能电脑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游戏运行过快</a:t>
            </a:r>
          </a:p>
          <a:p>
            <a:r>
              <a:rPr lang="zh-CN" altLang="en-US" dirty="0"/>
              <a:t>🐌 </a:t>
            </a:r>
            <a:r>
              <a:rPr lang="zh-CN" altLang="en-US" b="1" dirty="0"/>
              <a:t>低性能电脑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游戏运行变慢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3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49C7-B9AB-FED2-FC17-17B8BD02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解决方案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418F-794C-200A-F2BE-E9A6BB4B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我们需要一个与帧率无关的物理更新。要做到这一点，就必须精确测量上一帧到当前帧所经过的时间，这个时间就是</a:t>
            </a:r>
            <a:r>
              <a:rPr lang="en-US" altLang="zh-CN" b="1" dirty="0" err="1"/>
              <a:t>DeltaTime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为此，我们将创建一个新的核心类：</a:t>
            </a:r>
            <a:r>
              <a:rPr lang="en-US" altLang="zh-CN" dirty="0"/>
              <a:t>Time</a:t>
            </a:r>
            <a:r>
              <a:rPr lang="zh-CN" altLang="en-US" dirty="0"/>
              <a:t>。率稳定在目标值（如</a:t>
            </a:r>
            <a:r>
              <a:rPr lang="en-US" altLang="zh-CN" dirty="0"/>
              <a:t>60 FPS</a:t>
            </a:r>
            <a:r>
              <a:rPr lang="zh-CN" altLang="en-US" dirty="0"/>
              <a:t>）。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94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E561-935A-97EF-D4F2-8170E309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🎵 </a:t>
            </a:r>
            <a:r>
              <a:rPr lang="en-US" altLang="zh-CN" b="1" dirty="0"/>
              <a:t>1. Time</a:t>
            </a:r>
            <a:r>
              <a:rPr lang="zh-CN" altLang="en-US" b="1" dirty="0"/>
              <a:t>类：引擎的节拍器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4FB7-3FC1-8C8A-767A-7C4FD85DA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Time</a:t>
            </a:r>
            <a:r>
              <a:rPr lang="zh-CN" altLang="en-US" dirty="0"/>
              <a:t>类将负责所有与时间相关的计算。它会在每帧开始时被调用，计算出</a:t>
            </a:r>
            <a:r>
              <a:rPr lang="en-US" altLang="zh-CN" dirty="0" err="1"/>
              <a:t>DeltaTime</a:t>
            </a:r>
            <a:r>
              <a:rPr lang="zh-CN" altLang="en-US" dirty="0"/>
              <a:t>，并提供一个选项来将游戏帧率稳定在一个目标值（例如</a:t>
            </a:r>
            <a:r>
              <a:rPr lang="en-US" altLang="zh-CN" dirty="0"/>
              <a:t>144 FPS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b="1" dirty="0"/>
              <a:t>🔧 </a:t>
            </a:r>
            <a:r>
              <a:rPr lang="zh-CN" altLang="en-US" b="1" dirty="0"/>
              <a:t>头文件 </a:t>
            </a:r>
            <a:r>
              <a:rPr lang="en-US" altLang="zh-CN" b="1" dirty="0"/>
              <a:t>(</a:t>
            </a:r>
            <a:r>
              <a:rPr lang="en-US" b="1" dirty="0" err="1"/>
              <a:t>time.h</a:t>
            </a:r>
            <a:r>
              <a:rPr lang="en-US" b="1" dirty="0"/>
              <a:t>)</a:t>
            </a:r>
          </a:p>
          <a:p>
            <a:r>
              <a:rPr lang="en-US" dirty="0"/>
              <a:t>Time</a:t>
            </a:r>
            <a:r>
              <a:rPr lang="zh-CN" altLang="en-US" dirty="0"/>
              <a:t>类的声明，定义了其接口。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0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5DB6-012D-6236-F956-D4EA2D4B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📊 核心功能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75F6-0AF3-3091-DC80-817DD9CA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它会记录上一帧和当前帧的时间戳，用于计算</a:t>
            </a:r>
            <a:r>
              <a:rPr lang="en-US" altLang="zh-CN" dirty="0" err="1"/>
              <a:t>delta_time</a:t>
            </a:r>
            <a:r>
              <a:rPr lang="en-US" altLang="zh-CN" dirty="0"/>
              <a:t>_</a:t>
            </a:r>
            <a:endParaRPr lang="zh-CN" altLang="en-US" dirty="0"/>
          </a:p>
          <a:p>
            <a:r>
              <a:rPr lang="zh-CN" altLang="en-US" dirty="0"/>
              <a:t>提供了</a:t>
            </a:r>
            <a:r>
              <a:rPr lang="en-US" altLang="zh-CN" dirty="0" err="1"/>
              <a:t>getDeltaTime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 err="1"/>
              <a:t>getUnscaledDeltaTime</a:t>
            </a:r>
            <a:r>
              <a:rPr lang="en-US" altLang="zh-CN" dirty="0"/>
              <a:t>()</a:t>
            </a:r>
            <a:r>
              <a:rPr lang="zh-CN" altLang="en-US" dirty="0"/>
              <a:t>，前者受</a:t>
            </a:r>
            <a:r>
              <a:rPr lang="en-US" altLang="zh-CN" dirty="0" err="1"/>
              <a:t>time_scale</a:t>
            </a:r>
            <a:r>
              <a:rPr lang="en-US" altLang="zh-CN" dirty="0"/>
              <a:t>_</a:t>
            </a:r>
            <a:r>
              <a:rPr lang="zh-CN" altLang="en-US" dirty="0"/>
              <a:t>影响（用于实现慢动作</a:t>
            </a:r>
            <a:r>
              <a:rPr lang="en-US" altLang="zh-CN" dirty="0"/>
              <a:t>/</a:t>
            </a:r>
            <a:r>
              <a:rPr lang="zh-CN" altLang="en-US" dirty="0"/>
              <a:t>快进），后者则返回原始的帧耗时</a:t>
            </a:r>
          </a:p>
          <a:p>
            <a:r>
              <a:rPr lang="zh-CN" altLang="en-US" dirty="0"/>
              <a:t>提供了</a:t>
            </a:r>
            <a:r>
              <a:rPr lang="en-US" altLang="zh-CN" dirty="0" err="1"/>
              <a:t>setTargetFps</a:t>
            </a:r>
            <a:r>
              <a:rPr lang="en-US" altLang="zh-CN" dirty="0"/>
              <a:t>()</a:t>
            </a:r>
            <a:r>
              <a:rPr lang="zh-CN" altLang="en-US" dirty="0"/>
              <a:t>来设置目标帧率，如果设为</a:t>
            </a:r>
            <a:r>
              <a:rPr lang="en-US" altLang="zh-CN" dirty="0"/>
              <a:t>0</a:t>
            </a:r>
            <a:r>
              <a:rPr lang="zh-CN" altLang="en-US" dirty="0"/>
              <a:t>则不限制帧率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64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3C75-57E7-66D4-1343-D6220A1C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⚙️ 实现文件 </a:t>
            </a:r>
            <a:r>
              <a:rPr lang="en-US" altLang="zh-CN" b="1" dirty="0"/>
              <a:t>(time.cpp)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95ACE-1331-9123-A431-BE047FB21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Time</a:t>
            </a:r>
            <a:r>
              <a:rPr lang="zh-CN" altLang="en-US" dirty="0"/>
              <a:t>类的具体实现。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00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B404-CB95-256D-8DE3-693BF6812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/>
              <a:t>⏰ </a:t>
            </a:r>
            <a:r>
              <a:rPr lang="zh-CN" altLang="en-US" b="1" dirty="0"/>
              <a:t>高精度计时</a:t>
            </a:r>
          </a:p>
          <a:p>
            <a:pPr marL="0" indent="0">
              <a:buNone/>
            </a:pPr>
            <a:r>
              <a:rPr lang="zh-CN" altLang="en-US" dirty="0"/>
              <a:t>我们使用</a:t>
            </a:r>
            <a:r>
              <a:rPr lang="en-US" dirty="0" err="1"/>
              <a:t>SDL_GetTicksNS</a:t>
            </a:r>
            <a:r>
              <a:rPr lang="en-US" dirty="0"/>
              <a:t>()，</a:t>
            </a:r>
            <a:r>
              <a:rPr lang="zh-CN" altLang="en-US" dirty="0"/>
              <a:t>它返回自</a:t>
            </a:r>
            <a:r>
              <a:rPr lang="en-US" dirty="0"/>
              <a:t>SDL</a:t>
            </a:r>
            <a:r>
              <a:rPr lang="zh-CN" altLang="en-US" dirty="0"/>
              <a:t>初始化以来的纳秒数（</a:t>
            </a:r>
            <a:r>
              <a:rPr lang="en-US" dirty="0"/>
              <a:t>Uint64），</a:t>
            </a:r>
            <a:r>
              <a:rPr lang="zh-CN" altLang="en-US" dirty="0"/>
              <a:t>这为我们提供了非常高的计时精度。</a:t>
            </a:r>
          </a:p>
          <a:p>
            <a:r>
              <a:rPr lang="en-US" b="1" dirty="0"/>
              <a:t>🔄 update() </a:t>
            </a:r>
            <a:r>
              <a:rPr lang="zh-CN" altLang="en-US" b="1" dirty="0"/>
              <a:t>逻辑</a:t>
            </a:r>
          </a:p>
          <a:p>
            <a:pPr marL="0" indent="0">
              <a:buNone/>
            </a:pPr>
            <a:r>
              <a:rPr lang="zh-CN" altLang="en-US" dirty="0"/>
              <a:t>记录当前时间戳</a:t>
            </a:r>
          </a:p>
          <a:p>
            <a:pPr marL="0" indent="0">
              <a:buNone/>
            </a:pPr>
            <a:r>
              <a:rPr lang="zh-CN" altLang="en-US" dirty="0"/>
              <a:t>计算当前帧实际花费的时间 </a:t>
            </a:r>
            <a:r>
              <a:rPr lang="en-US" dirty="0" err="1"/>
              <a:t>current_delta_time</a:t>
            </a:r>
            <a:endParaRPr lang="en-US" dirty="0"/>
          </a:p>
          <a:p>
            <a:pPr marL="0" indent="0">
              <a:buNone/>
            </a:pPr>
            <a:r>
              <a:rPr lang="zh-CN" altLang="en-US" dirty="0"/>
              <a:t>如果设置了目标帧率，则进入</a:t>
            </a:r>
            <a:r>
              <a:rPr lang="en-US" dirty="0" err="1"/>
              <a:t>limitFrameRate</a:t>
            </a:r>
            <a:endParaRPr lang="en-US" dirty="0"/>
          </a:p>
          <a:p>
            <a:r>
              <a:rPr lang="en-US" b="1" dirty="0"/>
              <a:t>🎯 </a:t>
            </a:r>
            <a:r>
              <a:rPr lang="en-US" b="1" dirty="0" err="1"/>
              <a:t>limitFrameRate</a:t>
            </a:r>
            <a:r>
              <a:rPr lang="en-US" b="1" dirty="0"/>
              <a:t>() </a:t>
            </a:r>
            <a:r>
              <a:rPr lang="zh-CN" altLang="en-US" b="1" dirty="0"/>
              <a:t>逻辑</a:t>
            </a:r>
          </a:p>
          <a:p>
            <a:pPr marL="0" indent="0">
              <a:buNone/>
            </a:pPr>
            <a:r>
              <a:rPr lang="zh-CN" altLang="en-US" dirty="0"/>
              <a:t>比较当前帧耗时</a:t>
            </a:r>
            <a:r>
              <a:rPr lang="en-US" dirty="0" err="1"/>
              <a:t>current_delta_time</a:t>
            </a:r>
            <a:r>
              <a:rPr lang="zh-CN" altLang="en-US" dirty="0"/>
              <a:t>和目标帧耗时</a:t>
            </a:r>
            <a:r>
              <a:rPr lang="en-US" dirty="0" err="1"/>
              <a:t>target_frame_time</a:t>
            </a:r>
            <a:r>
              <a:rPr lang="en-US" dirty="0"/>
              <a:t>_</a:t>
            </a:r>
          </a:p>
          <a:p>
            <a:pPr marL="0" indent="0">
              <a:buNone/>
            </a:pPr>
            <a:r>
              <a:rPr lang="zh-CN" altLang="en-US" dirty="0"/>
              <a:t>如果当前帧</a:t>
            </a:r>
            <a:r>
              <a:rPr lang="en-US" altLang="zh-CN" dirty="0"/>
              <a:t>"</a:t>
            </a:r>
            <a:r>
              <a:rPr lang="zh-CN" altLang="en-US" dirty="0"/>
              <a:t>跑得太快</a:t>
            </a:r>
            <a:r>
              <a:rPr lang="en-US" altLang="zh-CN" dirty="0"/>
              <a:t>"</a:t>
            </a:r>
            <a:r>
              <a:rPr lang="zh-CN" altLang="en-US" dirty="0"/>
              <a:t>（耗时更少），就用</a:t>
            </a:r>
            <a:r>
              <a:rPr lang="en-US" dirty="0" err="1"/>
              <a:t>SDL_DelayNS</a:t>
            </a:r>
            <a:r>
              <a:rPr lang="en-US" dirty="0"/>
              <a:t>()"</a:t>
            </a:r>
            <a:r>
              <a:rPr lang="zh-CN" altLang="en-US" dirty="0"/>
              <a:t>暂停</a:t>
            </a:r>
            <a:r>
              <a:rPr lang="en-US" altLang="zh-CN" dirty="0"/>
              <a:t>"</a:t>
            </a:r>
            <a:r>
              <a:rPr lang="zh-CN" altLang="en-US" dirty="0"/>
              <a:t>程序，等待补足剩余的时间</a:t>
            </a:r>
          </a:p>
          <a:p>
            <a:pPr marL="0" indent="0">
              <a:buNone/>
            </a:pPr>
            <a:r>
              <a:rPr lang="zh-CN" altLang="en-US" dirty="0"/>
              <a:t>等待结束后，重新计算最终的</a:t>
            </a:r>
            <a:r>
              <a:rPr lang="en-US" dirty="0" err="1"/>
              <a:t>delta_time</a:t>
            </a:r>
            <a:r>
              <a:rPr lang="en-US" dirty="0"/>
              <a:t>_，</a:t>
            </a:r>
            <a:r>
              <a:rPr lang="zh-CN" altLang="en-US" dirty="0"/>
              <a:t>此时它会非常接近</a:t>
            </a:r>
            <a:r>
              <a:rPr lang="en-US" dirty="0" err="1"/>
              <a:t>target_frame_time</a:t>
            </a:r>
            <a:r>
              <a:rPr lang="en-US" dirty="0"/>
              <a:t>_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85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240C-5B43-A4FA-26D3-E44CB262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🔗 2. </a:t>
            </a:r>
            <a:r>
              <a:rPr lang="zh-CN" altLang="en-US" b="1" dirty="0"/>
              <a:t>将</a:t>
            </a:r>
            <a:r>
              <a:rPr lang="en-US" b="1" dirty="0"/>
              <a:t>Time</a:t>
            </a:r>
            <a:r>
              <a:rPr lang="zh-CN" altLang="en-US" b="1" dirty="0"/>
              <a:t>集成到</a:t>
            </a:r>
            <a:r>
              <a:rPr lang="en-US" b="1" dirty="0" err="1"/>
              <a:t>GameApp</a:t>
            </a:r>
            <a:r>
              <a:rPr lang="zh-CN" altLang="en-US" b="1" dirty="0"/>
              <a:t>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064F-F042-CA9F-DFB9-25C1D3298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975"/>
            <a:ext cx="10515600" cy="5336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现在，我们需要将这个新的</a:t>
            </a:r>
            <a:r>
              <a:rPr lang="en-US" dirty="0"/>
              <a:t>Time</a:t>
            </a:r>
            <a:r>
              <a:rPr lang="zh-CN" altLang="en-US" dirty="0"/>
              <a:t>模块集成到我们的主应用类中。</a:t>
            </a:r>
          </a:p>
          <a:p>
            <a:r>
              <a:rPr lang="en-US" b="1" dirty="0"/>
              <a:t>📝 </a:t>
            </a:r>
            <a:r>
              <a:rPr lang="en-US" b="1" dirty="0" err="1"/>
              <a:t>game_app.h</a:t>
            </a:r>
            <a:r>
              <a:rPr lang="en-US" b="1" dirty="0"/>
              <a:t> </a:t>
            </a:r>
            <a:r>
              <a:rPr lang="zh-CN" altLang="en-US" b="1" dirty="0"/>
              <a:t>修改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dirty="0" err="1"/>
              <a:t>GameApp</a:t>
            </a:r>
            <a:r>
              <a:rPr lang="zh-CN" altLang="en-US" dirty="0"/>
              <a:t>中添加一个</a:t>
            </a:r>
            <a:r>
              <a:rPr lang="en-US" dirty="0"/>
              <a:t>std::</a:t>
            </a:r>
            <a:r>
              <a:rPr lang="en-US" dirty="0" err="1"/>
              <a:t>unique_ptr</a:t>
            </a:r>
            <a:r>
              <a:rPr lang="en-US" dirty="0"/>
              <a:t>&lt;engine::core::Time&gt; time_;</a:t>
            </a:r>
            <a:r>
              <a:rPr lang="zh-CN" altLang="en-US" dirty="0"/>
              <a:t>成员。使用智能指针</a:t>
            </a:r>
            <a:r>
              <a:rPr lang="en-US" dirty="0" err="1"/>
              <a:t>unique_ptr</a:t>
            </a:r>
            <a:r>
              <a:rPr lang="zh-CN" altLang="en-US" dirty="0"/>
              <a:t>可以确保</a:t>
            </a:r>
            <a:r>
              <a:rPr lang="en-US" dirty="0"/>
              <a:t>Time</a:t>
            </a:r>
            <a:r>
              <a:rPr lang="zh-CN" altLang="en-US" dirty="0"/>
              <a:t>对象的生命周期由</a:t>
            </a:r>
            <a:r>
              <a:rPr lang="en-US" dirty="0" err="1"/>
              <a:t>GameApp</a:t>
            </a:r>
            <a:r>
              <a:rPr lang="zh-CN" altLang="en-US" dirty="0"/>
              <a:t>独占管理，并在</a:t>
            </a:r>
            <a:r>
              <a:rPr lang="en-US" dirty="0" err="1"/>
              <a:t>GameApp</a:t>
            </a:r>
            <a:r>
              <a:rPr lang="zh-CN" altLang="en-US" dirty="0"/>
              <a:t>销毁时自动释放内存。</a:t>
            </a:r>
          </a:p>
          <a:p>
            <a:r>
              <a:rPr lang="en-US" b="1" dirty="0"/>
              <a:t>🔧 game_app.cpp </a:t>
            </a:r>
            <a:r>
              <a:rPr lang="zh-CN" altLang="en-US" b="1" dirty="0"/>
              <a:t>修改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dirty="0" err="1"/>
              <a:t>GameApp</a:t>
            </a:r>
            <a:r>
              <a:rPr lang="zh-CN" altLang="en-US" dirty="0"/>
              <a:t>的构造函数中，创建</a:t>
            </a:r>
            <a:r>
              <a:rPr lang="en-US" dirty="0"/>
              <a:t>Time</a:t>
            </a:r>
            <a:r>
              <a:rPr lang="zh-CN" altLang="en-US" dirty="0"/>
              <a:t>的实例：</a:t>
            </a:r>
            <a:r>
              <a:rPr lang="en-US" dirty="0"/>
              <a:t>time_ = std::</a:t>
            </a:r>
            <a:r>
              <a:rPr lang="en-US" dirty="0" err="1"/>
              <a:t>make_unique</a:t>
            </a:r>
            <a:r>
              <a:rPr lang="en-US" dirty="0"/>
              <a:t>&lt;Time&gt;();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dirty="0"/>
              <a:t>run()</a:t>
            </a:r>
            <a:r>
              <a:rPr lang="zh-CN" altLang="en-US" dirty="0"/>
              <a:t>方法的主循环中，用以下逻辑替换掉硬编码的</a:t>
            </a:r>
            <a:r>
              <a:rPr lang="en-US" dirty="0" err="1"/>
              <a:t>delta_time</a:t>
            </a:r>
            <a:endParaRPr lang="en-US" dirty="0"/>
          </a:p>
          <a:p>
            <a:pPr marL="0" indent="0">
              <a:buNone/>
            </a:pPr>
            <a:r>
              <a:rPr lang="zh-CN" altLang="en-US" dirty="0"/>
              <a:t>我们还在</a:t>
            </a:r>
            <a:r>
              <a:rPr lang="en-US" altLang="zh-CN" dirty="0"/>
              <a:t>run()</a:t>
            </a:r>
            <a:r>
              <a:rPr lang="zh-CN" altLang="en-US" dirty="0"/>
              <a:t>中临时加入了</a:t>
            </a:r>
            <a:r>
              <a:rPr lang="en-US" altLang="zh-CN" dirty="0"/>
              <a:t>time_-&gt;</a:t>
            </a:r>
            <a:r>
              <a:rPr lang="en-US" altLang="zh-CN" dirty="0" err="1"/>
              <a:t>setTargetFps</a:t>
            </a:r>
            <a:r>
              <a:rPr lang="en-US" altLang="zh-CN" dirty="0"/>
              <a:t>(144);</a:t>
            </a:r>
            <a:r>
              <a:rPr lang="zh-CN" altLang="en-US" dirty="0"/>
              <a:t>来测试帧率限制功能。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12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58B7-1C7F-FD4C-8133-DC6BD473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🎉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7D9F0-FDBB-5FA3-BBA8-C4BEC0722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至此，我们完成了引擎最核心的两个部分：</a:t>
            </a:r>
            <a:r>
              <a:rPr lang="zh-CN" altLang="en-US" b="1" dirty="0"/>
              <a:t>一个健壮的主循环和一个精确的帧率控制器</a:t>
            </a:r>
            <a:r>
              <a:rPr lang="zh-CN" altLang="en-US" dirty="0"/>
              <a:t>。我们已经为后续所有动态的游戏逻辑打下了坚实的时间基础。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2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1587</Words>
  <Application>Microsoft Office PowerPoint</Application>
  <PresentationFormat>Widescreen</PresentationFormat>
  <Paragraphs>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主循环与帧率控制</vt:lpstr>
      <vt:lpstr>📖 概述</vt:lpstr>
      <vt:lpstr>🎯 学习目标</vt:lpstr>
      <vt:lpstr>🚀 Part 1：构建主循环</vt:lpstr>
      <vt:lpstr>📁 新的项目结构</vt:lpstr>
      <vt:lpstr>📂 目录说明</vt:lpstr>
      <vt:lpstr>💖 GameApp类：游戏的心脏</vt:lpstr>
      <vt:lpstr>🔧 头文件 (game_app.h)</vt:lpstr>
      <vt:lpstr>🔑 关键设计要点</vt:lpstr>
      <vt:lpstr>⚙️ 实现文件 (game_app.cpp)</vt:lpstr>
      <vt:lpstr>🔄 核心方法解析</vt:lpstr>
      <vt:lpstr>PowerPoint Presentation</vt:lpstr>
      <vt:lpstr>程序入口</vt:lpstr>
      <vt:lpstr>⏱️ Part 2：实现帧率控制</vt:lpstr>
      <vt:lpstr>⚠️ 问题分析</vt:lpstr>
      <vt:lpstr>🎯 解决方案</vt:lpstr>
      <vt:lpstr>🎵 1. Time类：引擎的节拍器</vt:lpstr>
      <vt:lpstr>📊 核心功能</vt:lpstr>
      <vt:lpstr>⚙️ 实现文件 (time.cpp)</vt:lpstr>
      <vt:lpstr>PowerPoint Presentation</vt:lpstr>
      <vt:lpstr>🔗 2. 将Time集成到GameApp中</vt:lpstr>
      <vt:lpstr>🎉 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2025-10-29T12:44:03Z</dcterms:created>
  <dcterms:modified xsi:type="dcterms:W3CDTF">2025-10-29T12:55:25Z</dcterms:modified>
</cp:coreProperties>
</file>