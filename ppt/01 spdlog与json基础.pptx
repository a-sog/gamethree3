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05BD-6F65-23B9-9434-78E9A3300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7004E-D287-5E42-AB59-481B541F8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30CBD-C7A5-E813-88E1-7B9DCA26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61713-CEA6-112E-9544-E5E8F05F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FFD0-166C-4622-A441-DDF1FB1F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2175-E80D-C8E6-5100-37572011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AD551-120B-0FFF-1247-A9299549E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2E406-ED7B-09C5-36B3-71C777EA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97DF-81FE-A4EA-33AD-705515A1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ED42-8565-0540-4660-33C32A10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7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CF0E-78A8-DD41-28B4-2F9F2D1B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BE519-4B7F-4F37-564E-47803E39C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C502D-E5DD-1738-B6DA-216E79DD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93D26-43BE-7D4D-7601-6D1F1CAC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27BC9-CCB9-0160-0974-41EF5145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9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BF27-51E5-2E3C-ED53-DC65AE4F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D667F-16DE-0801-592D-B4E02D2C6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5362B-6152-AC61-3152-66C2CE815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58415-5F2A-90AD-30D8-6DECECE7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80072-9DEF-7E71-3AC9-D72B63BB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AE663-8E05-0221-4868-D15EB451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2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9281-CABF-9569-3F2D-D77FF8E3A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14EAD-8A80-0B2F-6EC0-E227829BA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0FC11-286E-09F3-8D71-2D0691426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38DE3-ECE2-E0D7-BBC8-A2BF7204D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4DB6C-8AB7-05C2-E7C1-466638AAD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AC6A4-7E11-A255-86B9-E6F910A2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A8D45-2E82-D6BC-A976-538E5E15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7EB5F-B893-DBA7-E0C9-CC4632AE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9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7683-DF36-10C3-4CCC-38C1ADBB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CBE74-3A91-FC11-32A1-3C33C8B6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0972E-3916-99E4-8E7F-11CF745C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A9BD-10F8-C5C1-10ED-BDD474DC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7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DDCFB-350E-C4C6-335C-D7EC82E4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DE108-38DE-46E8-E5C0-02B2A707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8FEC0-1BD3-F2BC-59FA-FBE940D0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9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538A-8F6E-AF56-F61E-E7AE7E40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344DD-243D-E5D2-9DE3-BF6C1E53E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19C71-4972-B5C4-AC9F-D9AD217C3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FD500-7D1E-DBE5-059B-6ED7A200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1EB72-DBEA-9883-6863-7C08A92F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035D4-4B80-9C08-97C7-30C6B67A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8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A28D-4729-20BB-9E30-5C71A7D7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6C022-8FC0-B880-5673-AC0F4C650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909C4-364A-7E3A-03A2-19ECE8A3C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66D5A-BB96-4E1B-A7B7-E164526D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758CD-93C2-CC1C-EDA4-F25563DB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0C1CA-1C6E-0297-C921-073C97D0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2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C177-645C-A60D-B021-9AD32AD6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828AA-9FEC-D2D4-8FCA-853048EC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483AB-32A4-E156-F710-B30EDF76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8970E-BE02-A7F1-81EE-4931F3E7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32B7A-98B3-F8FA-5536-872736A9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5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08CA9-4ACE-7FD6-7C62-FEDF49C5F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17C36-73CA-8BB1-47B3-D321AF04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31905-7E71-FC57-A7B7-3C98F98A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7B8B-99E4-ADF9-7522-33801B3C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D0EE6-E0E6-8D4A-F2CD-7C873FFC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4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687DC-CEB5-02D8-DBA4-31AB525C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F924D-2E04-90F1-AE60-6543341C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D341-1AC9-80CD-BFE2-ED9A2D056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CE9CB-CD77-4EFA-A7B0-93AD6048C2D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F422B-7934-61EE-0C0F-7C0B10D7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79FAB-906B-9C33-A958-C44765512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696CB-0E1C-4DE5-9954-A5A1075E7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6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65D9-C0A7-14A0-6C43-9928416BF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spdlog</a:t>
            </a:r>
            <a:r>
              <a:rPr lang="zh-CN" altLang="en-US" b="1" dirty="0"/>
              <a:t>与</a:t>
            </a:r>
            <a:r>
              <a:rPr lang="en-US" b="1" dirty="0" err="1"/>
              <a:t>json</a:t>
            </a:r>
            <a:r>
              <a:rPr lang="zh-CN" altLang="en-US" b="1" dirty="0"/>
              <a:t>基础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6AF67-D502-0078-BA07-B3EEF1B45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4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E6B4-8790-C470-1330-912EBA30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📖 概述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99A82-9811-A75E-E842-0537C547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我们将学习两个在现代</a:t>
            </a:r>
            <a:r>
              <a:rPr lang="en-US" altLang="zh-CN" dirty="0"/>
              <a:t>C++</a:t>
            </a:r>
            <a:r>
              <a:rPr lang="zh-CN" altLang="en-US" dirty="0"/>
              <a:t>开发中至关重要的工具库：</a:t>
            </a:r>
            <a:r>
              <a:rPr lang="en-US" altLang="zh-CN" b="1" dirty="0" err="1"/>
              <a:t>spdlog</a:t>
            </a:r>
            <a:r>
              <a:rPr lang="zh-CN" altLang="en-US" dirty="0"/>
              <a:t> 和 </a:t>
            </a:r>
            <a:r>
              <a:rPr lang="en-US" altLang="zh-CN" b="1" dirty="0" err="1"/>
              <a:t>nlohmann</a:t>
            </a:r>
            <a:r>
              <a:rPr lang="en-US" altLang="zh-CN" b="1" dirty="0"/>
              <a:t>/</a:t>
            </a:r>
            <a:r>
              <a:rPr lang="en-US" altLang="zh-CN" b="1" dirty="0" err="1"/>
              <a:t>json</a:t>
            </a:r>
            <a:r>
              <a:rPr lang="zh-CN" altLang="en-US" dirty="0"/>
              <a:t>。它们将分别成为我们调试信息输出和游戏数据管理的得力助手。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6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BB7F-A22A-B559-0286-FA596506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🤔 为什么需要这些工具？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F69FB-8701-E1DA-BB43-C61876640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在复杂的项目中，使用 </a:t>
            </a:r>
            <a:r>
              <a:rPr lang="en-US" altLang="zh-CN" dirty="0"/>
              <a:t>std::</a:t>
            </a:r>
            <a:r>
              <a:rPr lang="en-US" altLang="zh-CN" dirty="0" err="1"/>
              <a:t>cout</a:t>
            </a:r>
            <a:r>
              <a:rPr lang="zh-CN" altLang="en-US" dirty="0"/>
              <a:t> 来打印信息会变得混乱不堪。我们需要一个能够分级、格式化、并且能轻松开关的日志系统。同样，当涉及到游戏存档、关卡配置或角色属性时，直接在代码中硬编码数据是不可维护的，我们需要一种结构化的数据格式。</a:t>
            </a:r>
          </a:p>
          <a:p>
            <a:r>
              <a:rPr lang="zh-CN" altLang="en-US" dirty="0"/>
              <a:t>本节课，我们将解决这两个痛点，为后续的引擎开发扫清障碍。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3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775857-759D-81F6-A91A-BBFCE0F5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📝 </a:t>
            </a:r>
            <a:r>
              <a:rPr lang="en-US" altLang="zh-CN" b="1" dirty="0"/>
              <a:t>1. </a:t>
            </a:r>
            <a:r>
              <a:rPr lang="en-US" altLang="zh-CN" b="1" dirty="0" err="1"/>
              <a:t>spdlog</a:t>
            </a:r>
            <a:r>
              <a:rPr lang="zh-CN" altLang="en-US" b="1" dirty="0"/>
              <a:t>：专业且高效的日志库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4C04F-336E-AB13-D589-632E9378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/>
              <a:t>spdlog</a:t>
            </a:r>
            <a:r>
              <a:rPr lang="zh-CN" altLang="en-US" dirty="0"/>
              <a:t> 是一个非常快速、仅需头文件的</a:t>
            </a:r>
            <a:r>
              <a:rPr lang="en-US" altLang="zh-CN" dirty="0"/>
              <a:t>C++</a:t>
            </a:r>
            <a:r>
              <a:rPr lang="zh-CN" altLang="en-US" dirty="0"/>
              <a:t>日志库。它提供了丰富的功能，让我们的调试工作事半功倍。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8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5CEBC-1705-A0D5-737A-A88B96F4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💻 </a:t>
            </a:r>
            <a:r>
              <a:rPr lang="zh-CN" altLang="en-US" b="1" dirty="0"/>
              <a:t>基础用法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49DFC-817C-0DDF-E5BA-1DD5472F5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3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AFD7E-7378-028E-2B49-9DDB22FE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核心概念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00A42-A625-DE4B-89FB-994C8840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2"/>
            <a:ext cx="10515600" cy="5203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/>
              <a:t>📊 </a:t>
            </a:r>
            <a:r>
              <a:rPr lang="en-US" altLang="zh-CN" sz="3200" b="1" dirty="0"/>
              <a:t>1. </a:t>
            </a:r>
            <a:r>
              <a:rPr lang="zh-CN" altLang="en-US" sz="3200" b="1" dirty="0"/>
              <a:t>日志级别 </a:t>
            </a:r>
            <a:r>
              <a:rPr lang="en-US" altLang="zh-CN" sz="3200" b="1" dirty="0"/>
              <a:t>(Log Levels)</a:t>
            </a:r>
          </a:p>
          <a:p>
            <a:pPr marL="0" indent="0">
              <a:buNone/>
            </a:pPr>
            <a:r>
              <a:rPr lang="en-US" altLang="zh-CN" dirty="0" err="1"/>
              <a:t>spdlog</a:t>
            </a:r>
            <a:r>
              <a:rPr lang="zh-CN" altLang="en-US" dirty="0"/>
              <a:t> 定义了多个日志级别，从低到高依次为：</a:t>
            </a:r>
            <a:r>
              <a:rPr lang="en-US" altLang="zh-CN" dirty="0"/>
              <a:t>trace, debug, info, warn, error, critical</a:t>
            </a:r>
            <a:r>
              <a:rPr lang="zh-CN" altLang="en-US" dirty="0"/>
              <a:t>。这允许我们根据信息的重要性来分类输出。</a:t>
            </a:r>
          </a:p>
          <a:p>
            <a:r>
              <a:rPr lang="zh-CN" altLang="en-US" sz="2400" dirty="0"/>
              <a:t>🔍 </a:t>
            </a:r>
            <a:r>
              <a:rPr lang="en-US" altLang="zh-CN" sz="2400" b="1" dirty="0"/>
              <a:t>trace/debug</a:t>
            </a:r>
            <a:r>
              <a:rPr lang="zh-CN" altLang="en-US" sz="2400" dirty="0"/>
              <a:t> </a:t>
            </a:r>
            <a:r>
              <a:rPr lang="en-US" altLang="zh-CN" sz="2400" dirty="0"/>
              <a:t>- </a:t>
            </a:r>
            <a:r>
              <a:rPr lang="zh-CN" altLang="en-US" sz="2400" dirty="0"/>
              <a:t>用于输出详细的、仅在开发调试时需要的信息</a:t>
            </a:r>
          </a:p>
          <a:p>
            <a:r>
              <a:rPr lang="en-US" altLang="zh-CN" sz="2400" dirty="0"/>
              <a:t>ℹ️ </a:t>
            </a:r>
            <a:r>
              <a:rPr lang="en-US" altLang="zh-CN" sz="2400" b="1" dirty="0"/>
              <a:t>info</a:t>
            </a:r>
            <a:r>
              <a:rPr lang="zh-CN" altLang="en-US" sz="2400" dirty="0"/>
              <a:t> </a:t>
            </a:r>
            <a:r>
              <a:rPr lang="en-US" altLang="zh-CN" sz="2400" dirty="0"/>
              <a:t>- </a:t>
            </a:r>
            <a:r>
              <a:rPr lang="zh-CN" altLang="en-US" sz="2400" dirty="0"/>
              <a:t>用于输出常规的、有意义的运行时信息，比如</a:t>
            </a:r>
            <a:r>
              <a:rPr lang="en-US" altLang="zh-CN" sz="2400" dirty="0"/>
              <a:t>"</a:t>
            </a:r>
            <a:r>
              <a:rPr lang="zh-CN" altLang="en-US" sz="2400" dirty="0"/>
              <a:t>游戏已启动</a:t>
            </a:r>
            <a:r>
              <a:rPr lang="en-US" altLang="zh-CN" sz="2400" dirty="0"/>
              <a:t>"</a:t>
            </a:r>
            <a:r>
              <a:rPr lang="zh-CN" altLang="en-US" sz="2400" dirty="0"/>
              <a:t>、</a:t>
            </a:r>
            <a:r>
              <a:rPr lang="en-US" altLang="zh-CN" sz="2400" dirty="0"/>
              <a:t>"</a:t>
            </a:r>
            <a:r>
              <a:rPr lang="zh-CN" altLang="en-US" sz="2400" dirty="0"/>
              <a:t>关卡加载成功</a:t>
            </a:r>
            <a:r>
              <a:rPr lang="en-US" altLang="zh-CN" sz="2400" dirty="0"/>
              <a:t>"</a:t>
            </a:r>
          </a:p>
          <a:p>
            <a:r>
              <a:rPr lang="en-US" altLang="zh-CN" sz="2400" dirty="0"/>
              <a:t>⚠️ </a:t>
            </a:r>
            <a:r>
              <a:rPr lang="en-US" altLang="zh-CN" sz="2400" b="1" dirty="0"/>
              <a:t>warn</a:t>
            </a:r>
            <a:r>
              <a:rPr lang="zh-CN" altLang="en-US" sz="2400" dirty="0"/>
              <a:t> </a:t>
            </a:r>
            <a:r>
              <a:rPr lang="en-US" altLang="zh-CN" sz="2400" dirty="0"/>
              <a:t>- </a:t>
            </a:r>
            <a:r>
              <a:rPr lang="zh-CN" altLang="en-US" sz="2400" dirty="0"/>
              <a:t>用于输出潜在的问题，程序仍可继续运行</a:t>
            </a:r>
          </a:p>
          <a:p>
            <a:r>
              <a:rPr lang="zh-CN" altLang="en-US" sz="2400" dirty="0"/>
              <a:t>❌ </a:t>
            </a:r>
            <a:r>
              <a:rPr lang="en-US" altLang="zh-CN" sz="2400" b="1" dirty="0"/>
              <a:t>error/critical</a:t>
            </a:r>
            <a:r>
              <a:rPr lang="zh-CN" altLang="en-US" sz="2400" dirty="0"/>
              <a:t> </a:t>
            </a:r>
            <a:r>
              <a:rPr lang="en-US" altLang="zh-CN" sz="2400" dirty="0"/>
              <a:t>- </a:t>
            </a:r>
            <a:r>
              <a:rPr lang="zh-CN" altLang="en-US" sz="2400" dirty="0"/>
              <a:t>用于输出严重错误，这些错误可能会导致程序行为异常甚至崩溃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3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CE604-1A72-AAED-C698-97A75C437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⚙️ </a:t>
            </a:r>
            <a:r>
              <a:rPr lang="en-US" altLang="zh-CN" b="1" dirty="0"/>
              <a:t>2. </a:t>
            </a:r>
            <a:r>
              <a:rPr lang="zh-CN" altLang="en-US" b="1" dirty="0"/>
              <a:t>设置输出等级</a:t>
            </a:r>
          </a:p>
          <a:p>
            <a:r>
              <a:rPr lang="zh-CN" altLang="en-US" dirty="0"/>
              <a:t>通过 </a:t>
            </a:r>
            <a:r>
              <a:rPr lang="en-US" dirty="0" err="1"/>
              <a:t>spdlog</a:t>
            </a:r>
            <a:r>
              <a:rPr lang="en-US" dirty="0"/>
              <a:t>::</a:t>
            </a:r>
            <a:r>
              <a:rPr lang="en-US" dirty="0" err="1"/>
              <a:t>set_level</a:t>
            </a:r>
            <a:r>
              <a:rPr lang="en-US" dirty="0"/>
              <a:t>()，</a:t>
            </a:r>
            <a:r>
              <a:rPr lang="zh-CN" altLang="en-US" dirty="0"/>
              <a:t>我们可以控制程序实际输出的日志级别。例如，</a:t>
            </a:r>
            <a:r>
              <a:rPr lang="en-US" dirty="0" err="1"/>
              <a:t>spdlog</a:t>
            </a:r>
            <a:r>
              <a:rPr lang="en-US" dirty="0"/>
              <a:t>::</a:t>
            </a:r>
            <a:r>
              <a:rPr lang="en-US" dirty="0" err="1"/>
              <a:t>set_level</a:t>
            </a:r>
            <a:r>
              <a:rPr lang="en-US" dirty="0"/>
              <a:t>(</a:t>
            </a:r>
            <a:r>
              <a:rPr lang="en-US" dirty="0" err="1"/>
              <a:t>spdlog</a:t>
            </a:r>
            <a:r>
              <a:rPr lang="en-US" dirty="0"/>
              <a:t>::level::info) </a:t>
            </a:r>
            <a:r>
              <a:rPr lang="zh-CN" altLang="en-US" dirty="0"/>
              <a:t>意味着只有 </a:t>
            </a:r>
            <a:r>
              <a:rPr lang="en-US" dirty="0"/>
              <a:t>info </a:t>
            </a:r>
            <a:r>
              <a:rPr lang="zh-CN" altLang="en-US" dirty="0"/>
              <a:t>及以上级别（</a:t>
            </a:r>
            <a:r>
              <a:rPr lang="en-US" dirty="0"/>
              <a:t>warn, error, critical）</a:t>
            </a:r>
            <a:r>
              <a:rPr lang="zh-CN" altLang="en-US" dirty="0"/>
              <a:t>的日志才会被显示，而 </a:t>
            </a:r>
            <a:r>
              <a:rPr lang="en-US" dirty="0"/>
              <a:t>trace </a:t>
            </a:r>
            <a:r>
              <a:rPr lang="zh-CN" altLang="en-US" dirty="0"/>
              <a:t>和 </a:t>
            </a:r>
            <a:r>
              <a:rPr lang="en-US" dirty="0"/>
              <a:t>debug </a:t>
            </a:r>
            <a:r>
              <a:rPr lang="zh-CN" altLang="en-US" dirty="0"/>
              <a:t>信息将被忽略。这在发布游戏时非常有用，可以轻松地关闭所有调试信息。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b="1" dirty="0"/>
              <a:t>📝 3. </a:t>
            </a:r>
            <a:r>
              <a:rPr lang="zh-CN" altLang="en-US" b="1" dirty="0"/>
              <a:t>格式化输出</a:t>
            </a:r>
          </a:p>
          <a:p>
            <a:r>
              <a:rPr lang="en-US" dirty="0" err="1"/>
              <a:t>spdlog</a:t>
            </a:r>
            <a:r>
              <a:rPr lang="en-US" dirty="0"/>
              <a:t> </a:t>
            </a:r>
            <a:r>
              <a:rPr lang="zh-CN" altLang="en-US" dirty="0"/>
              <a:t>使用与 </a:t>
            </a:r>
            <a:r>
              <a:rPr lang="en-US" dirty="0"/>
              <a:t>Python </a:t>
            </a:r>
            <a:r>
              <a:rPr lang="zh-CN" altLang="en-US" dirty="0"/>
              <a:t>的 </a:t>
            </a:r>
            <a:r>
              <a:rPr lang="en-US" dirty="0"/>
              <a:t>format </a:t>
            </a:r>
            <a:r>
              <a:rPr lang="zh-CN" altLang="en-US" dirty="0"/>
              <a:t>或 </a:t>
            </a:r>
            <a:r>
              <a:rPr lang="en-US" dirty="0"/>
              <a:t>C++20 </a:t>
            </a:r>
            <a:r>
              <a:rPr lang="zh-CN" altLang="en-US" dirty="0"/>
              <a:t>的 </a:t>
            </a:r>
            <a:r>
              <a:rPr lang="en-US" dirty="0"/>
              <a:t>std::format </a:t>
            </a:r>
            <a:r>
              <a:rPr lang="zh-CN" altLang="en-US" dirty="0"/>
              <a:t>类似的语法，通过 </a:t>
            </a:r>
            <a:r>
              <a:rPr lang="en-US" altLang="zh-CN" dirty="0"/>
              <a:t>{}</a:t>
            </a:r>
            <a:r>
              <a:rPr lang="zh-CN" altLang="en-US" dirty="0"/>
              <a:t> 作为占位符，可以安全、高效地格式化各种类型的变量。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50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C960-DE2C-43AB-98EC-4B07DDB5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📦 2. </a:t>
            </a:r>
            <a:r>
              <a:rPr lang="en-US" b="1" dirty="0" err="1"/>
              <a:t>nlohmann</a:t>
            </a:r>
            <a:r>
              <a:rPr lang="en-US" b="1" dirty="0"/>
              <a:t>/</a:t>
            </a:r>
            <a:r>
              <a:rPr lang="en-US" b="1" dirty="0" err="1"/>
              <a:t>json</a:t>
            </a:r>
            <a:r>
              <a:rPr lang="en-US" b="1" dirty="0"/>
              <a:t>：</a:t>
            </a:r>
            <a:r>
              <a:rPr lang="zh-CN" altLang="en-US" b="1" dirty="0"/>
              <a:t>现代</a:t>
            </a:r>
            <a:r>
              <a:rPr lang="en-US" b="1" dirty="0"/>
              <a:t>C++</a:t>
            </a:r>
            <a:r>
              <a:rPr lang="zh-CN" altLang="en-US" b="1" dirty="0"/>
              <a:t>的</a:t>
            </a:r>
            <a:r>
              <a:rPr lang="en-US" b="1" dirty="0"/>
              <a:t>JSON</a:t>
            </a:r>
            <a:r>
              <a:rPr lang="zh-CN" altLang="en-US" b="1" dirty="0"/>
              <a:t>处理利器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D260-55DD-18CD-8D75-9E23A8EA1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JSON</a:t>
            </a:r>
            <a:r>
              <a:rPr lang="zh-CN" altLang="en-US" dirty="0"/>
              <a:t>（</a:t>
            </a:r>
            <a:r>
              <a:rPr lang="en-US" altLang="zh-CN" dirty="0"/>
              <a:t>JavaScript Object Notation</a:t>
            </a:r>
            <a:r>
              <a:rPr lang="zh-CN" altLang="en-US" dirty="0"/>
              <a:t>）是一种轻量级的数据交换格式，在游戏开发中被广泛用于配置文件、存档数据、关卡设计等场景。</a:t>
            </a:r>
            <a:r>
              <a:rPr lang="en-US" altLang="zh-CN" b="1" dirty="0" err="1"/>
              <a:t>nlohmann</a:t>
            </a:r>
            <a:r>
              <a:rPr lang="en-US" altLang="zh-CN" b="1" dirty="0"/>
              <a:t>/</a:t>
            </a:r>
            <a:r>
              <a:rPr lang="en-US" altLang="zh-CN" b="1" dirty="0" err="1"/>
              <a:t>json</a:t>
            </a:r>
            <a:r>
              <a:rPr lang="zh-CN" altLang="en-US" dirty="0"/>
              <a:t> 是</a:t>
            </a:r>
            <a:r>
              <a:rPr lang="en-US" altLang="zh-CN" dirty="0"/>
              <a:t>C++</a:t>
            </a:r>
            <a:r>
              <a:rPr lang="zh-CN" altLang="en-US" dirty="0"/>
              <a:t>社区中最受欢迎的</a:t>
            </a:r>
            <a:r>
              <a:rPr lang="en-US" altLang="zh-CN" dirty="0"/>
              <a:t>JSON</a:t>
            </a:r>
            <a:r>
              <a:rPr lang="zh-CN" altLang="en-US" dirty="0"/>
              <a:t>库之一，它提供了直观、类型安全的</a:t>
            </a:r>
            <a:r>
              <a:rPr lang="en-US" altLang="zh-CN" dirty="0"/>
              <a:t>API</a:t>
            </a:r>
            <a:r>
              <a:rPr lang="zh-CN" altLang="en-US" dirty="0"/>
              <a:t>，让</a:t>
            </a:r>
            <a:r>
              <a:rPr lang="en-US" altLang="zh-CN" dirty="0"/>
              <a:t>JSON</a:t>
            </a:r>
            <a:r>
              <a:rPr lang="zh-CN" altLang="en-US" dirty="0"/>
              <a:t>操作变得如同操作原生</a:t>
            </a:r>
            <a:r>
              <a:rPr lang="en-US" altLang="zh-CN" dirty="0"/>
              <a:t>C++</a:t>
            </a:r>
            <a:r>
              <a:rPr lang="zh-CN" altLang="en-US" dirty="0"/>
              <a:t>对象一样简单。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3970B7-6389-6FD6-5077-8230C785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核心概念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DF8BAE-EF70-218C-7880-930038D9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13"/>
            <a:ext cx="10515600" cy="5112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在深入代码之前，让我们先了解</a:t>
            </a:r>
            <a:r>
              <a:rPr lang="en-US" altLang="zh-CN" sz="3200" dirty="0"/>
              <a:t>JSON</a:t>
            </a:r>
            <a:r>
              <a:rPr lang="zh-CN" altLang="en-US" sz="3200" dirty="0"/>
              <a:t>的基本数据类型：</a:t>
            </a:r>
          </a:p>
          <a:p>
            <a:pPr marL="0" indent="0">
              <a:buNone/>
            </a:pPr>
            <a:r>
              <a:rPr lang="zh-CN" altLang="en-US" sz="3200" b="1" dirty="0"/>
              <a:t>🔤 基本类型</a:t>
            </a:r>
          </a:p>
          <a:p>
            <a:r>
              <a:rPr lang="zh-CN" altLang="en-US" dirty="0"/>
              <a:t>📝 </a:t>
            </a:r>
            <a:r>
              <a:rPr lang="en-US" altLang="zh-CN" b="1" dirty="0"/>
              <a:t>string</a:t>
            </a:r>
            <a:r>
              <a:rPr lang="zh-CN" altLang="en-US" b="1" dirty="0"/>
              <a:t>（字符串）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用双引号括起的文本</a:t>
            </a:r>
          </a:p>
          <a:p>
            <a:r>
              <a:rPr lang="zh-CN" altLang="en-US" dirty="0"/>
              <a:t>🔢 </a:t>
            </a:r>
            <a:r>
              <a:rPr lang="en-US" altLang="zh-CN" b="1" dirty="0"/>
              <a:t>number</a:t>
            </a:r>
            <a:r>
              <a:rPr lang="zh-CN" altLang="en-US" b="1" dirty="0"/>
              <a:t>（数字）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整数或浮点数</a:t>
            </a:r>
          </a:p>
          <a:p>
            <a:r>
              <a:rPr lang="zh-CN" altLang="en-US" dirty="0"/>
              <a:t>✅ </a:t>
            </a:r>
            <a:r>
              <a:rPr lang="en-US" altLang="zh-CN" b="1" dirty="0" err="1"/>
              <a:t>boolean</a:t>
            </a:r>
            <a:r>
              <a:rPr lang="zh-CN" altLang="en-US" b="1" dirty="0"/>
              <a:t>（布尔值）</a:t>
            </a:r>
            <a:r>
              <a:rPr lang="zh-CN" altLang="en-US" dirty="0"/>
              <a:t> </a:t>
            </a:r>
            <a:r>
              <a:rPr lang="en-US" altLang="zh-CN" dirty="0"/>
              <a:t>- true</a:t>
            </a:r>
            <a:r>
              <a:rPr lang="zh-CN" altLang="en-US" dirty="0"/>
              <a:t> 或 </a:t>
            </a:r>
            <a:r>
              <a:rPr lang="en-US" altLang="zh-CN" dirty="0"/>
              <a:t>false</a:t>
            </a:r>
            <a:endParaRPr lang="zh-CN" altLang="en-US" dirty="0"/>
          </a:p>
          <a:p>
            <a:r>
              <a:rPr lang="zh-CN" altLang="en-US" dirty="0"/>
              <a:t>⭕ </a:t>
            </a:r>
            <a:r>
              <a:rPr lang="en-US" altLang="zh-CN" b="1" dirty="0"/>
              <a:t>null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空值</a:t>
            </a:r>
          </a:p>
          <a:p>
            <a:pPr marL="0" indent="0">
              <a:buNone/>
            </a:pPr>
            <a:r>
              <a:rPr lang="zh-CN" altLang="en-US" sz="3200" b="1" dirty="0"/>
              <a:t>🎁 复合类型</a:t>
            </a:r>
          </a:p>
          <a:p>
            <a:r>
              <a:rPr lang="zh-CN" altLang="en-US" dirty="0"/>
              <a:t>📂 </a:t>
            </a:r>
            <a:r>
              <a:rPr lang="en-US" altLang="zh-CN" b="1" dirty="0"/>
              <a:t>object</a:t>
            </a:r>
            <a:r>
              <a:rPr lang="zh-CN" altLang="en-US" b="1" dirty="0"/>
              <a:t>（对象）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键值对的集合，用 </a:t>
            </a:r>
            <a:r>
              <a:rPr lang="en-US" altLang="zh-CN" dirty="0"/>
              <a:t>{}</a:t>
            </a:r>
            <a:r>
              <a:rPr lang="zh-CN" altLang="en-US" dirty="0"/>
              <a:t> 括起</a:t>
            </a:r>
          </a:p>
          <a:p>
            <a:r>
              <a:rPr lang="zh-CN" altLang="en-US" dirty="0"/>
              <a:t>📋 </a:t>
            </a:r>
            <a:r>
              <a:rPr lang="en-US" altLang="zh-CN" b="1" dirty="0"/>
              <a:t>array</a:t>
            </a:r>
            <a:r>
              <a:rPr lang="zh-CN" altLang="en-US" b="1" dirty="0"/>
              <a:t>（数组）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值的有序列表，用 </a:t>
            </a:r>
            <a:r>
              <a:rPr lang="en-US" altLang="zh-CN" dirty="0"/>
              <a:t>[]</a:t>
            </a:r>
            <a:r>
              <a:rPr lang="zh-CN" altLang="en-US" dirty="0"/>
              <a:t> 括起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54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9B04-2899-1D39-67C2-419123BB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💻 基础用法示例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DA53-6196-9D86-E6E5-4C53BE32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16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9EA7-5B2E-5EEF-B3F4-A7C3797F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🛡️ 安全访问策略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D83A8-AB13-EBE7-C35F-6310BE98C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在实际项目中，我们经常需要处理可能缺失的数据。</a:t>
            </a:r>
            <a:r>
              <a:rPr lang="en-US" altLang="zh-CN" dirty="0" err="1"/>
              <a:t>nlohmann</a:t>
            </a:r>
            <a:r>
              <a:rPr lang="en-US" altLang="zh-CN" dirty="0"/>
              <a:t>/</a:t>
            </a:r>
            <a:r>
              <a:rPr lang="en-US" altLang="zh-CN" dirty="0" err="1"/>
              <a:t>json</a:t>
            </a:r>
            <a:r>
              <a:rPr lang="zh-CN" altLang="en-US" dirty="0"/>
              <a:t> 提供了多种安全访问方法：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4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8E6D-19AE-325B-527E-EBEADB61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🏗️ 处理复杂数据结构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BB27-C3EC-4FDA-E4C2-878428EA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JSON</a:t>
            </a:r>
            <a:r>
              <a:rPr lang="zh-CN" altLang="en-US" dirty="0"/>
              <a:t>的强大之处在于它能够表示复杂的嵌套数据结构：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93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A4D7-0E17-BB23-AD6E-31EA6252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🔗 深层嵌套访问与数据保存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F3C0-D3EA-A2E3-75EC-BF760FE3F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2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6677-5FF5-93FD-CC67-A42C6F7A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🔑 关键特性解析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D872-8DFC-FFB8-51E8-4EC757AA0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1. </a:t>
            </a:r>
            <a:r>
              <a:rPr lang="en-US" b="1" dirty="0" err="1"/>
              <a:t>nlohmann</a:t>
            </a:r>
            <a:r>
              <a:rPr lang="en-US" b="1" dirty="0"/>
              <a:t>::</a:t>
            </a:r>
            <a:r>
              <a:rPr lang="en-US" b="1" dirty="0" err="1"/>
              <a:t>ordered_json</a:t>
            </a:r>
            <a:r>
              <a:rPr lang="en-US" b="1" dirty="0"/>
              <a:t> vs </a:t>
            </a:r>
            <a:r>
              <a:rPr lang="en-US" b="1" dirty="0" err="1"/>
              <a:t>nlohmann</a:t>
            </a:r>
            <a:r>
              <a:rPr lang="en-US" b="1" dirty="0"/>
              <a:t>::</a:t>
            </a:r>
            <a:r>
              <a:rPr lang="en-US" b="1" dirty="0" err="1"/>
              <a:t>json</a:t>
            </a:r>
            <a:endParaRPr lang="en-US" b="1" dirty="0"/>
          </a:p>
          <a:p>
            <a:r>
              <a:rPr lang="en-US" dirty="0"/>
              <a:t>📑 </a:t>
            </a:r>
            <a:r>
              <a:rPr lang="en-US" b="1" dirty="0" err="1"/>
              <a:t>ordered_json</a:t>
            </a:r>
            <a:r>
              <a:rPr lang="en-US" dirty="0"/>
              <a:t> - </a:t>
            </a:r>
            <a:r>
              <a:rPr lang="zh-CN" altLang="en-US" dirty="0"/>
              <a:t>保持键的插入顺序，适合需要固定顺序的场景</a:t>
            </a:r>
          </a:p>
          <a:p>
            <a:r>
              <a:rPr lang="zh-CN" altLang="en-US" dirty="0"/>
              <a:t>⚡ </a:t>
            </a:r>
            <a:r>
              <a:rPr lang="en-US" b="1" dirty="0" err="1"/>
              <a:t>json</a:t>
            </a:r>
            <a:r>
              <a:rPr lang="en-US" dirty="0"/>
              <a:t> - </a:t>
            </a:r>
            <a:r>
              <a:rPr lang="zh-CN" altLang="en-US" dirty="0"/>
              <a:t>性能更高，但不保证键的顺序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类型检查方法</a:t>
            </a:r>
          </a:p>
          <a:p>
            <a:r>
              <a:rPr lang="zh-CN" altLang="en-US" dirty="0"/>
              <a:t>提供了丰富的类型检查函数：</a:t>
            </a:r>
            <a:r>
              <a:rPr lang="en-US" altLang="zh-CN" dirty="0"/>
              <a:t>.</a:t>
            </a:r>
            <a:r>
              <a:rPr lang="en-US" dirty="0" err="1"/>
              <a:t>is_null</a:t>
            </a:r>
            <a:r>
              <a:rPr lang="en-US" dirty="0"/>
              <a:t>(), .</a:t>
            </a:r>
            <a:r>
              <a:rPr lang="en-US" dirty="0" err="1"/>
              <a:t>is_string</a:t>
            </a:r>
            <a:r>
              <a:rPr lang="en-US" dirty="0"/>
              <a:t>(), .</a:t>
            </a:r>
            <a:r>
              <a:rPr lang="en-US" dirty="0" err="1"/>
              <a:t>is_number_integer</a:t>
            </a:r>
            <a:r>
              <a:rPr lang="en-US" dirty="0"/>
              <a:t>(), .</a:t>
            </a:r>
            <a:r>
              <a:rPr lang="en-US" dirty="0" err="1"/>
              <a:t>is_number_float</a:t>
            </a:r>
            <a:r>
              <a:rPr lang="en-US" dirty="0"/>
              <a:t>(), .</a:t>
            </a:r>
            <a:r>
              <a:rPr lang="en-US" dirty="0" err="1"/>
              <a:t>is_boolean</a:t>
            </a:r>
            <a:r>
              <a:rPr lang="en-US" dirty="0"/>
              <a:t>(), .</a:t>
            </a:r>
            <a:r>
              <a:rPr lang="en-US" dirty="0" err="1"/>
              <a:t>is_array</a:t>
            </a:r>
            <a:r>
              <a:rPr lang="en-US" dirty="0"/>
              <a:t>(), .</a:t>
            </a:r>
            <a:r>
              <a:rPr lang="en-US" dirty="0" err="1"/>
              <a:t>is_object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22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5C6C-6FA5-21D6-EA39-7701CC04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D11C-58C9-FF36-6217-AF9EB2B38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错误处理</a:t>
            </a:r>
          </a:p>
          <a:p>
            <a:r>
              <a:rPr lang="zh-CN" altLang="en-US" dirty="0"/>
              <a:t>🛡️ 使用 </a:t>
            </a:r>
            <a:r>
              <a:rPr lang="en-US" altLang="zh-CN" dirty="0"/>
              <a:t>try-catch</a:t>
            </a:r>
            <a:r>
              <a:rPr lang="zh-CN" altLang="en-US" dirty="0"/>
              <a:t> 包裹</a:t>
            </a:r>
            <a:r>
              <a:rPr lang="en-US" altLang="zh-CN" dirty="0"/>
              <a:t>JSON</a:t>
            </a:r>
            <a:r>
              <a:rPr lang="zh-CN" altLang="en-US" dirty="0"/>
              <a:t>操作，捕获解析错误和类型转换错误</a:t>
            </a:r>
          </a:p>
          <a:p>
            <a:r>
              <a:rPr lang="zh-CN" altLang="en-US" dirty="0"/>
              <a:t>⚠️ 在生产环境中，应该对所有</a:t>
            </a:r>
            <a:r>
              <a:rPr lang="en-US" altLang="zh-CN" dirty="0"/>
              <a:t>JSON</a:t>
            </a:r>
            <a:r>
              <a:rPr lang="zh-CN" altLang="en-US" dirty="0"/>
              <a:t>操作进行适当的错误处理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9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F132-45C8-85FD-353F-0888149D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🎮 在游戏开发中的应用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BD0C-5DAB-902A-F6C0-C9DE10A7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763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项目中，我们将广泛使用</a:t>
            </a:r>
            <a:r>
              <a:rPr lang="en-US" altLang="zh-CN" dirty="0"/>
              <a:t>JSON</a:t>
            </a:r>
            <a:r>
              <a:rPr lang="zh-CN" altLang="en-US" dirty="0"/>
              <a:t>来处理：</a:t>
            </a:r>
          </a:p>
          <a:p>
            <a:r>
              <a:rPr lang="zh-CN" altLang="en-US" dirty="0"/>
              <a:t>⚙️ </a:t>
            </a:r>
            <a:r>
              <a:rPr lang="zh-CN" altLang="en-US" b="1" dirty="0"/>
              <a:t>游戏配置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窗口大小、音效音量、控制键设置等</a:t>
            </a:r>
          </a:p>
          <a:p>
            <a:r>
              <a:rPr lang="zh-CN" altLang="en-US" dirty="0"/>
              <a:t>🗺️ </a:t>
            </a:r>
            <a:r>
              <a:rPr lang="zh-CN" altLang="en-US" b="1" dirty="0"/>
              <a:t>关卡数据</a:t>
            </a:r>
            <a:r>
              <a:rPr lang="zh-CN" altLang="en-US" dirty="0"/>
              <a:t> </a:t>
            </a:r>
            <a:r>
              <a:rPr lang="en-US" altLang="zh-CN" dirty="0"/>
              <a:t>- Tiled</a:t>
            </a:r>
            <a:r>
              <a:rPr lang="zh-CN" altLang="en-US" dirty="0"/>
              <a:t>地图编辑器导出的关卡文件</a:t>
            </a:r>
          </a:p>
          <a:p>
            <a:r>
              <a:rPr lang="zh-CN" altLang="en-US" dirty="0"/>
              <a:t>💾 </a:t>
            </a:r>
            <a:r>
              <a:rPr lang="zh-CN" altLang="en-US" b="1" dirty="0"/>
              <a:t>游戏存档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玩家进度、分数记录、解锁状态等</a:t>
            </a:r>
          </a:p>
          <a:p>
            <a:r>
              <a:rPr lang="zh-CN" altLang="en-US" dirty="0"/>
              <a:t>👾 </a:t>
            </a:r>
            <a:r>
              <a:rPr lang="zh-CN" altLang="en-US" b="1" dirty="0"/>
              <a:t>游戏对象属性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敌人血量、移动速度、攻击力等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400" dirty="0"/>
              <a:t>通过结合 </a:t>
            </a:r>
            <a:r>
              <a:rPr lang="en-US" altLang="zh-CN" sz="2400" dirty="0" err="1"/>
              <a:t>spdlog</a:t>
            </a:r>
            <a:r>
              <a:rPr lang="zh-CN" altLang="en-US" sz="2400" dirty="0"/>
              <a:t> 的日志功能和 </a:t>
            </a:r>
            <a:r>
              <a:rPr lang="en-US" altLang="zh-CN" sz="2400" dirty="0" err="1"/>
              <a:t>nlohmann</a:t>
            </a:r>
            <a:r>
              <a:rPr lang="en-US" altLang="zh-CN" sz="2400" dirty="0"/>
              <a:t>/</a:t>
            </a:r>
            <a:r>
              <a:rPr lang="en-US" altLang="zh-CN" sz="2400" dirty="0" err="1"/>
              <a:t>json</a:t>
            </a:r>
            <a:r>
              <a:rPr lang="zh-CN" altLang="en-US" sz="2400" dirty="0"/>
              <a:t> 的数据处理能力，我们就拥有了构建复杂游戏系统所需的两个重要工具。在接下来的课程中，你将看到它们如何与我们的游戏引擎无缝集成，为</a:t>
            </a:r>
            <a:r>
              <a:rPr lang="en-US" altLang="zh-CN" sz="2400" dirty="0"/>
              <a:t>"</a:t>
            </a:r>
            <a:r>
              <a:rPr lang="zh-CN" altLang="en-US" sz="2400" dirty="0"/>
              <a:t>阳光岛</a:t>
            </a:r>
            <a:r>
              <a:rPr lang="en-US" altLang="zh-CN" sz="2400" dirty="0"/>
              <a:t>"</a:t>
            </a:r>
            <a:r>
              <a:rPr lang="zh-CN" altLang="en-US" sz="2400" dirty="0"/>
              <a:t>的开发提供强大的支撑。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674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1602-3389-CA63-41AE-524FC8F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📋 </a:t>
            </a:r>
            <a:r>
              <a:rPr lang="zh-CN" altLang="en-US" b="1" dirty="0"/>
              <a:t>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01882-5FBA-4BE9-B61D-A7F457495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本节课我们学习了两个现代</a:t>
            </a:r>
            <a:r>
              <a:rPr lang="en-US" altLang="zh-CN" dirty="0"/>
              <a:t>C++</a:t>
            </a:r>
            <a:r>
              <a:rPr lang="zh-CN" altLang="en-US" dirty="0"/>
              <a:t>开发中的重要工具：</a:t>
            </a:r>
          </a:p>
          <a:p>
            <a:r>
              <a:rPr lang="zh-CN" altLang="en-US" dirty="0"/>
              <a:t>✅ </a:t>
            </a:r>
            <a:r>
              <a:rPr lang="en-US" altLang="zh-CN" b="1" dirty="0" err="1"/>
              <a:t>spdlog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为我们提供专业的日志输出功能，让调试和信息跟踪变得简单高效</a:t>
            </a:r>
          </a:p>
          <a:p>
            <a:r>
              <a:rPr lang="zh-CN" altLang="en-US" dirty="0"/>
              <a:t>✅ </a:t>
            </a:r>
            <a:r>
              <a:rPr lang="en-US" altLang="zh-CN" b="1" dirty="0" err="1"/>
              <a:t>nlohmann</a:t>
            </a:r>
            <a:r>
              <a:rPr lang="en-US" altLang="zh-CN" b="1" dirty="0"/>
              <a:t>/</a:t>
            </a:r>
            <a:r>
              <a:rPr lang="en-US" altLang="zh-CN" b="1" dirty="0" err="1"/>
              <a:t>json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让</a:t>
            </a:r>
            <a:r>
              <a:rPr lang="en-US" altLang="zh-CN" dirty="0"/>
              <a:t>JSON</a:t>
            </a:r>
            <a:r>
              <a:rPr lang="zh-CN" altLang="en-US" dirty="0"/>
              <a:t>数据的读取、处理和保存变得直观易用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4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983</Words>
  <Application>Microsoft Office PowerPoint</Application>
  <PresentationFormat>Widescreen</PresentationFormat>
  <Paragraphs>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spdlog与json基础</vt:lpstr>
      <vt:lpstr>📖 概述</vt:lpstr>
      <vt:lpstr>🤔 为什么需要这些工具？</vt:lpstr>
      <vt:lpstr>📝 1. spdlog：专业且高效的日志库</vt:lpstr>
      <vt:lpstr>💻 基础用法</vt:lpstr>
      <vt:lpstr>🎯 核心概念</vt:lpstr>
      <vt:lpstr>PowerPoint Presentation</vt:lpstr>
      <vt:lpstr>📦 2. nlohmann/json：现代C++的JSON处理利器</vt:lpstr>
      <vt:lpstr>🎯 核心概念</vt:lpstr>
      <vt:lpstr>💻 基础用法示例</vt:lpstr>
      <vt:lpstr>🛡️ 安全访问策略</vt:lpstr>
      <vt:lpstr>🏗️ 处理复杂数据结构</vt:lpstr>
      <vt:lpstr>🔗 深层嵌套访问与数据保存</vt:lpstr>
      <vt:lpstr>🔑 关键特性解析</vt:lpstr>
      <vt:lpstr>PowerPoint Presentation</vt:lpstr>
      <vt:lpstr>🎮 在游戏开发中的应用</vt:lpstr>
      <vt:lpstr>📋 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2025-10-29T12:09:57Z</dcterms:created>
  <dcterms:modified xsi:type="dcterms:W3CDTF">2025-10-29T12:22:01Z</dcterms:modified>
</cp:coreProperties>
</file>