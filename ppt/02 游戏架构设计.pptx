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40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D86EA-5C42-FB4D-A677-1819E79926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1A6900-CAEF-61C6-F521-411D29CF13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9D0BC-5C73-82BC-5EF1-C50D462B1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10BEC-08FA-4D0B-8E7B-539B81A80608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878AC-DE70-5312-6BDA-20D752D0A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F2814-4C2F-2CE0-28D4-4EFA9E2F5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65F58-83A1-40DB-8A12-438B07E77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303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AD696-C3FF-0C4A-FA8E-4E715300F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3B632-065E-BB79-F09D-184109657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D42FD-ACBA-EF23-6AFF-1639F4FB8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10BEC-08FA-4D0B-8E7B-539B81A80608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D0BDB-6627-BDBA-C26A-C24454882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FFFC4-1159-BB09-BDD4-4B2C2E741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65F58-83A1-40DB-8A12-438B07E77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72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9546C-7664-1327-1EEA-959D129B9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2C3F-5064-1B05-C822-3984CBDEE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F42AF-27BC-266D-0797-9B06CDCB9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10BEC-08FA-4D0B-8E7B-539B81A80608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232D5-4124-44E2-AC22-5A649FFD8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F44EF-8FF4-88EC-B585-E2E0B0237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65F58-83A1-40DB-8A12-438B07E77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297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0789E-8B8B-46ED-A2CE-82E1069B8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BA113-9160-984F-7A28-7EAE214134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B93F33-68C5-2F00-2D8C-145BFA6D9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7377B5-0EB3-EBB7-1DDA-BA6608A37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10BEC-08FA-4D0B-8E7B-539B81A80608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962F7-0DBF-AC0E-9281-033B41D62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49E4C7-05BF-330E-19D2-C59ADEC28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65F58-83A1-40DB-8A12-438B07E77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15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7932A-F6E8-C667-05CA-185A60282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13B928-C058-619C-8459-785C00512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416A14-8C20-A9F7-539C-C01904E0B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DBD34D-D0B5-981A-72AA-DC8D0ECFBB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55FEEA-9479-2E10-41BD-785DEA7907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3E55E9-9882-7E04-D315-780E7D396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10BEC-08FA-4D0B-8E7B-539B81A80608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B17FE7-7080-EBC9-DC48-E07E575A0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A82DD-E8C4-8165-7021-2C98E86EF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65F58-83A1-40DB-8A12-438B07E77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323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E69E8-87C6-1860-314A-951832879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C4F82C-5FF2-5699-6E27-3FFEF9893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10BEC-08FA-4D0B-8E7B-539B81A80608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559EA-7902-1D73-0CBE-C21573176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54961E-4D6D-82EE-7FE4-77F570E85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65F58-83A1-40DB-8A12-438B07E77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300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D6EF19-7700-8951-8E15-1D63CD7D2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10BEC-08FA-4D0B-8E7B-539B81A80608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59EA9A-6F82-BA70-C542-5EE4BD86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4A7C05-4B92-B8A9-0A7F-7654E2741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65F58-83A1-40DB-8A12-438B07E77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906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EE8C1-5B5D-FEA9-4A72-315042319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7641F-42F0-0FB2-35F4-282040F0A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920B56-19DD-6B8A-4E66-E00981F51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0475B-B0AB-E5A9-5368-FDBEA0857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10BEC-08FA-4D0B-8E7B-539B81A80608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09169E-FC9D-9CCF-650F-6174C8F72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2D259F-59A6-AF5B-0C77-4BBD68F70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65F58-83A1-40DB-8A12-438B07E77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366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300FF-DA09-6844-8BF1-540E07B80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539701-CE52-0F8E-331F-758E9C2914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61BF6F-D63F-6BC7-AB06-8A2F424C70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7B1643-7CCC-D985-AABE-4A2D4D8FE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10BEC-08FA-4D0B-8E7B-539B81A80608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737D8-63D5-585C-E2C2-FE449AE48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CE08B8-682C-4C15-2055-79DF74C4C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65F58-83A1-40DB-8A12-438B07E77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522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5C2DF-301B-85AE-610A-258BBFD6D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4F5C51-E512-696E-5806-A72F8201C1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0A8A0-648A-00CD-0F58-439004BBA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10BEC-08FA-4D0B-8E7B-539B81A80608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E78BD-6BE5-E53A-8E1F-1ABA876C5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4A804-B516-619F-9C89-AF9DC0A7C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65F58-83A1-40DB-8A12-438B07E77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835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583606-51AA-A1B2-DAF7-1CE3FC8D29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B41E08-5AD6-8B30-0A86-CA4FB4C419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03523-7819-2D6E-8430-8559C1649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10BEC-08FA-4D0B-8E7B-539B81A80608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C8CFD-6172-F957-5310-242CAEE0B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8968E-60D7-7BC1-AED1-AABFF20C0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65F58-83A1-40DB-8A12-438B07E77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092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4EB57B-8D65-7E73-CCBD-1122B1969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9C3A16-2EB7-4EB5-EF83-120A92E28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CCED4-177E-D1EB-CC48-0B90BFB9A4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210BEC-08FA-4D0B-8E7B-539B81A80608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776AE-8DF8-00CE-F2C1-D7AE44C647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D62D6-3EF4-BAD5-2FD0-D2B39B8755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465F58-83A1-40DB-8A12-438B07E77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403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338A5-61EF-12F9-2BC9-0450F02A12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游戏架构设计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BD9031-FE7F-0D62-055C-8C7BCB3336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997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4B3C4-79FF-399C-176E-381F4856D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📖 概述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5B467-42A0-35D2-B66D-CA50BF3FB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万丈高楼平地起，一个优秀、稳固的架构是大型项目成功的基石。在前两节课中，我们已经备齐了所需的</a:t>
            </a:r>
            <a:r>
              <a:rPr lang="en-US" altLang="zh-CN" dirty="0"/>
              <a:t>"</a:t>
            </a:r>
            <a:r>
              <a:rPr lang="zh-CN" altLang="en-US" dirty="0"/>
              <a:t>建筑材料</a:t>
            </a:r>
            <a:r>
              <a:rPr lang="en-US" altLang="zh-CN" dirty="0"/>
              <a:t>"——</a:t>
            </a:r>
            <a:r>
              <a:rPr lang="zh-CN" altLang="en-US" dirty="0"/>
              <a:t>开发环境和基础库。从今天开始，我们将正式绘制</a:t>
            </a:r>
            <a:r>
              <a:rPr lang="en-US" altLang="zh-CN" dirty="0"/>
              <a:t>"</a:t>
            </a:r>
            <a:r>
              <a:rPr lang="zh-CN" altLang="en-US" dirty="0"/>
              <a:t>阳光岛</a:t>
            </a:r>
            <a:r>
              <a:rPr lang="en-US" altLang="zh-CN" dirty="0"/>
              <a:t>"</a:t>
            </a:r>
            <a:r>
              <a:rPr lang="zh-CN" altLang="en-US" dirty="0"/>
              <a:t>这座大厦的蓝图。</a:t>
            </a:r>
          </a:p>
          <a:p>
            <a:r>
              <a:rPr lang="zh-CN" altLang="en-US" dirty="0"/>
              <a:t>与前两期教程不同，这次我们不再是简单地堆砌功能，而是要从顶层设计出发，构建一个</a:t>
            </a:r>
            <a:r>
              <a:rPr lang="zh-CN" altLang="en-US" b="1" dirty="0"/>
              <a:t>清晰、可扩展、可维护</a:t>
            </a:r>
            <a:r>
              <a:rPr lang="zh-CN" altLang="en-US" dirty="0"/>
              <a:t>的游戏引擎。本节课不涉及太多代码实现，但其中阐述的思想和原则将贯穿我们整个开发过程，至关重要。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374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19DC4-D647-9ADE-C02C-690CEAB0F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🧩 核心设计原则：组合优于继承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16ECE-8BA9-E569-E345-99A3843B3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/>
              <a:t>🤔 继承的问题</a:t>
            </a:r>
          </a:p>
          <a:p>
            <a:r>
              <a:rPr lang="zh-CN" altLang="en-US" dirty="0"/>
              <a:t>在面向对象编程中，我们常常通过</a:t>
            </a:r>
            <a:r>
              <a:rPr lang="en-US" altLang="zh-CN" dirty="0"/>
              <a:t>"</a:t>
            </a:r>
            <a:r>
              <a:rPr lang="zh-CN" altLang="en-US" dirty="0"/>
              <a:t>继承</a:t>
            </a:r>
            <a:r>
              <a:rPr lang="en-US" altLang="zh-CN" dirty="0"/>
              <a:t>"</a:t>
            </a:r>
            <a:r>
              <a:rPr lang="zh-CN" altLang="en-US" dirty="0"/>
              <a:t>来复用代码和扩展功能。例如，一个 </a:t>
            </a:r>
            <a:r>
              <a:rPr lang="en-US" altLang="zh-CN" dirty="0"/>
              <a:t>Player</a:t>
            </a:r>
            <a:r>
              <a:rPr lang="zh-CN" altLang="en-US" dirty="0"/>
              <a:t> 类继承自 </a:t>
            </a:r>
            <a:r>
              <a:rPr lang="en-US" altLang="zh-CN" dirty="0"/>
              <a:t>Character</a:t>
            </a:r>
            <a:r>
              <a:rPr lang="zh-CN" altLang="en-US" dirty="0"/>
              <a:t> 类，一个 </a:t>
            </a:r>
            <a:r>
              <a:rPr lang="en-US" altLang="zh-CN" dirty="0"/>
              <a:t>Enemy</a:t>
            </a:r>
            <a:r>
              <a:rPr lang="zh-CN" altLang="en-US" dirty="0"/>
              <a:t> 类也继承自 </a:t>
            </a:r>
            <a:r>
              <a:rPr lang="en-US" altLang="zh-CN" dirty="0"/>
              <a:t>Character</a:t>
            </a:r>
            <a:r>
              <a:rPr lang="zh-CN" altLang="en-US" dirty="0"/>
              <a:t> 类。然而，当游戏变得复杂时，深度的继承关系网会迅速变得混乱不堪，导致</a:t>
            </a:r>
            <a:r>
              <a:rPr lang="en-US" altLang="zh-CN" dirty="0"/>
              <a:t>"</a:t>
            </a:r>
            <a:r>
              <a:rPr lang="zh-CN" altLang="en-US" dirty="0"/>
              <a:t>菱形继承</a:t>
            </a:r>
            <a:r>
              <a:rPr lang="en-US" altLang="zh-CN" dirty="0"/>
              <a:t>"</a:t>
            </a:r>
            <a:r>
              <a:rPr lang="zh-CN" altLang="en-US" dirty="0"/>
              <a:t>等问题，代码也会变得僵硬、难以修改。</a:t>
            </a:r>
          </a:p>
          <a:p>
            <a:r>
              <a:rPr lang="zh-CN" altLang="en-US" dirty="0"/>
              <a:t>因此，在</a:t>
            </a:r>
            <a:r>
              <a:rPr lang="en-US" altLang="zh-CN" dirty="0"/>
              <a:t>"</a:t>
            </a:r>
            <a:r>
              <a:rPr lang="zh-CN" altLang="en-US" dirty="0"/>
              <a:t>阳光岛</a:t>
            </a:r>
            <a:r>
              <a:rPr lang="en-US" altLang="zh-CN" dirty="0"/>
              <a:t>"</a:t>
            </a:r>
            <a:r>
              <a:rPr lang="zh-CN" altLang="en-US" dirty="0"/>
              <a:t>项目中，我们将遵循一个更现代、更灵活的设计原则</a:t>
            </a:r>
            <a:r>
              <a:rPr lang="en-US" altLang="zh-CN" dirty="0"/>
              <a:t>——</a:t>
            </a:r>
            <a:r>
              <a:rPr lang="zh-CN" altLang="en-US" b="1" dirty="0"/>
              <a:t>组合优于继承 </a:t>
            </a:r>
            <a:r>
              <a:rPr lang="en-US" altLang="zh-CN" b="1" dirty="0"/>
              <a:t>(Composition over Inheritance)</a:t>
            </a:r>
            <a:r>
              <a:rPr lang="zh-CN" altLang="en-US" dirty="0"/>
              <a:t>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689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92B15-9C87-7D3C-6AC1-724D7B2CA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🎯 组件化设计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6D8D5-3310-B26D-4A39-79B0DEE86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8225"/>
            <a:ext cx="10515600" cy="53617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我们将引入</a:t>
            </a:r>
            <a:r>
              <a:rPr lang="zh-CN" altLang="en-US" b="1" dirty="0"/>
              <a:t>组件化设计 </a:t>
            </a:r>
            <a:r>
              <a:rPr lang="en-US" altLang="zh-CN" b="1" dirty="0"/>
              <a:t>(Component-based Design)</a:t>
            </a:r>
            <a:r>
              <a:rPr lang="zh-CN" altLang="en-US" dirty="0"/>
              <a:t> 的思想。在这种模式下：</a:t>
            </a:r>
          </a:p>
          <a:p>
            <a:r>
              <a:rPr lang="zh-CN" altLang="en-US" dirty="0"/>
              <a:t>📦 </a:t>
            </a:r>
            <a:r>
              <a:rPr lang="zh-CN" altLang="en-US" b="1" dirty="0"/>
              <a:t>游戏对象 </a:t>
            </a:r>
            <a:r>
              <a:rPr lang="en-US" altLang="zh-CN" b="1" dirty="0"/>
              <a:t>(</a:t>
            </a:r>
            <a:r>
              <a:rPr lang="en-US" altLang="zh-CN" b="1" dirty="0" err="1"/>
              <a:t>GameObject</a:t>
            </a:r>
            <a:r>
              <a:rPr lang="en-US" altLang="zh-CN" b="1" dirty="0"/>
              <a:t>)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本身只是一个空壳，一个容器。它不包含任何具体的游戏逻辑</a:t>
            </a:r>
          </a:p>
          <a:p>
            <a:r>
              <a:rPr lang="zh-CN" altLang="en-US" dirty="0"/>
              <a:t>🔧 </a:t>
            </a:r>
            <a:r>
              <a:rPr lang="zh-CN" altLang="en-US" b="1" dirty="0"/>
              <a:t>组件 </a:t>
            </a:r>
            <a:r>
              <a:rPr lang="en-US" altLang="zh-CN" b="1" dirty="0"/>
              <a:t>(Component)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是负责单一功能的、可复用的模块。例如：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zh-CN" dirty="0" err="1"/>
              <a:t>TransformComponent</a:t>
            </a:r>
            <a:r>
              <a:rPr lang="zh-CN" altLang="en-US" dirty="0"/>
              <a:t> 负责位置、旋转和缩放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zh-CN" dirty="0" err="1"/>
              <a:t>SpriteComponent</a:t>
            </a:r>
            <a:r>
              <a:rPr lang="zh-CN" altLang="en-US" dirty="0"/>
              <a:t> 负责渲染精灵图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zh-CN" dirty="0" err="1"/>
              <a:t>PhysicsComponent</a:t>
            </a:r>
            <a:r>
              <a:rPr lang="zh-CN" altLang="en-US" dirty="0"/>
              <a:t> 负责物理行为</a:t>
            </a:r>
          </a:p>
          <a:p>
            <a:pPr marL="0" indent="0">
              <a:buNone/>
            </a:pPr>
            <a:r>
              <a:rPr lang="zh-CN" altLang="en-US" dirty="0"/>
              <a:t>一个游戏对象（比如玩家）的功能，不再是通过继承一个庞大的 </a:t>
            </a:r>
            <a:r>
              <a:rPr lang="en-US" altLang="zh-CN" dirty="0"/>
              <a:t>Player</a:t>
            </a:r>
            <a:r>
              <a:rPr lang="zh-CN" altLang="en-US" dirty="0"/>
              <a:t> 基类来实现，而是通过向一个空的 </a:t>
            </a:r>
            <a:r>
              <a:rPr lang="en-US" altLang="zh-CN" dirty="0" err="1"/>
              <a:t>GameObject</a:t>
            </a:r>
            <a:r>
              <a:rPr lang="zh-CN" altLang="en-US" dirty="0"/>
              <a:t> 中添加（组合）不同的组件来动态定义。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990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92500-EF17-EAB1-5BF6-9E1A8A51F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374D33-9913-6DB0-6496-C6CC0D10F0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9736" y="365125"/>
            <a:ext cx="9192528" cy="5156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470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830E6-5294-DBDE-F101-DF9DA4DF9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✨ 设计优势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75486-07E4-CBED-F933-B6B3BD756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这种设计的优势显而易见：</a:t>
            </a:r>
          </a:p>
          <a:p>
            <a:r>
              <a:rPr lang="zh-CN" altLang="en-US" dirty="0"/>
              <a:t>📐 </a:t>
            </a:r>
            <a:r>
              <a:rPr lang="zh-CN" altLang="en-US" b="1" dirty="0"/>
              <a:t>扁平化的继承链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继承层次非常浅（通常最多一次），避免了复杂继承带来的问题</a:t>
            </a:r>
          </a:p>
          <a:p>
            <a:r>
              <a:rPr lang="zh-CN" altLang="en-US" dirty="0"/>
              <a:t>🔄 </a:t>
            </a:r>
            <a:r>
              <a:rPr lang="zh-CN" altLang="en-US" b="1" dirty="0"/>
              <a:t>高度灵活性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想让一个静态的石头拥有物理效果？给它添加一个 </a:t>
            </a:r>
            <a:r>
              <a:rPr lang="en-US" altLang="zh-CN" dirty="0" err="1"/>
              <a:t>PhysicsComponent</a:t>
            </a:r>
            <a:r>
              <a:rPr lang="zh-CN" altLang="en-US" dirty="0"/>
              <a:t> 即可，无需修改石头类的代码。想让敌人能播放动画？给它添加一个 </a:t>
            </a:r>
            <a:r>
              <a:rPr lang="en-US" altLang="zh-CN" dirty="0" err="1"/>
              <a:t>AnimationComponent</a:t>
            </a:r>
            <a:endParaRPr lang="zh-CN" altLang="en-US" dirty="0"/>
          </a:p>
          <a:p>
            <a:r>
              <a:rPr lang="zh-CN" altLang="en-US" dirty="0"/>
              <a:t>♻️ </a:t>
            </a:r>
            <a:r>
              <a:rPr lang="zh-CN" altLang="en-US" b="1" dirty="0"/>
              <a:t>高复用性</a:t>
            </a:r>
            <a:r>
              <a:rPr lang="zh-CN" altLang="en-US" dirty="0"/>
              <a:t> </a:t>
            </a:r>
            <a:r>
              <a:rPr lang="en-US" altLang="zh-CN" dirty="0"/>
              <a:t>- </a:t>
            </a:r>
            <a:r>
              <a:rPr lang="en-US" altLang="zh-CN" dirty="0" err="1"/>
              <a:t>PhysicsComponent</a:t>
            </a:r>
            <a:r>
              <a:rPr lang="zh-CN" altLang="en-US" dirty="0"/>
              <a:t> 可以给玩家用，也可以给敌人、移动平台、掉落的道具用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316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0D01C-8731-D6FE-93D8-2FFFB1703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🏛️ 宏观蓝图：游戏分层架构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D95A8-103A-24E2-74A3-E6103AE70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为了让引擎和游戏逻辑解耦，我们将整个项目划分为</a:t>
            </a:r>
            <a:r>
              <a:rPr lang="zh-CN" altLang="en-US" b="1" dirty="0"/>
              <a:t>四个层次</a:t>
            </a:r>
            <a:r>
              <a:rPr lang="zh-CN" altLang="en-US" dirty="0"/>
              <a:t>。这种分层结构确保了每一层只关注自己的职责，使得代码库更加清晰和模块化。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485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83AC-2804-809C-8D58-8C662174E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4AF2C1-6E66-02F7-A273-4416665AE4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681644"/>
            <a:ext cx="9031332" cy="511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244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F2CDE-30F3-D366-2A54-06D2579BB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📚 四个层次详解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A8D19-AF91-D316-A990-9ACC5EB72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3200" b="1" dirty="0"/>
              <a:t>1️⃣ </a:t>
            </a:r>
            <a:r>
              <a:rPr lang="zh-CN" altLang="en-US" sz="3200" b="1" dirty="0"/>
              <a:t>平台抽象层 </a:t>
            </a:r>
            <a:r>
              <a:rPr lang="en-US" altLang="zh-CN" sz="3200" b="1" dirty="0"/>
              <a:t>(Platform Abstraction Layer)</a:t>
            </a:r>
          </a:p>
          <a:p>
            <a:r>
              <a:rPr lang="zh-CN" altLang="en-US" dirty="0"/>
              <a:t>📦 </a:t>
            </a:r>
            <a:r>
              <a:rPr lang="zh-CN" altLang="en-US" b="1" dirty="0"/>
              <a:t>内容</a:t>
            </a:r>
            <a:r>
              <a:rPr lang="zh-CN" altLang="en-US" dirty="0"/>
              <a:t> </a:t>
            </a:r>
            <a:r>
              <a:rPr lang="en-US" altLang="zh-CN" dirty="0"/>
              <a:t>- SDL3</a:t>
            </a:r>
            <a:r>
              <a:rPr lang="zh-CN" altLang="en-US" dirty="0"/>
              <a:t>、</a:t>
            </a:r>
            <a:r>
              <a:rPr lang="en-US" altLang="zh-CN" dirty="0" err="1"/>
              <a:t>SDL_image</a:t>
            </a:r>
            <a:r>
              <a:rPr lang="zh-CN" altLang="en-US" dirty="0"/>
              <a:t>、</a:t>
            </a:r>
            <a:r>
              <a:rPr lang="en-US" altLang="zh-CN" dirty="0" err="1"/>
              <a:t>SDL_mixer</a:t>
            </a:r>
            <a:r>
              <a:rPr lang="zh-CN" altLang="en-US" dirty="0"/>
              <a:t>等第三方底层库</a:t>
            </a:r>
          </a:p>
          <a:p>
            <a:r>
              <a:rPr lang="zh-CN" altLang="en-US" dirty="0"/>
              <a:t>🎯 </a:t>
            </a:r>
            <a:r>
              <a:rPr lang="zh-CN" altLang="en-US" b="1" dirty="0"/>
              <a:t>职责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提供与操作系统交互的基础能力，如窗口创建、图形渲染、音频播放、输入处理等</a:t>
            </a:r>
          </a:p>
          <a:p>
            <a:r>
              <a:rPr lang="zh-CN" altLang="en-US" dirty="0"/>
              <a:t>🔧 </a:t>
            </a:r>
            <a:r>
              <a:rPr lang="zh-CN" altLang="en-US" b="1" dirty="0"/>
              <a:t>我们的工作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我们不修改这一层，而是直接使用它提供的接口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57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A0930-D16F-1737-B466-F074707C2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7A9EC-CFF8-4049-9FC4-AF04D0E03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3200" b="1" dirty="0"/>
              <a:t>2️⃣ </a:t>
            </a:r>
            <a:r>
              <a:rPr lang="zh-CN" altLang="en-US" sz="3200" b="1" dirty="0"/>
              <a:t>引擎核心层 </a:t>
            </a:r>
            <a:r>
              <a:rPr lang="en-US" altLang="zh-CN" sz="3200" b="1" dirty="0"/>
              <a:t>(Engine Core Layer)</a:t>
            </a:r>
          </a:p>
          <a:p>
            <a:r>
              <a:rPr lang="zh-CN" altLang="en-US" dirty="0"/>
              <a:t>📦 </a:t>
            </a:r>
            <a:r>
              <a:rPr lang="zh-CN" altLang="en-US" b="1" dirty="0"/>
              <a:t>内容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场景管理、渲染模块、物理引擎、资源管理、</a:t>
            </a:r>
            <a:r>
              <a:rPr lang="en-US" altLang="zh-CN" dirty="0"/>
              <a:t>UI</a:t>
            </a:r>
            <a:r>
              <a:rPr lang="zh-CN" altLang="en-US" dirty="0"/>
              <a:t>管理、游戏对象</a:t>
            </a:r>
            <a:r>
              <a:rPr lang="en-US" altLang="zh-CN" dirty="0"/>
              <a:t>/</a:t>
            </a:r>
            <a:r>
              <a:rPr lang="zh-CN" altLang="en-US" dirty="0"/>
              <a:t>组件基类等</a:t>
            </a:r>
          </a:p>
          <a:p>
            <a:r>
              <a:rPr lang="zh-CN" altLang="en-US" dirty="0"/>
              <a:t>🎯 </a:t>
            </a:r>
            <a:r>
              <a:rPr lang="zh-CN" altLang="en-US" b="1" dirty="0"/>
              <a:t>职责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基于平台抽象层，封装出通用的、与具体游戏玩法无关的功能模块。这一层就像一个装满乐高积木的</a:t>
            </a:r>
            <a:r>
              <a:rPr lang="en-US" altLang="zh-CN" dirty="0"/>
              <a:t>"</a:t>
            </a:r>
            <a:r>
              <a:rPr lang="zh-CN" altLang="en-US" dirty="0"/>
              <a:t>工具箱</a:t>
            </a:r>
            <a:r>
              <a:rPr lang="en-US" altLang="zh-CN" dirty="0"/>
              <a:t>"</a:t>
            </a:r>
          </a:p>
          <a:p>
            <a:r>
              <a:rPr lang="zh-CN" altLang="en-US" dirty="0"/>
              <a:t>🔧 </a:t>
            </a:r>
            <a:r>
              <a:rPr lang="zh-CN" altLang="en-US" b="1" dirty="0"/>
              <a:t>我们的工作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这是我们本期课程重点构建的第一部分。我们的目标是让这一层足够通用，理论上可以用它来开发任何类型的</a:t>
            </a:r>
            <a:r>
              <a:rPr lang="en-US" altLang="zh-CN" dirty="0"/>
              <a:t>2D</a:t>
            </a:r>
            <a:r>
              <a:rPr lang="zh-CN" altLang="en-US" dirty="0"/>
              <a:t>游戏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80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79931-F2AE-7D84-458D-C2E842EDC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FB88F-E52E-CDF7-B2E0-BC64DAE51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3200" b="1" dirty="0"/>
              <a:t>3️⃣ </a:t>
            </a:r>
            <a:r>
              <a:rPr lang="zh-CN" altLang="en-US" sz="3200" b="1" dirty="0"/>
              <a:t>游戏逻辑层 </a:t>
            </a:r>
            <a:r>
              <a:rPr lang="en-US" altLang="zh-CN" sz="3200" b="1" dirty="0"/>
              <a:t>(Game Logic Layer)</a:t>
            </a:r>
          </a:p>
          <a:p>
            <a:r>
              <a:rPr lang="zh-CN" altLang="en-US" dirty="0"/>
              <a:t>📦 </a:t>
            </a:r>
            <a:r>
              <a:rPr lang="zh-CN" altLang="en-US" b="1" dirty="0"/>
              <a:t>内容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为</a:t>
            </a:r>
            <a:r>
              <a:rPr lang="en-US" altLang="zh-CN" dirty="0"/>
              <a:t>"</a:t>
            </a:r>
            <a:r>
              <a:rPr lang="zh-CN" altLang="en-US" dirty="0"/>
              <a:t>阳光岛</a:t>
            </a:r>
            <a:r>
              <a:rPr lang="en-US" altLang="zh-CN" dirty="0"/>
              <a:t>"</a:t>
            </a:r>
            <a:r>
              <a:rPr lang="zh-CN" altLang="en-US" dirty="0"/>
              <a:t>定制的具体场景（如主菜单、游戏关卡）、具体组件（如玩家控制器、敌人</a:t>
            </a:r>
            <a:r>
              <a:rPr lang="en-US" altLang="zh-CN" dirty="0"/>
              <a:t>AI</a:t>
            </a:r>
            <a:r>
              <a:rPr lang="zh-CN" altLang="en-US" dirty="0"/>
              <a:t>）、具体游戏对象和游戏数据</a:t>
            </a:r>
          </a:p>
          <a:p>
            <a:r>
              <a:rPr lang="zh-CN" altLang="en-US" dirty="0"/>
              <a:t>🎯 </a:t>
            </a:r>
            <a:r>
              <a:rPr lang="zh-CN" altLang="en-US" b="1" dirty="0"/>
              <a:t>职责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使用引擎核心层提供的</a:t>
            </a:r>
            <a:r>
              <a:rPr lang="en-US" altLang="zh-CN" dirty="0"/>
              <a:t>"</a:t>
            </a:r>
            <a:r>
              <a:rPr lang="zh-CN" altLang="en-US" dirty="0"/>
              <a:t>积木</a:t>
            </a:r>
            <a:r>
              <a:rPr lang="en-US" altLang="zh-CN" dirty="0"/>
              <a:t>"</a:t>
            </a:r>
            <a:r>
              <a:rPr lang="zh-CN" altLang="en-US" dirty="0"/>
              <a:t>，来</a:t>
            </a:r>
            <a:r>
              <a:rPr lang="en-US" altLang="zh-CN" dirty="0"/>
              <a:t>"</a:t>
            </a:r>
            <a:r>
              <a:rPr lang="zh-CN" altLang="en-US" dirty="0"/>
              <a:t>搭建</a:t>
            </a:r>
            <a:r>
              <a:rPr lang="en-US" altLang="zh-CN" dirty="0"/>
              <a:t>"</a:t>
            </a:r>
            <a:r>
              <a:rPr lang="zh-CN" altLang="en-US" dirty="0"/>
              <a:t>出</a:t>
            </a:r>
            <a:r>
              <a:rPr lang="en-US" altLang="zh-CN" dirty="0"/>
              <a:t>"</a:t>
            </a:r>
            <a:r>
              <a:rPr lang="zh-CN" altLang="en-US" dirty="0"/>
              <a:t>阳光岛</a:t>
            </a:r>
            <a:r>
              <a:rPr lang="en-US" altLang="zh-CN" dirty="0"/>
              <a:t>"</a:t>
            </a:r>
            <a:r>
              <a:rPr lang="zh-CN" altLang="en-US" dirty="0"/>
              <a:t>这款游戏的具体玩法和逻辑</a:t>
            </a:r>
          </a:p>
          <a:p>
            <a:r>
              <a:rPr lang="zh-CN" altLang="en-US" dirty="0"/>
              <a:t>🔧 </a:t>
            </a:r>
            <a:r>
              <a:rPr lang="zh-CN" altLang="en-US" b="1" dirty="0"/>
              <a:t>我们的工作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这是我们重点构建的第二部分。这一层决定了我们的游戏是什么样子，玩起来怎么样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986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FFB65-ACBE-9BA8-1EC3-B86DF89C9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24946-93A0-A3EE-CF9B-A74984A0C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3200" b="1" dirty="0"/>
              <a:t>4️⃣ </a:t>
            </a:r>
            <a:r>
              <a:rPr lang="zh-CN" altLang="en-US" sz="3200" b="1" dirty="0"/>
              <a:t>工具层 </a:t>
            </a:r>
            <a:r>
              <a:rPr lang="en-US" altLang="zh-CN" sz="3200" b="1" dirty="0"/>
              <a:t>(Tool Layer)</a:t>
            </a:r>
          </a:p>
          <a:p>
            <a:r>
              <a:rPr lang="zh-CN" altLang="en-US" dirty="0"/>
              <a:t>📦 </a:t>
            </a:r>
            <a:r>
              <a:rPr lang="zh-CN" altLang="en-US" b="1" dirty="0"/>
              <a:t>内容</a:t>
            </a:r>
            <a:r>
              <a:rPr lang="zh-CN" altLang="en-US" dirty="0"/>
              <a:t> </a:t>
            </a:r>
            <a:r>
              <a:rPr lang="en-US" altLang="zh-CN" dirty="0"/>
              <a:t>- Tiled</a:t>
            </a:r>
            <a:r>
              <a:rPr lang="zh-CN" altLang="en-US" dirty="0"/>
              <a:t>地图编辑器等外部工具</a:t>
            </a:r>
          </a:p>
          <a:p>
            <a:r>
              <a:rPr lang="zh-CN" altLang="en-US" dirty="0"/>
              <a:t>🎯 </a:t>
            </a:r>
            <a:r>
              <a:rPr lang="zh-CN" altLang="en-US" b="1" dirty="0"/>
              <a:t>职责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辅助游戏内容的创作，例如关卡设计。这些工具生成的数据（如</a:t>
            </a:r>
            <a:r>
              <a:rPr lang="en-US" altLang="zh-CN" dirty="0"/>
              <a:t>JSON</a:t>
            </a:r>
            <a:r>
              <a:rPr lang="zh-CN" altLang="en-US" dirty="0"/>
              <a:t>格式的地图文件）将被游戏逻辑层读取和使用</a:t>
            </a:r>
          </a:p>
          <a:p>
            <a:r>
              <a:rPr lang="zh-CN" altLang="en-US" dirty="0"/>
              <a:t>🔧 </a:t>
            </a:r>
            <a:r>
              <a:rPr lang="zh-CN" altLang="en-US" b="1" dirty="0"/>
              <a:t>我们的工作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我们不开发工具本身，但需要编写代码来解析工具生成的数据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006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342FC-C8FC-51D8-A683-487D28208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🔄 引擎内部结构：模块解耦与协作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F3C69-E925-FFF9-0CDF-C43B13542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在引擎核心层内部，我们还会进一步将功能划分为多个相对独立的模块，并通过清晰的调用流程将它们组织起来。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574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11038-911C-8B7A-EF1D-1077C535B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B04106-0B99-3B5B-4CA7-8EEBFEF353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3212" y="365125"/>
            <a:ext cx="9757369" cy="55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315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6C8DB-2C51-863B-8294-C9504DF7C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zh-CN" altLang="en-US" sz="3000" b="1" dirty="0"/>
              <a:t>🎯 核心流程</a:t>
            </a:r>
          </a:p>
          <a:p>
            <a:pPr marL="0" indent="0">
              <a:buNone/>
            </a:pPr>
            <a:r>
              <a:rPr lang="zh-CN" altLang="en-US" sz="3000" dirty="0"/>
              <a:t>上图展示了游戏主循环中三大核心流程（</a:t>
            </a:r>
            <a:r>
              <a:rPr lang="en-US" altLang="zh-CN" sz="3000" dirty="0" err="1"/>
              <a:t>handleEvent</a:t>
            </a:r>
            <a:r>
              <a:rPr lang="en-US" altLang="zh-CN" sz="3000" dirty="0"/>
              <a:t>, update, render</a:t>
            </a:r>
            <a:r>
              <a:rPr lang="zh-CN" altLang="en-US" sz="3000" dirty="0"/>
              <a:t>）如何在各个模块间传递：</a:t>
            </a:r>
          </a:p>
          <a:p>
            <a:r>
              <a:rPr lang="zh-CN" altLang="en-US" sz="2600" dirty="0"/>
              <a:t>🎮 </a:t>
            </a:r>
            <a:r>
              <a:rPr lang="en-US" altLang="zh-CN" sz="2600" b="1" dirty="0"/>
              <a:t>Game Class (</a:t>
            </a:r>
            <a:r>
              <a:rPr lang="zh-CN" altLang="en-US" sz="2600" b="1" dirty="0"/>
              <a:t>游戏主类</a:t>
            </a:r>
            <a:r>
              <a:rPr lang="en-US" altLang="zh-CN" sz="2600" b="1" dirty="0"/>
              <a:t>)</a:t>
            </a:r>
            <a:r>
              <a:rPr lang="zh-CN" altLang="en-US" sz="2600" dirty="0"/>
              <a:t> </a:t>
            </a:r>
            <a:r>
              <a:rPr lang="en-US" altLang="zh-CN" sz="2600" dirty="0"/>
              <a:t>- </a:t>
            </a:r>
            <a:r>
              <a:rPr lang="zh-CN" altLang="en-US" sz="2600" dirty="0"/>
              <a:t>作为程序的入口和</a:t>
            </a:r>
            <a:r>
              <a:rPr lang="en-US" altLang="zh-CN" sz="2600" dirty="0"/>
              <a:t>"</a:t>
            </a:r>
            <a:r>
              <a:rPr lang="zh-CN" altLang="en-US" sz="2600" dirty="0"/>
              <a:t>总指挥</a:t>
            </a:r>
            <a:r>
              <a:rPr lang="en-US" altLang="zh-CN" sz="2600" dirty="0"/>
              <a:t>"</a:t>
            </a:r>
            <a:r>
              <a:rPr lang="zh-CN" altLang="en-US" sz="2600" dirty="0"/>
              <a:t>，它拥有主循环，并负责创建和驱动各个管理器</a:t>
            </a:r>
          </a:p>
          <a:p>
            <a:r>
              <a:rPr lang="zh-CN" altLang="en-US" sz="2600" dirty="0"/>
              <a:t>🎬 </a:t>
            </a:r>
            <a:r>
              <a:rPr lang="zh-CN" altLang="en-US" sz="2600" b="1" dirty="0"/>
              <a:t>场景管理 </a:t>
            </a:r>
            <a:r>
              <a:rPr lang="en-US" altLang="zh-CN" sz="2600" b="1" dirty="0"/>
              <a:t>(Scene Manager)</a:t>
            </a:r>
            <a:r>
              <a:rPr lang="zh-CN" altLang="en-US" sz="2600" dirty="0"/>
              <a:t> </a:t>
            </a:r>
            <a:r>
              <a:rPr lang="en-US" altLang="zh-CN" sz="2600" dirty="0"/>
              <a:t>- </a:t>
            </a:r>
            <a:r>
              <a:rPr lang="zh-CN" altLang="en-US" sz="2600" dirty="0"/>
              <a:t>负责管理所有场景（</a:t>
            </a:r>
            <a:r>
              <a:rPr lang="en-US" altLang="zh-CN" sz="2600" dirty="0"/>
              <a:t>Scene</a:t>
            </a:r>
            <a:r>
              <a:rPr lang="zh-CN" altLang="en-US" sz="2600" dirty="0"/>
              <a:t>），并确保在任何时候只有一个（或多个）场景处于活动状态。它将主循环的调用传递给当前活动的场景</a:t>
            </a:r>
          </a:p>
          <a:p>
            <a:r>
              <a:rPr lang="zh-CN" altLang="en-US" sz="2600" dirty="0"/>
              <a:t>🎭 </a:t>
            </a:r>
            <a:r>
              <a:rPr lang="zh-CN" altLang="en-US" sz="2600" b="1" dirty="0"/>
              <a:t>场景 </a:t>
            </a:r>
            <a:r>
              <a:rPr lang="en-US" altLang="zh-CN" sz="2600" b="1" dirty="0"/>
              <a:t>(Scene Class)</a:t>
            </a:r>
            <a:r>
              <a:rPr lang="zh-CN" altLang="en-US" sz="2600" dirty="0"/>
              <a:t> </a:t>
            </a:r>
            <a:r>
              <a:rPr lang="en-US" altLang="zh-CN" sz="2600" dirty="0"/>
              <a:t>- </a:t>
            </a:r>
            <a:r>
              <a:rPr lang="zh-CN" altLang="en-US" sz="2600" dirty="0"/>
              <a:t>一个场景就是一个独立的游戏状态，例如主菜单场景、游戏场景、暂停场景。它拥有一系列游戏对象（</a:t>
            </a:r>
            <a:r>
              <a:rPr lang="en-US" altLang="zh-CN" sz="2600" dirty="0" err="1"/>
              <a:t>GameObject</a:t>
            </a:r>
            <a:r>
              <a:rPr lang="zh-CN" altLang="en-US" sz="2600" dirty="0"/>
              <a:t>），并将调用分发给每一个对象</a:t>
            </a:r>
          </a:p>
          <a:p>
            <a:r>
              <a:rPr lang="zh-CN" altLang="en-US" sz="2600" dirty="0"/>
              <a:t>📦 </a:t>
            </a:r>
            <a:r>
              <a:rPr lang="zh-CN" altLang="en-US" sz="2600" b="1" dirty="0"/>
              <a:t>游戏对象 </a:t>
            </a:r>
            <a:r>
              <a:rPr lang="en-US" altLang="zh-CN" sz="2600" b="1" dirty="0"/>
              <a:t>(</a:t>
            </a:r>
            <a:r>
              <a:rPr lang="en-US" altLang="zh-CN" sz="2600" b="1" dirty="0" err="1"/>
              <a:t>GameObject</a:t>
            </a:r>
            <a:r>
              <a:rPr lang="en-US" altLang="zh-CN" sz="2600" b="1" dirty="0"/>
              <a:t>)</a:t>
            </a:r>
            <a:r>
              <a:rPr lang="zh-CN" altLang="en-US" sz="2600" dirty="0"/>
              <a:t> </a:t>
            </a:r>
            <a:r>
              <a:rPr lang="en-US" altLang="zh-CN" sz="2600" dirty="0"/>
              <a:t>- </a:t>
            </a:r>
            <a:r>
              <a:rPr lang="zh-CN" altLang="en-US" sz="2600" dirty="0"/>
              <a:t>将调用进一步分发给它所拥有的每一个组件（</a:t>
            </a:r>
            <a:r>
              <a:rPr lang="en-US" altLang="zh-CN" sz="2600" dirty="0"/>
              <a:t>Component</a:t>
            </a:r>
            <a:r>
              <a:rPr lang="zh-CN" altLang="en-US" sz="2600" dirty="0"/>
              <a:t>）</a:t>
            </a:r>
          </a:p>
          <a:p>
            <a:r>
              <a:rPr lang="zh-CN" altLang="en-US" sz="2600" dirty="0"/>
              <a:t>⚙️ </a:t>
            </a:r>
            <a:r>
              <a:rPr lang="zh-CN" altLang="en-US" sz="2600" b="1" dirty="0"/>
              <a:t>独立模块 </a:t>
            </a:r>
            <a:r>
              <a:rPr lang="en-US" altLang="zh-CN" sz="2600" b="1" dirty="0"/>
              <a:t>(Physics / UI)</a:t>
            </a:r>
            <a:r>
              <a:rPr lang="zh-CN" altLang="en-US" sz="2600" dirty="0"/>
              <a:t> </a:t>
            </a:r>
            <a:r>
              <a:rPr lang="en-US" altLang="zh-CN" sz="2600" dirty="0"/>
              <a:t>- </a:t>
            </a:r>
            <a:r>
              <a:rPr lang="zh-CN" altLang="en-US" sz="2600" dirty="0"/>
              <a:t>像物理引擎和</a:t>
            </a:r>
            <a:r>
              <a:rPr lang="en-US" altLang="zh-CN" sz="2600" dirty="0"/>
              <a:t>UI</a:t>
            </a:r>
            <a:r>
              <a:rPr lang="zh-CN" altLang="en-US" sz="2600" dirty="0"/>
              <a:t>管理器这样的系统，会独立于场景</a:t>
            </a:r>
            <a:r>
              <a:rPr lang="en-US" altLang="zh-CN" sz="2600" dirty="0"/>
              <a:t>-</a:t>
            </a:r>
            <a:r>
              <a:rPr lang="zh-CN" altLang="en-US" sz="2600" dirty="0"/>
              <a:t>对象</a:t>
            </a:r>
            <a:r>
              <a:rPr lang="en-US" altLang="zh-CN" sz="2600" dirty="0"/>
              <a:t>-</a:t>
            </a:r>
            <a:r>
              <a:rPr lang="zh-CN" altLang="en-US" sz="2600" dirty="0"/>
              <a:t>组件这条主线进行更新。</a:t>
            </a:r>
            <a:r>
              <a:rPr lang="en-US" altLang="zh-CN" sz="2600" dirty="0"/>
              <a:t>Game</a:t>
            </a:r>
            <a:r>
              <a:rPr lang="zh-CN" altLang="en-US" sz="2600" dirty="0"/>
              <a:t>类会在主循环的</a:t>
            </a:r>
            <a:r>
              <a:rPr lang="en-US" altLang="zh-CN" sz="2600" dirty="0"/>
              <a:t>update</a:t>
            </a:r>
            <a:r>
              <a:rPr lang="zh-CN" altLang="en-US" sz="2600" dirty="0"/>
              <a:t>阶段单独调用物理引擎的</a:t>
            </a:r>
            <a:r>
              <a:rPr lang="en-US" altLang="zh-CN" sz="2600" dirty="0"/>
              <a:t>update</a:t>
            </a:r>
            <a:r>
              <a:rPr lang="zh-CN" altLang="en-US" sz="2600" dirty="0"/>
              <a:t>，物理引擎会遍历所有注册给它的物理组件并更新它们的状态。</a:t>
            </a:r>
            <a:r>
              <a:rPr lang="en-US" altLang="zh-CN" sz="2600" dirty="0"/>
              <a:t>UI</a:t>
            </a:r>
            <a:r>
              <a:rPr lang="zh-CN" altLang="en-US" sz="2600" dirty="0"/>
              <a:t>系统同理</a:t>
            </a:r>
          </a:p>
          <a:p>
            <a:r>
              <a:rPr lang="zh-CN" altLang="en-US" sz="2600" dirty="0"/>
              <a:t>🛠️ </a:t>
            </a:r>
            <a:r>
              <a:rPr lang="zh-CN" altLang="en-US" sz="2600" b="1" dirty="0"/>
              <a:t>封装的工具模块</a:t>
            </a:r>
            <a:r>
              <a:rPr lang="zh-CN" altLang="en-US" sz="2600" dirty="0"/>
              <a:t> </a:t>
            </a:r>
            <a:r>
              <a:rPr lang="en-US" altLang="zh-CN" sz="2600" dirty="0"/>
              <a:t>- </a:t>
            </a:r>
            <a:r>
              <a:rPr lang="zh-CN" altLang="en-US" sz="2600" dirty="0"/>
              <a:t>资源管理、音频播放、渲染模块将被封装成易于使用的单例或全局访问点，供引擎的任何部分调用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876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EC498-F719-6053-8267-AACABC962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📋 </a:t>
            </a:r>
            <a:r>
              <a:rPr lang="zh-CN" altLang="en-US" b="1" dirty="0"/>
              <a:t>总结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21038-D68E-B96C-B470-584EEFB8E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在开始编写引擎代码之前，让我们再次明确本课程的架构设计思路：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3F7EC7-F655-CB80-3E12-557FE663F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664" y="2443221"/>
            <a:ext cx="6969653" cy="373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697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306B3-B9DE-6012-B395-92F890AD2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🎯 核心要点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51E1A-55C2-537F-2698-0BC76F6B7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✅ </a:t>
            </a:r>
            <a:r>
              <a:rPr lang="zh-CN" altLang="en-US" b="1" dirty="0"/>
              <a:t>组件化设计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通过组合而非继承来构建功能，实现扁平化的继承链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四层架构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项目分为清晰的四层架构：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zh-CN" altLang="en-US" dirty="0"/>
              <a:t>🏗️ 引擎核心层负责提供基础的</a:t>
            </a:r>
            <a:r>
              <a:rPr lang="en-US" altLang="zh-CN" dirty="0"/>
              <a:t>"</a:t>
            </a:r>
            <a:r>
              <a:rPr lang="zh-CN" altLang="en-US" dirty="0"/>
              <a:t>积木</a:t>
            </a:r>
            <a:r>
              <a:rPr lang="en-US" altLang="zh-CN" dirty="0"/>
              <a:t>"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zh-CN" altLang="en-US" dirty="0"/>
              <a:t>🎮 游戏逻辑层负责用这些</a:t>
            </a:r>
            <a:r>
              <a:rPr lang="en-US" altLang="zh-CN" dirty="0"/>
              <a:t>"</a:t>
            </a:r>
            <a:r>
              <a:rPr lang="zh-CN" altLang="en-US" dirty="0"/>
              <a:t>积木</a:t>
            </a:r>
            <a:r>
              <a:rPr lang="en-US" altLang="zh-CN" dirty="0"/>
              <a:t>"</a:t>
            </a:r>
            <a:r>
              <a:rPr lang="zh-CN" altLang="en-US" dirty="0"/>
              <a:t>来</a:t>
            </a:r>
            <a:r>
              <a:rPr lang="en-US" altLang="zh-CN" dirty="0"/>
              <a:t>"</a:t>
            </a:r>
            <a:r>
              <a:rPr lang="zh-CN" altLang="en-US" dirty="0"/>
              <a:t>搭建</a:t>
            </a:r>
            <a:r>
              <a:rPr lang="en-US" altLang="zh-CN" dirty="0"/>
              <a:t>"</a:t>
            </a:r>
            <a:r>
              <a:rPr lang="zh-CN" altLang="en-US" dirty="0"/>
              <a:t>我们的游戏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现代</a:t>
            </a:r>
            <a:r>
              <a:rPr lang="en-US" altLang="zh-CN" b="1" dirty="0"/>
              <a:t>C++</a:t>
            </a:r>
            <a:r>
              <a:rPr lang="zh-CN" altLang="en-US" b="1" dirty="0"/>
              <a:t>规范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在整个开发过程中，遵循现代</a:t>
            </a:r>
            <a:r>
              <a:rPr lang="en-US" altLang="zh-CN" dirty="0"/>
              <a:t>C++</a:t>
            </a:r>
            <a:r>
              <a:rPr lang="zh-CN" altLang="en-US" dirty="0"/>
              <a:t>的设计规范，如</a:t>
            </a:r>
            <a:r>
              <a:rPr lang="en-US" altLang="zh-CN" dirty="0"/>
              <a:t>RAII</a:t>
            </a:r>
            <a:r>
              <a:rPr lang="zh-CN" altLang="en-US" dirty="0"/>
              <a:t>、智能指针、异常安全等，编写出健壮、高效的代码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212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1312</Words>
  <Application>Microsoft Office PowerPoint</Application>
  <PresentationFormat>Widescreen</PresentationFormat>
  <Paragraphs>58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Courier New</vt:lpstr>
      <vt:lpstr>Office Theme</vt:lpstr>
      <vt:lpstr>游戏架构设计</vt:lpstr>
      <vt:lpstr>📖 概述</vt:lpstr>
      <vt:lpstr>🧩 核心设计原则：组合优于继承</vt:lpstr>
      <vt:lpstr>🎯 组件化设计</vt:lpstr>
      <vt:lpstr>PowerPoint Presentation</vt:lpstr>
      <vt:lpstr>✨ 设计优势</vt:lpstr>
      <vt:lpstr>🏛️ 宏观蓝图：游戏分层架构</vt:lpstr>
      <vt:lpstr>PowerPoint Presentation</vt:lpstr>
      <vt:lpstr>📚 四个层次详解</vt:lpstr>
      <vt:lpstr>PowerPoint Presentation</vt:lpstr>
      <vt:lpstr>PowerPoint Presentation</vt:lpstr>
      <vt:lpstr>PowerPoint Presentation</vt:lpstr>
      <vt:lpstr>🔄 引擎内部结构：模块解耦与协作</vt:lpstr>
      <vt:lpstr>PowerPoint Presentation</vt:lpstr>
      <vt:lpstr>PowerPoint Presentation</vt:lpstr>
      <vt:lpstr>📋 总结</vt:lpstr>
      <vt:lpstr>🎯 核心要点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佳浩 华</dc:creator>
  <cp:lastModifiedBy>佳浩 华</cp:lastModifiedBy>
  <cp:revision>2</cp:revision>
  <dcterms:created xsi:type="dcterms:W3CDTF">2025-10-29T12:22:51Z</dcterms:created>
  <dcterms:modified xsi:type="dcterms:W3CDTF">2025-10-29T12:28:43Z</dcterms:modified>
</cp:coreProperties>
</file>