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2650-D791-86EB-33AB-4C88206D3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D2859-92E6-BE27-FA4D-A60102C78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80998-45C5-01B8-3580-15842698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650F-8913-AC7A-BDCE-7649DFBC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D150A-D333-B800-F1A5-17FC1FA5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78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84FD-4F49-5F96-FEE1-E154CC3B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594D0-80E6-24B6-725E-03222F60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D0C5-AAA4-40EC-4B5B-DC4B2433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508B2-4513-2F71-3E8C-76922646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4A661-47AB-E615-880D-1148E3CB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2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4A50-09E9-56E4-517D-D1395C7F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F0C0A-DBFE-429B-52DF-8177C0CD2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FAA3A-56E9-8DB4-C4B9-0A7D52AE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7D8-3599-F8EF-B589-4A51C0C4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4BE39-000E-6070-BC75-26DBA651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1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6423-302B-D581-ED2E-928C96710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AF16F-D2F6-9D8F-F245-1E0735C24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5A441-E082-4E74-1B5B-3416A74BA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0D23C-6539-E0F9-C81A-655A8CBD4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5D230-02CA-7D6A-0D15-9F9AE3FB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F18B7-BD81-15C0-BA94-9FAF10C5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1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B9B5-D513-B4C4-15FE-D4CB299C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B7636-2890-BCEF-16E5-157E820C4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38118-BE00-5D60-D19D-1CD3F5A09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4A12EA-0F28-C999-1848-C7669D481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C7C25-1E82-5FB0-0971-D64A41320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4D9CA2-EAEF-4419-4C17-D87537E7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D49AA3-6B0D-487A-C006-7538063B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60FF-791E-1989-18A8-12705E6A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3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E310-501E-BCF1-4F17-7F779A41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3C5F9-4B39-7317-E493-EB262744E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6EF41-1A03-F69E-1EDA-9AB0A75F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75659-4342-FB62-7107-30BB2EBA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1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CAC9E-CE02-5B9C-384E-473618D1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21962-BA80-C5CF-821D-F8632C96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43B81-7B88-99AC-31AA-D865C403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79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5132-B8A5-17D6-B12B-FF5EE501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9512-919C-B0F9-6E5D-6D2EE2F21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0BF01-DED3-135A-A1B6-502FBF35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9BBB8-ABB0-897E-226F-C5F9599F2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489A0-2644-7F3C-6BFE-8B7B5D4F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D8DA5-8FD7-E91A-4DD3-2557F0DFC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D14B-7631-363A-CE6D-2FA9D7D36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683572-9BA6-518E-1AB3-4146BE997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F6C48-5E8F-8C30-75A3-B2982383F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D4462-0A48-BA50-5BEC-FF873808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63AF2-8D87-FAB0-20A4-23930E24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AF993-A708-99CC-097F-E02A0E9E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47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CBF6-07A8-BD3E-6223-3F5E2CF2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8D0EF-66ED-CAD2-F4D6-0ABC9EC34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5B471-6778-340C-577C-D446202E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9783D-4832-F742-F0F7-2EBC4A7C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09F8-6824-287F-859E-6D8C37DF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7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5A8AD6-6E26-62F0-E9F4-21E94DC9F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FABE4-B399-210C-74B9-2703CAD61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0452-3822-ADE9-CDF7-6951F59B4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BEE4-4F5C-E1FF-25DA-14B834DA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8CFF2-632F-46BD-A698-2194F142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2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94BB8-A28E-CFF2-100D-0475CB43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236E9-10DA-1ACF-733C-5B3E8C981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06791-B91D-0DB2-E6EA-F631B454C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6BE4F-7A3B-444A-A0EF-193D3E776BF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65978-8229-76C2-C298-55BA3290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5EC6C-3738-02FC-6A3B-ACA38B9AB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1BFD0-56DF-4730-A3FE-63DE6DF40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8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50DB-F119-38C7-29D6-3CC40F1E8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物理引擎与物理组件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70BBC-49CD-ECB8-5403-6A52F09D1B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0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987E-DCD0-5D31-5B9F-B013D52D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D5C3-985E-A76D-9A79-A5052F531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到目前为止，我们加载到场景中的所有对象都是 </a:t>
            </a:r>
            <a:r>
              <a:rPr lang="zh-CN" altLang="en-US" b="1" dirty="0"/>
              <a:t>静止的</a:t>
            </a:r>
            <a:r>
              <a:rPr lang="zh-CN" altLang="en-US" dirty="0"/>
              <a:t>。它们被放置在哪里，就永远停在哪里。为了让我们的世界 </a:t>
            </a:r>
            <a:r>
              <a:rPr lang="en-US" altLang="zh-CN" b="1" dirty="0"/>
              <a:t>"</a:t>
            </a:r>
            <a:r>
              <a:rPr lang="zh-CN" altLang="en-US" b="1" dirty="0"/>
              <a:t>活</a:t>
            </a:r>
            <a:r>
              <a:rPr lang="en-US" altLang="zh-CN" b="1" dirty="0"/>
              <a:t>"</a:t>
            </a:r>
            <a:r>
              <a:rPr lang="zh-CN" altLang="en-US" dirty="0"/>
              <a:t> 起来，让角色能够跳跃，让物体能够下落，我们必须引入 </a:t>
            </a:r>
            <a:r>
              <a:rPr lang="zh-CN" altLang="en-US" b="1" dirty="0"/>
              <a:t>物理的概念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4B37-16DF-61DB-54B4-1D324ED5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⚙️ 静态世界 </a:t>
            </a:r>
            <a:r>
              <a:rPr lang="en-US" altLang="zh-CN" b="1" dirty="0"/>
              <a:t>vs </a:t>
            </a:r>
            <a:r>
              <a:rPr lang="zh-CN" altLang="en-US" b="1" dirty="0"/>
              <a:t>动态世界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F0FAC1-FDB9-BB37-42DC-F77A598308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011994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863611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23979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静态世界（当前状态）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动态世界（目标）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722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对象永远静止不动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✅ 对象受重力影响下落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501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无法模拟跳跃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✅ 角色可以跳跃、移动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749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无速度和加速度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✅ 支持速度、加速度计算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14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 </a:t>
                      </a:r>
                      <a:r>
                        <a:rPr lang="zh-CN" altLang="en-US">
                          <a:effectLst/>
                        </a:rPr>
                        <a:t>无物理交互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✅ 物体间可以碰撞交互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525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2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4498-778F-D97D-68A7-ADA67684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本课目标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4A7AC-55A7-097D-2CBF-854336A6F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本节课，我们将构建一个简单的 </a:t>
            </a:r>
            <a:r>
              <a:rPr lang="en-US" altLang="zh-CN" b="1" dirty="0"/>
              <a:t>2D </a:t>
            </a:r>
            <a:r>
              <a:rPr lang="zh-CN" altLang="en-US" b="1" dirty="0"/>
              <a:t>物理引擎</a:t>
            </a:r>
            <a:r>
              <a:rPr lang="zh-CN" altLang="en-US" dirty="0"/>
              <a:t>。它将负责：</a:t>
            </a:r>
          </a:p>
          <a:p>
            <a:r>
              <a:rPr lang="zh-CN" altLang="en-US" dirty="0"/>
              <a:t>🌍 模拟重力</a:t>
            </a:r>
          </a:p>
          <a:p>
            <a:r>
              <a:rPr lang="zh-CN" altLang="en-US" dirty="0"/>
              <a:t>🏃 计算速度和加速度</a:t>
            </a:r>
          </a:p>
          <a:p>
            <a:r>
              <a:rPr lang="zh-CN" altLang="en-US" dirty="0"/>
              <a:t>📍 更新物体位置</a:t>
            </a:r>
          </a:p>
          <a:p>
            <a:pPr marL="0" indent="0">
              <a:buNone/>
            </a:pPr>
            <a:r>
              <a:rPr lang="zh-CN" altLang="en-US" dirty="0"/>
              <a:t>这将为我们后续实现碰撞检测和角色控制器打下坚实的基础。我们将遵循与之前模块化设计相同的思路，创建一个中心化的 </a:t>
            </a:r>
            <a:r>
              <a:rPr lang="en-US" altLang="zh-CN" dirty="0" err="1"/>
              <a:t>PhysicsEngine</a:t>
            </a:r>
            <a:r>
              <a:rPr lang="zh-CN" altLang="en-US" dirty="0"/>
              <a:t> 和附加到 </a:t>
            </a:r>
            <a:r>
              <a:rPr lang="en-US" altLang="zh-CN" dirty="0" err="1"/>
              <a:t>GameObject</a:t>
            </a:r>
            <a:r>
              <a:rPr lang="zh-CN" altLang="en-US" dirty="0"/>
              <a:t> 上的 </a:t>
            </a:r>
            <a:r>
              <a:rPr lang="en-US" altLang="zh-CN" dirty="0" err="1"/>
              <a:t>PhysicsComponent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15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CC50-C998-D056-81F2-27364A5E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FF36DD-E6FB-BA02-1AEE-0CF4CD293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0523" y="1392725"/>
            <a:ext cx="7896396" cy="446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4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F7655-777D-F788-E7F6-6F02AC94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PhysicsEngine</a:t>
            </a:r>
            <a:r>
              <a:rPr lang="en-US" b="1" dirty="0"/>
              <a:t>：</a:t>
            </a:r>
            <a:r>
              <a:rPr lang="zh-CN" altLang="en-US" b="1" dirty="0"/>
              <a:t>物理世界的</a:t>
            </a:r>
            <a:r>
              <a:rPr lang="en-US" altLang="zh-CN" b="1" dirty="0"/>
              <a:t>"</a:t>
            </a:r>
            <a:r>
              <a:rPr lang="zh-CN" altLang="en-US" b="1" dirty="0"/>
              <a:t>上帝</a:t>
            </a:r>
            <a:r>
              <a:rPr lang="en-US" altLang="zh-CN" b="1" dirty="0"/>
              <a:t>"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C5E69-FE7D-BD21-821A-0112EDFD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PhysicsEngine</a:t>
            </a:r>
            <a:r>
              <a:rPr lang="en-US" dirty="0"/>
              <a:t> </a:t>
            </a:r>
            <a:r>
              <a:rPr lang="zh-CN" altLang="en-US" dirty="0"/>
              <a:t>是一个全局模块，它不关心某个特定 </a:t>
            </a:r>
            <a:r>
              <a:rPr lang="en-US" dirty="0" err="1"/>
              <a:t>GameObject</a:t>
            </a:r>
            <a:r>
              <a:rPr lang="en-US" dirty="0"/>
              <a:t> </a:t>
            </a:r>
            <a:r>
              <a:rPr lang="zh-CN" altLang="en-US" dirty="0"/>
              <a:t>的逻辑，只负责根据物理规则更新所有参与物理模拟的物体。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7C396A-D18A-2A80-3618-1AD8D9ABD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779351"/>
              </p:ext>
            </p:extLst>
          </p:nvPr>
        </p:nvGraphicFramePr>
        <p:xfrm>
          <a:off x="924169" y="2747759"/>
          <a:ext cx="81280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566646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95035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71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维护组件列表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维护一个所有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PhysicsComponent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的列表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12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施加重力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在每一帧，遍历这个列表，为受重力的物体施加重力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492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更新速度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根据物体的受力情况和质量，更新其速度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607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更新位置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根据物体的速度，更新其位置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09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3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4F94-85C8-1280-500F-D51F24EB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物理模拟流程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8E02CD-D413-203B-0FEA-7C44476E6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636" y="1560618"/>
            <a:ext cx="2101958" cy="30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5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1611-8E36-A796-C64B-41195B6F4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58C90-FCD9-86F5-49CE-E786E3B5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engine/physics/</a:t>
            </a:r>
            <a:r>
              <a:rPr lang="en-US" b="1" dirty="0" err="1"/>
              <a:t>physics_engine.h</a:t>
            </a:r>
            <a:endParaRPr lang="en-US" b="1" dirty="0"/>
          </a:p>
          <a:p>
            <a:r>
              <a:rPr lang="en-US" b="1" dirty="0"/>
              <a:t>engine/physics/physics_engine.cpp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14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D728-4532-D1F1-1269-A0F2107EF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🔑 关键实现：</a:t>
            </a:r>
            <a:r>
              <a:rPr lang="zh-CN" altLang="en-US" b="1" dirty="0">
                <a:solidFill>
                  <a:srgbClr val="FF0000"/>
                </a:solidFill>
              </a:rPr>
              <a:t>欧拉积分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FE53-8F50-41EA-9584-B933F833C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update</a:t>
            </a:r>
            <a:r>
              <a:rPr lang="zh-CN" altLang="en-US" dirty="0"/>
              <a:t> 方法中，我们实现了一个简单的 </a:t>
            </a:r>
            <a:r>
              <a:rPr lang="zh-CN" altLang="en-US" b="1" dirty="0">
                <a:solidFill>
                  <a:srgbClr val="FF0000"/>
                </a:solidFill>
              </a:rPr>
              <a:t>欧拉积分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Euler Integration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来模拟物理运动，这是游戏物理中最基础和常用的方法。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255A4-0363-AB21-C361-8E8D3E7EC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062" y="2665702"/>
            <a:ext cx="7172048" cy="39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92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D55F-DA65-D0A7-A9A6-5F1E12FC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E3F5D6-8CC5-0973-BF30-637A35A78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504952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5123310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393841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5483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公式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代码实现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50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 = g × m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重力 </a:t>
                      </a:r>
                      <a:r>
                        <a:rPr lang="en-US" altLang="zh-CN">
                          <a:effectLst/>
                        </a:rPr>
                        <a:t>= </a:t>
                      </a:r>
                      <a:r>
                        <a:rPr lang="zh-CN" altLang="en-US">
                          <a:effectLst/>
                        </a:rPr>
                        <a:t>重力加速度 </a:t>
                      </a:r>
                      <a:r>
                        <a:rPr lang="en-US" altLang="zh-CN">
                          <a:effectLst/>
                        </a:rPr>
                        <a:t>× </a:t>
                      </a:r>
                      <a:r>
                        <a:rPr lang="zh-CN" altLang="en-US">
                          <a:effectLst/>
                        </a:rPr>
                        <a:t>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gravity_ * pc-&gt;getMass()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47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 = F / m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加速度 </a:t>
                      </a:r>
                      <a:r>
                        <a:rPr lang="en-US" altLang="zh-CN">
                          <a:effectLst/>
                        </a:rPr>
                        <a:t>= </a:t>
                      </a:r>
                      <a:r>
                        <a:rPr lang="zh-CN" altLang="en-US">
                          <a:effectLst/>
                        </a:rPr>
                        <a:t>力 </a:t>
                      </a:r>
                      <a:r>
                        <a:rPr lang="en-US" altLang="zh-CN">
                          <a:effectLst/>
                        </a:rPr>
                        <a:t>/ </a:t>
                      </a:r>
                      <a:r>
                        <a:rPr lang="zh-CN" altLang="en-US">
                          <a:effectLst/>
                        </a:rPr>
                        <a:t>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pc-&gt;getForce() / pc-&gt;getMass()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60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v += a × </a:t>
                      </a:r>
                      <a:r>
                        <a:rPr lang="el-GR" b="1">
                          <a:effectLst/>
                        </a:rPr>
                        <a:t>Δ</a:t>
                      </a:r>
                      <a:r>
                        <a:rPr lang="en-US" b="1">
                          <a:effectLst/>
                        </a:rPr>
                        <a:t>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速度 </a:t>
                      </a:r>
                      <a:r>
                        <a:rPr lang="en-US" altLang="zh-CN">
                          <a:effectLst/>
                        </a:rPr>
                        <a:t>= </a:t>
                      </a:r>
                      <a:r>
                        <a:rPr lang="zh-CN" altLang="en-US">
                          <a:effectLst/>
                        </a:rPr>
                        <a:t>速度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加速度 </a:t>
                      </a:r>
                      <a:r>
                        <a:rPr lang="en-US" altLang="zh-CN">
                          <a:effectLst/>
                        </a:rPr>
                        <a:t>× </a:t>
                      </a:r>
                      <a:r>
                        <a:rPr lang="zh-CN" altLang="en-US">
                          <a:effectLst/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velocity_ += a *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delta_time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476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 += v × </a:t>
                      </a:r>
                      <a:r>
                        <a:rPr lang="el-GR" b="1">
                          <a:effectLst/>
                        </a:rPr>
                        <a:t>Δ</a:t>
                      </a:r>
                      <a:r>
                        <a:rPr lang="en-US" b="1">
                          <a:effectLst/>
                        </a:rPr>
                        <a:t>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位置 </a:t>
                      </a:r>
                      <a:r>
                        <a:rPr lang="en-US" altLang="zh-CN">
                          <a:effectLst/>
                        </a:rPr>
                        <a:t>= </a:t>
                      </a:r>
                      <a:r>
                        <a:rPr lang="zh-CN" altLang="en-US">
                          <a:effectLst/>
                        </a:rPr>
                        <a:t>位置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速度 </a:t>
                      </a:r>
                      <a:r>
                        <a:rPr lang="en-US" altLang="zh-CN">
                          <a:effectLst/>
                        </a:rPr>
                        <a:t>× </a:t>
                      </a:r>
                      <a:r>
                        <a:rPr lang="zh-CN" altLang="en-US">
                          <a:effectLst/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translate(velocity_ *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delta_time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76922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9F0126-EF20-DD8C-A987-C161C3C4F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920974"/>
              </p:ext>
            </p:extLst>
          </p:nvPr>
        </p:nvGraphicFramePr>
        <p:xfrm>
          <a:off x="838200" y="4084189"/>
          <a:ext cx="8127999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836033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67225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10807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默认值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2200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gravity_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(0, 980)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重力加速度（像素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秒</a:t>
                      </a:r>
                      <a:r>
                        <a:rPr lang="en-US" altLang="zh-CN">
                          <a:effectLst/>
                        </a:rPr>
                        <a:t>²</a:t>
                      </a:r>
                      <a:r>
                        <a:rPr lang="zh-CN" altLang="en-US">
                          <a:effectLst/>
                        </a:rPr>
                        <a:t>），相当于 </a:t>
                      </a:r>
                      <a:r>
                        <a:rPr lang="en-US" altLang="zh-CN">
                          <a:effectLst/>
                        </a:rPr>
                        <a:t>100 </a:t>
                      </a:r>
                      <a:r>
                        <a:rPr lang="zh-CN" altLang="en-US">
                          <a:effectLst/>
                        </a:rPr>
                        <a:t>像素对应现实 </a:t>
                      </a:r>
                      <a:r>
                        <a:rPr lang="en-US" altLang="zh-CN">
                          <a:effectLst/>
                        </a:rPr>
                        <a:t>1 </a:t>
                      </a:r>
                      <a:r>
                        <a:rPr lang="zh-CN" altLang="en-US">
                          <a:effectLst/>
                        </a:rPr>
                        <a:t>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64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max_speed_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500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最大速度限制（像素</a:t>
                      </a:r>
                      <a:r>
                        <a:rPr lang="en-US" altLang="zh-CN" dirty="0">
                          <a:effectLst/>
                        </a:rPr>
                        <a:t>/</a:t>
                      </a:r>
                      <a:r>
                        <a:rPr lang="zh-CN" altLang="en-US" dirty="0">
                          <a:effectLst/>
                        </a:rPr>
                        <a:t>秒），防止速度过快导致穿透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9853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AC49CB-C140-57AB-D6FF-0BEA812325F0}"/>
              </a:ext>
            </a:extLst>
          </p:cNvPr>
          <p:cNvSpPr txBox="1"/>
          <p:nvPr/>
        </p:nvSpPr>
        <p:spPr>
          <a:xfrm>
            <a:off x="9126415" y="4084189"/>
            <a:ext cx="20456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💡 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为什么是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-apple-system"/>
              </a:rPr>
              <a:t>980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？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 现实世界的重力加速度约为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9.8 m/s²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。如果我们设定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100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像素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= 1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米，那么重力加速度就是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980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像素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/s²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。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837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52F8-EFCF-20DE-CA96-B2B0951F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PhysicsComponent</a:t>
            </a:r>
            <a:r>
              <a:rPr lang="en-US" b="1" dirty="0"/>
              <a:t>：</a:t>
            </a:r>
            <a:r>
              <a:rPr lang="zh-CN" altLang="en-US" b="1" dirty="0"/>
              <a:t>赋予物体物理属性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DAA8-2400-AB1B-B0FF-F811D3A49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如果说 </a:t>
            </a:r>
            <a:r>
              <a:rPr lang="en-US" dirty="0" err="1"/>
              <a:t>PhysicsEngine</a:t>
            </a:r>
            <a:r>
              <a:rPr lang="en-US" dirty="0"/>
              <a:t> </a:t>
            </a:r>
            <a:r>
              <a:rPr lang="zh-CN" altLang="en-US" dirty="0"/>
              <a:t>是上帝，那么 </a:t>
            </a:r>
            <a:r>
              <a:rPr lang="en-US" dirty="0" err="1"/>
              <a:t>PhysicsComponent</a:t>
            </a:r>
            <a:r>
              <a:rPr lang="en-US" dirty="0"/>
              <a:t> </a:t>
            </a:r>
            <a:r>
              <a:rPr lang="zh-CN" altLang="en-US" dirty="0"/>
              <a:t>就是赋予 </a:t>
            </a:r>
            <a:r>
              <a:rPr lang="en-US" dirty="0" err="1"/>
              <a:t>GameObject</a:t>
            </a:r>
            <a:r>
              <a:rPr lang="en-US" dirty="0"/>
              <a:t> </a:t>
            </a:r>
            <a:r>
              <a:rPr lang="zh-CN" altLang="en-US" b="1" dirty="0"/>
              <a:t>灵魂</a:t>
            </a:r>
            <a:r>
              <a:rPr lang="zh-CN" altLang="en-US" dirty="0"/>
              <a:t> 的使者。任何想要参与物理模拟的 </a:t>
            </a:r>
            <a:r>
              <a:rPr lang="en-US" dirty="0" err="1"/>
              <a:t>GameObject</a:t>
            </a:r>
            <a:r>
              <a:rPr lang="en-US" dirty="0"/>
              <a:t> </a:t>
            </a:r>
            <a:r>
              <a:rPr lang="zh-CN" altLang="en-US" dirty="0"/>
              <a:t>都必须拥有这个组件。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643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E70F-2CE3-E801-8D1F-728799AA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ABAC6E-1B7B-A014-7141-94075E9368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591196"/>
              </p:ext>
            </p:extLst>
          </p:nvPr>
        </p:nvGraphicFramePr>
        <p:xfrm>
          <a:off x="838203" y="1921363"/>
          <a:ext cx="70103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1567169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39420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077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存储物理属性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存储物体的质量（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mass_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）、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速度（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velocity_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）、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当前受力（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force_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819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注册到引擎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在被创建时（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init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），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将自己注册到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PhysicsEngine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62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从引擎注销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在被销毁时（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clean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），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从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PhysicsEngine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中注销自己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57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40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03C3-4676-1559-5644-4CC1203A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34AC5B-7728-CCE4-114C-535037548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308" y="380843"/>
            <a:ext cx="2667137" cy="304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53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023BE-4B27-BEE3-3518-381158B1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074AF-7517-7963-F90A-2B90FFAC5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engine/component/</a:t>
            </a:r>
            <a:r>
              <a:rPr lang="en-US" b="1" dirty="0" err="1"/>
              <a:t>physics_component.h</a:t>
            </a:r>
            <a:endParaRPr lang="en-US" b="1" dirty="0"/>
          </a:p>
          <a:p>
            <a:r>
              <a:rPr lang="fr-FR" b="1" dirty="0"/>
              <a:t>engine/component/physics_component.cpp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27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1C18-A9E7-BECE-DE97-064C9C2F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🏗️ </a:t>
            </a:r>
            <a:r>
              <a:rPr lang="zh-CN" altLang="en-US" b="1" dirty="0"/>
              <a:t>设计模式：注册</a:t>
            </a:r>
            <a:r>
              <a:rPr lang="en-US" altLang="zh-CN" b="1" dirty="0"/>
              <a:t>-</a:t>
            </a:r>
            <a:r>
              <a:rPr lang="zh-CN" altLang="en-US" b="1" dirty="0"/>
              <a:t>通知模式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CF94-C413-011B-02B9-918759498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/>
              <a:t>这种 </a:t>
            </a:r>
            <a:r>
              <a:rPr lang="en-US" altLang="zh-CN" b="1" dirty="0"/>
              <a:t>"</a:t>
            </a:r>
            <a:r>
              <a:rPr lang="zh-CN" altLang="en-US" b="1" dirty="0"/>
              <a:t>组件向中心系统注册</a:t>
            </a:r>
            <a:r>
              <a:rPr lang="en-US" altLang="zh-CN" b="1" dirty="0"/>
              <a:t>"</a:t>
            </a:r>
            <a:r>
              <a:rPr lang="zh-CN" altLang="en-US" dirty="0"/>
              <a:t> 的设计模式非常重要，它实现了 </a:t>
            </a:r>
            <a:r>
              <a:rPr lang="zh-CN" altLang="en-US" b="1" dirty="0"/>
              <a:t>高内聚和低耦合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r>
              <a:rPr lang="en-US" sz="2200" dirty="0" err="1"/>
              <a:t>PhysicsEngine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↕️ </a:t>
            </a:r>
            <a:r>
              <a:rPr lang="zh-CN" altLang="en-US" sz="2200" dirty="0"/>
              <a:t>通过 </a:t>
            </a:r>
            <a:r>
              <a:rPr lang="en-US" sz="2200" dirty="0" err="1"/>
              <a:t>PhysicsComponent</a:t>
            </a:r>
            <a:r>
              <a:rPr lang="en-US" sz="2200" dirty="0"/>
              <a:t> </a:t>
            </a:r>
            <a:r>
              <a:rPr lang="zh-CN" altLang="en-US" sz="2200" dirty="0"/>
              <a:t>通信</a:t>
            </a:r>
          </a:p>
          <a:p>
            <a:pPr marL="0" indent="0">
              <a:buNone/>
            </a:pPr>
            <a:r>
              <a:rPr lang="en-US" sz="2200" dirty="0" err="1"/>
              <a:t>GameObject</a:t>
            </a:r>
            <a:endParaRPr lang="en-US" sz="2200" dirty="0"/>
          </a:p>
          <a:p>
            <a:endParaRPr lang="en-US" dirty="0"/>
          </a:p>
          <a:p>
            <a:pPr marL="0" indent="0">
              <a:buNone/>
            </a:pPr>
            <a:r>
              <a:rPr lang="zh-CN" altLang="en-US" dirty="0"/>
              <a:t>优势：</a:t>
            </a:r>
          </a:p>
          <a:p>
            <a:r>
              <a:rPr lang="en-US" altLang="zh-CN" dirty="0"/>
              <a:t>- </a:t>
            </a:r>
            <a:r>
              <a:rPr lang="en-US" dirty="0" err="1"/>
              <a:t>PhysicsEngine</a:t>
            </a:r>
            <a:r>
              <a:rPr lang="en-US" dirty="0"/>
              <a:t> </a:t>
            </a:r>
            <a:r>
              <a:rPr lang="zh-CN" altLang="en-US" dirty="0"/>
              <a:t>不需要知道 </a:t>
            </a:r>
            <a:r>
              <a:rPr lang="en-US" dirty="0" err="1"/>
              <a:t>GameObject</a:t>
            </a:r>
            <a:r>
              <a:rPr lang="en-US" dirty="0"/>
              <a:t> </a:t>
            </a:r>
            <a:r>
              <a:rPr lang="zh-CN" altLang="en-US" dirty="0"/>
              <a:t>的存在</a:t>
            </a:r>
          </a:p>
          <a:p>
            <a:r>
              <a:rPr lang="en-US" altLang="zh-CN" dirty="0"/>
              <a:t>- </a:t>
            </a:r>
            <a:r>
              <a:rPr lang="en-US" dirty="0" err="1"/>
              <a:t>GameObject</a:t>
            </a:r>
            <a:r>
              <a:rPr lang="en-US" dirty="0"/>
              <a:t> </a:t>
            </a:r>
            <a:r>
              <a:rPr lang="zh-CN" altLang="en-US" dirty="0"/>
              <a:t>不需要知道 </a:t>
            </a:r>
            <a:r>
              <a:rPr lang="en-US" dirty="0" err="1"/>
              <a:t>PhysicsEngine</a:t>
            </a:r>
            <a:r>
              <a:rPr lang="en-US" dirty="0"/>
              <a:t> </a:t>
            </a:r>
            <a:r>
              <a:rPr lang="zh-CN" altLang="en-US" dirty="0"/>
              <a:t>的存在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两者通过 </a:t>
            </a:r>
            <a:r>
              <a:rPr lang="en-US" dirty="0" err="1"/>
              <a:t>PhysicsComponent</a:t>
            </a:r>
            <a:r>
              <a:rPr lang="en-US" dirty="0"/>
              <a:t> </a:t>
            </a:r>
            <a:r>
              <a:rPr lang="zh-CN" altLang="en-US" dirty="0"/>
              <a:t>这个桥梁连接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34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35597-C121-A7D5-601F-60A1FBEB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95B441-5A5C-377A-BFFA-1D2DC800E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574445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669644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7137330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0235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依赖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097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PhysicsEngine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全局物理模拟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只知道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PhysicsComponent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85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PhysicsComponent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桥接层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连接 </a:t>
                      </a:r>
                      <a:r>
                        <a:rPr lang="en-US">
                          <a:effectLst/>
                        </a:rPr>
                        <a:t>Engine </a:t>
                      </a:r>
                      <a:r>
                        <a:rPr lang="zh-CN" altLang="en-US">
                          <a:effectLst/>
                        </a:rPr>
                        <a:t>和 </a:t>
                      </a:r>
                      <a:r>
                        <a:rPr lang="en-US">
                          <a:effectLst/>
                        </a:rPr>
                        <a:t>GameObject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586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GameObject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游戏实体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只管理组件，不知道 </a:t>
                      </a:r>
                      <a:r>
                        <a:rPr lang="en-US" dirty="0">
                          <a:effectLst/>
                        </a:rPr>
                        <a:t>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591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116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CCE3-9837-1151-67F7-D5BBAEB3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整合到引擎核心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AC133-F1D8-B0C7-2207-862097A46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我们需要在 </a:t>
            </a:r>
            <a:r>
              <a:rPr lang="en-US" dirty="0" err="1"/>
              <a:t>GameApp</a:t>
            </a:r>
            <a:r>
              <a:rPr lang="en-US" dirty="0"/>
              <a:t> </a:t>
            </a:r>
            <a:r>
              <a:rPr lang="zh-CN" altLang="en-US" dirty="0"/>
              <a:t>中创建 </a:t>
            </a:r>
            <a:r>
              <a:rPr lang="en-US" dirty="0" err="1"/>
              <a:t>PhysicsEngine</a:t>
            </a:r>
            <a:r>
              <a:rPr lang="en-US" dirty="0"/>
              <a:t> </a:t>
            </a:r>
            <a:r>
              <a:rPr lang="zh-CN" altLang="en-US" dirty="0"/>
              <a:t>实例，并通过 </a:t>
            </a:r>
            <a:r>
              <a:rPr lang="en-US" dirty="0"/>
              <a:t>Context </a:t>
            </a:r>
            <a:r>
              <a:rPr lang="zh-CN" altLang="en-US" dirty="0"/>
              <a:t>将其提供给游戏的其他部分。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b="1" dirty="0" err="1"/>
              <a:t>初始化</a:t>
            </a:r>
            <a:r>
              <a:rPr lang="en-US" b="1" dirty="0"/>
              <a:t> </a:t>
            </a:r>
            <a:r>
              <a:rPr lang="en-US" b="1" dirty="0" err="1"/>
              <a:t>PhysicsEngine</a:t>
            </a:r>
            <a:endParaRPr lang="en-US" b="1" dirty="0"/>
          </a:p>
          <a:p>
            <a:r>
              <a:rPr lang="en-US" b="1" dirty="0"/>
              <a:t>engine/core/</a:t>
            </a:r>
            <a:r>
              <a:rPr lang="en-US" b="1" dirty="0" err="1"/>
              <a:t>game_app.cpp（更新</a:t>
            </a:r>
            <a:r>
              <a:rPr lang="en-US" b="1" dirty="0"/>
              <a:t>）</a:t>
            </a:r>
          </a:p>
          <a:p>
            <a:endParaRPr lang="en-US" altLang="zh-CN" dirty="0"/>
          </a:p>
          <a:p>
            <a:r>
              <a:rPr lang="zh-CN" altLang="en-US" b="1" dirty="0"/>
              <a:t>更新 </a:t>
            </a:r>
            <a:r>
              <a:rPr lang="en-US" b="1" dirty="0"/>
              <a:t>Context</a:t>
            </a:r>
          </a:p>
          <a:p>
            <a:r>
              <a:rPr lang="zh-CN" altLang="en-US" dirty="0"/>
              <a:t>同时，更新 </a:t>
            </a:r>
            <a:r>
              <a:rPr lang="en-US" dirty="0"/>
              <a:t>Context </a:t>
            </a:r>
            <a:r>
              <a:rPr lang="zh-CN" altLang="en-US" dirty="0"/>
              <a:t>的构造函数，让它持有 </a:t>
            </a:r>
            <a:r>
              <a:rPr lang="en-US" dirty="0" err="1"/>
              <a:t>PhysicsEngine</a:t>
            </a:r>
            <a:r>
              <a:rPr lang="en-US" dirty="0"/>
              <a:t> </a:t>
            </a:r>
            <a:r>
              <a:rPr lang="zh-CN" altLang="en-US" dirty="0"/>
              <a:t>的引用。</a:t>
            </a:r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77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EA56-9623-52D4-D2E0-92A1CE53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2B503-3304-4883-FA29-FE48FD5AA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更新场景循环</a:t>
            </a:r>
          </a:p>
          <a:p>
            <a:r>
              <a:rPr lang="zh-CN" altLang="en-US" dirty="0"/>
              <a:t>最后，也是 </a:t>
            </a:r>
            <a:r>
              <a:rPr lang="zh-CN" altLang="en-US" b="1" dirty="0"/>
              <a:t>最重要的一步</a:t>
            </a:r>
            <a:r>
              <a:rPr lang="zh-CN" altLang="en-US" dirty="0"/>
              <a:t>，是在场景更新循环的 </a:t>
            </a:r>
            <a:r>
              <a:rPr lang="zh-CN" altLang="en-US" b="1" dirty="0"/>
              <a:t>最开始</a:t>
            </a:r>
            <a:r>
              <a:rPr lang="zh-CN" altLang="en-US" dirty="0"/>
              <a:t> 调用物理引擎的更新。</a:t>
            </a:r>
          </a:p>
          <a:p>
            <a:r>
              <a:rPr lang="en-US" b="1" dirty="0"/>
              <a:t>engine/scene/scene.cpp（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839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E29D-62E6-60E1-4C54-7F05BEAB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zh-CN" altLang="en-US" b="1" dirty="0"/>
              <a:t>⚠️ 更新顺序的重要性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2B1B1-CA93-65C5-867E-7B9CFEEFA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692"/>
            <a:ext cx="10515600" cy="506327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这个顺序 </a:t>
            </a:r>
            <a:r>
              <a:rPr lang="zh-CN" altLang="en-US" b="1" dirty="0"/>
              <a:t>至关重要</a:t>
            </a:r>
            <a:r>
              <a:rPr lang="zh-CN" altLang="en-US" dirty="0"/>
              <a:t>。我们必须保证在执行任何游戏逻辑（如 </a:t>
            </a:r>
            <a:r>
              <a:rPr lang="en-US" altLang="zh-CN" dirty="0"/>
              <a:t>AI</a:t>
            </a:r>
            <a:r>
              <a:rPr lang="zh-CN" altLang="en-US" dirty="0"/>
              <a:t>、玩家输入响应）之前，所有物体的位置都已经被物理引擎更新到了当前帧的最新状态。</a:t>
            </a:r>
          </a:p>
          <a:p>
            <a:pPr marL="0" indent="0">
              <a:buNone/>
            </a:pPr>
            <a:r>
              <a:rPr lang="zh-CN" altLang="en-US" dirty="0"/>
              <a:t>正确顺序：</a:t>
            </a:r>
          </a:p>
          <a:p>
            <a:pPr marL="0" indent="0">
              <a:buNone/>
            </a:pPr>
            <a:r>
              <a:rPr lang="en-US" altLang="zh-CN" dirty="0"/>
              <a:t>1️⃣ </a:t>
            </a:r>
            <a:r>
              <a:rPr lang="en-US" altLang="zh-CN" dirty="0" err="1"/>
              <a:t>PhysicsEngine.update</a:t>
            </a:r>
            <a:r>
              <a:rPr lang="en-US" altLang="zh-CN" dirty="0"/>
              <a:t>()    ← </a:t>
            </a:r>
            <a:r>
              <a:rPr lang="zh-CN" altLang="en-US" dirty="0"/>
              <a:t>更新所有物体的物理状态</a:t>
            </a:r>
          </a:p>
          <a:p>
            <a:pPr marL="0" indent="0">
              <a:buNone/>
            </a:pPr>
            <a:r>
              <a:rPr lang="en-US" altLang="zh-CN" dirty="0"/>
              <a:t>2️⃣ </a:t>
            </a:r>
            <a:r>
              <a:rPr lang="en-US" altLang="zh-CN" dirty="0" err="1"/>
              <a:t>GameObject.update</a:t>
            </a:r>
            <a:r>
              <a:rPr lang="en-US" altLang="zh-CN" dirty="0"/>
              <a:t>()       ← </a:t>
            </a:r>
            <a:r>
              <a:rPr lang="zh-CN" altLang="en-US" dirty="0"/>
              <a:t>执行游戏逻辑</a:t>
            </a:r>
          </a:p>
          <a:p>
            <a:pPr marL="0" indent="0">
              <a:buNone/>
            </a:pPr>
            <a:r>
              <a:rPr lang="en-US" altLang="zh-CN" dirty="0"/>
              <a:t>3️⃣ </a:t>
            </a:r>
            <a:r>
              <a:rPr lang="en-US" altLang="zh-CN" dirty="0" err="1"/>
              <a:t>GameObject.render</a:t>
            </a:r>
            <a:r>
              <a:rPr lang="en-US" altLang="zh-CN" dirty="0"/>
              <a:t>()       ← </a:t>
            </a:r>
            <a:r>
              <a:rPr lang="zh-CN" altLang="en-US" dirty="0"/>
              <a:t>渲染</a:t>
            </a:r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错误顺序会导致：</a:t>
            </a:r>
          </a:p>
          <a:p>
            <a:pPr marL="0" indent="0">
              <a:buNone/>
            </a:pPr>
            <a:r>
              <a:rPr lang="zh-CN" altLang="en-US" dirty="0"/>
              <a:t>❌ 物理状态和渲染不同步</a:t>
            </a:r>
          </a:p>
          <a:p>
            <a:pPr marL="0" indent="0">
              <a:buNone/>
            </a:pPr>
            <a:r>
              <a:rPr lang="zh-CN" altLang="en-US" dirty="0"/>
              <a:t>❌ 输入响应延迟一帧</a:t>
            </a:r>
          </a:p>
          <a:p>
            <a:pPr marL="0" indent="0">
              <a:buNone/>
            </a:pPr>
            <a:r>
              <a:rPr lang="zh-CN" altLang="en-US" dirty="0"/>
              <a:t>❌ 碰撞检测位置错误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07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9C29-9224-B709-6C46-F944266A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测试物理效果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358E5-9282-5E7B-0F02-8765E63BB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现在，让我们给 </a:t>
            </a:r>
            <a:r>
              <a:rPr lang="en-US" dirty="0" err="1"/>
              <a:t>GameScene</a:t>
            </a:r>
            <a:r>
              <a:rPr lang="en-US" dirty="0"/>
              <a:t> </a:t>
            </a:r>
            <a:r>
              <a:rPr lang="zh-CN" altLang="en-US" dirty="0"/>
              <a:t>中的测试箱子添加 </a:t>
            </a:r>
            <a:r>
              <a:rPr lang="en-US" dirty="0" err="1"/>
              <a:t>PhysicsComponent</a:t>
            </a:r>
            <a:r>
              <a:rPr lang="en-US" dirty="0"/>
              <a:t>，</a:t>
            </a:r>
            <a:r>
              <a:rPr lang="zh-CN" altLang="en-US" dirty="0"/>
              <a:t>看看会发生什么。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900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62F8-4DCC-0A90-7DE2-46D517B17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F0A6A-D3FB-174D-6B17-092377F2B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你会看到箱子在重力的作用下开始加速下落！</a:t>
            </a:r>
            <a:r>
              <a:rPr lang="zh-CN" altLang="en-US" dirty="0"/>
              <a:t> 你可以：</a:t>
            </a:r>
          </a:p>
          <a:p>
            <a:r>
              <a:rPr lang="zh-CN" altLang="en-US" dirty="0"/>
              <a:t>⬅️➡️ </a:t>
            </a:r>
            <a:r>
              <a:rPr lang="zh-CN" altLang="en-US" b="1" dirty="0"/>
              <a:t>按左右键</a:t>
            </a:r>
            <a:r>
              <a:rPr lang="zh-CN" altLang="en-US" dirty="0"/>
              <a:t>：直接移动箱子位置</a:t>
            </a:r>
          </a:p>
          <a:p>
            <a:r>
              <a:rPr lang="zh-CN" altLang="en-US" dirty="0"/>
              <a:t>⬆️ </a:t>
            </a:r>
            <a:r>
              <a:rPr lang="zh-CN" altLang="en-US" b="1" dirty="0"/>
              <a:t>按跳跃键（</a:t>
            </a:r>
            <a:r>
              <a:rPr lang="en-US" altLang="zh-CN" b="1" dirty="0"/>
              <a:t>J </a:t>
            </a:r>
            <a:r>
              <a:rPr lang="zh-CN" altLang="en-US" b="1" dirty="0"/>
              <a:t>或空格）</a:t>
            </a:r>
            <a:r>
              <a:rPr lang="zh-CN" altLang="en-US" dirty="0"/>
              <a:t>：给箱子一个向上的初速度，它会向上跳起然后再次落下</a:t>
            </a:r>
          </a:p>
          <a:p>
            <a:r>
              <a:rPr lang="zh-CN" altLang="en-US" dirty="0"/>
              <a:t>⚠️ </a:t>
            </a:r>
            <a:r>
              <a:rPr lang="zh-CN" altLang="en-US" b="1" dirty="0"/>
              <a:t>注意</a:t>
            </a:r>
            <a:r>
              <a:rPr lang="zh-CN" altLang="en-US" dirty="0"/>
              <a:t>：箱子现在会直接穿过地面（因为我们还没做碰撞检测），但这是正常的！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782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C037-A6EC-5530-DB65-B6179044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BBEC9-A92D-8E4E-A146-7C3112A42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完整的物理系统架构</a:t>
            </a:r>
            <a:endParaRPr lang="en-US" altLang="zh-CN" b="1" dirty="0"/>
          </a:p>
          <a:p>
            <a:pPr marL="0" indent="0">
              <a:buNone/>
            </a:pPr>
            <a:endParaRPr lang="zh-CN" alt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4AF2F-68D3-66DF-90F0-F66570B52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58" y="2329900"/>
            <a:ext cx="1962251" cy="236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22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02E0-966B-1320-34A0-A44527E7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6511-7A1A-F5AD-5674-692DCFD4B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我们成功地：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实现物理引擎</a:t>
            </a:r>
            <a:r>
              <a:rPr lang="zh-CN" altLang="en-US" dirty="0"/>
              <a:t>：全局的物理模拟系统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创建物理组件</a:t>
            </a:r>
            <a:r>
              <a:rPr lang="zh-CN" altLang="en-US" dirty="0"/>
              <a:t>：赋予 </a:t>
            </a:r>
            <a:r>
              <a:rPr lang="en-US" altLang="zh-CN" dirty="0" err="1"/>
              <a:t>GameObject</a:t>
            </a:r>
            <a:r>
              <a:rPr lang="en-US" altLang="zh-CN" dirty="0"/>
              <a:t> </a:t>
            </a:r>
            <a:r>
              <a:rPr lang="zh-CN" altLang="en-US" dirty="0"/>
              <a:t>物理属性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注册</a:t>
            </a:r>
            <a:r>
              <a:rPr lang="en-US" altLang="zh-CN" b="1" dirty="0"/>
              <a:t>-</a:t>
            </a:r>
            <a:r>
              <a:rPr lang="zh-CN" altLang="en-US" b="1" dirty="0"/>
              <a:t>通知模式</a:t>
            </a:r>
            <a:r>
              <a:rPr lang="zh-CN" altLang="en-US" dirty="0"/>
              <a:t>：高内聚低耦合的架构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欧拉积分</a:t>
            </a:r>
            <a:r>
              <a:rPr lang="zh-CN" altLang="en-US" dirty="0"/>
              <a:t>：基础的物理运动模拟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重力模拟</a:t>
            </a:r>
            <a:r>
              <a:rPr lang="zh-CN" altLang="en-US" dirty="0"/>
              <a:t>：物体自然下落效果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速度控制</a:t>
            </a:r>
            <a:r>
              <a:rPr lang="zh-CN" altLang="en-US" dirty="0"/>
              <a:t>：支持瞬时速度设置（跳跃）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52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DC19-89A4-EBDB-E5F4-FBF37C63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2FB51-69D2-3BDA-D6F1-71E88F0A4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320" y="1890089"/>
            <a:ext cx="8153819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42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F1629-A9BD-1D22-6199-3365408F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7822-87E0-B480-CE4A-BF8CA7CD7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4699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我们已经为游戏世界注入了物理规则，让它真正</a:t>
            </a:r>
            <a:r>
              <a:rPr lang="en-US" altLang="zh-CN" dirty="0"/>
              <a:t>"</a:t>
            </a:r>
            <a:r>
              <a:rPr lang="zh-CN" altLang="en-US" dirty="0"/>
              <a:t>动</a:t>
            </a:r>
            <a:r>
              <a:rPr lang="en-US" altLang="zh-CN" dirty="0"/>
              <a:t>"</a:t>
            </a:r>
            <a:r>
              <a:rPr lang="zh-CN" altLang="en-US" dirty="0"/>
              <a:t>起来了！</a:t>
            </a:r>
          </a:p>
          <a:p>
            <a:pPr marL="0" indent="0">
              <a:buNone/>
            </a:pPr>
            <a:r>
              <a:rPr lang="zh-CN" altLang="en-US" b="1" dirty="0"/>
              <a:t>关键要点：</a:t>
            </a:r>
            <a:endParaRPr lang="zh-CN" altLang="en-US" dirty="0"/>
          </a:p>
          <a:p>
            <a:r>
              <a:rPr lang="zh-CN" altLang="en-US" dirty="0"/>
              <a:t>⚙️ </a:t>
            </a:r>
            <a:r>
              <a:rPr lang="en-US" altLang="zh-CN" dirty="0" err="1"/>
              <a:t>PhysicsEngine</a:t>
            </a:r>
            <a:r>
              <a:rPr lang="en-US" altLang="zh-CN" dirty="0"/>
              <a:t> </a:t>
            </a:r>
            <a:r>
              <a:rPr lang="zh-CN" altLang="en-US" dirty="0"/>
              <a:t>管理全局物理模拟</a:t>
            </a:r>
          </a:p>
          <a:p>
            <a:r>
              <a:rPr lang="zh-CN" altLang="en-US" dirty="0"/>
              <a:t>🧩 </a:t>
            </a:r>
            <a:r>
              <a:rPr lang="en-US" altLang="zh-CN" dirty="0" err="1"/>
              <a:t>PhysicsComponent</a:t>
            </a:r>
            <a:r>
              <a:rPr lang="en-US" altLang="zh-CN" dirty="0"/>
              <a:t> </a:t>
            </a:r>
            <a:r>
              <a:rPr lang="zh-CN" altLang="en-US" dirty="0"/>
              <a:t>赋予对象物理属性</a:t>
            </a:r>
          </a:p>
          <a:p>
            <a:r>
              <a:rPr lang="zh-CN" altLang="en-US" dirty="0"/>
              <a:t>📐 欧拉积分实现基础物理运动</a:t>
            </a:r>
          </a:p>
          <a:p>
            <a:r>
              <a:rPr lang="zh-CN" altLang="en-US" dirty="0"/>
              <a:t>🌍 重力、速度、加速度完整模拟</a:t>
            </a:r>
          </a:p>
          <a:p>
            <a:r>
              <a:rPr lang="zh-CN" altLang="en-US" dirty="0"/>
              <a:t>🔗 注册</a:t>
            </a:r>
            <a:r>
              <a:rPr lang="en-US" altLang="zh-CN" dirty="0"/>
              <a:t>-</a:t>
            </a:r>
            <a:r>
              <a:rPr lang="zh-CN" altLang="en-US" dirty="0"/>
              <a:t>通知模式实现解耦</a:t>
            </a:r>
          </a:p>
          <a:p>
            <a:r>
              <a:rPr lang="zh-CN" altLang="en-US" dirty="0"/>
              <a:t>⏱️ 正确的更新顺序至关重要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37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54D8-DAA8-431E-FBD6-818C2A0D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95FF4-C5D1-D1E3-2907-F0B67F79B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从下一课开始，我们将为这个动态的世界添加碰撞检测，让物体不再穿透，让角色能够真正地站在地面</a:t>
            </a:r>
            <a:r>
              <a:rPr lang="zh-CN" altLang="en-US"/>
              <a:t>上！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2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1183</Words>
  <Application>Microsoft Office PowerPoint</Application>
  <PresentationFormat>Widescreen</PresentationFormat>
  <Paragraphs>145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-apple-system</vt:lpstr>
      <vt:lpstr>source-code-pro</vt:lpstr>
      <vt:lpstr>Aptos</vt:lpstr>
      <vt:lpstr>Aptos Display</vt:lpstr>
      <vt:lpstr>Arial</vt:lpstr>
      <vt:lpstr>Office Theme</vt:lpstr>
      <vt:lpstr>物理引擎与物理组件</vt:lpstr>
      <vt:lpstr>📌 问题背景</vt:lpstr>
      <vt:lpstr>⚙️ 静态世界 vs 动态世界</vt:lpstr>
      <vt:lpstr>🎯 本课目标</vt:lpstr>
      <vt:lpstr>PowerPoint Presentation</vt:lpstr>
      <vt:lpstr>1. PhysicsEngine：物理世界的"上帝"</vt:lpstr>
      <vt:lpstr>物理模拟流程</vt:lpstr>
      <vt:lpstr>PowerPoint Presentation</vt:lpstr>
      <vt:lpstr>🔑 关键实现：欧拉积分</vt:lpstr>
      <vt:lpstr>PowerPoint Presentation</vt:lpstr>
      <vt:lpstr>2. PhysicsComponent：赋予物体物理属性</vt:lpstr>
      <vt:lpstr>PowerPoint Presentation</vt:lpstr>
      <vt:lpstr>PowerPoint Presentation</vt:lpstr>
      <vt:lpstr>PowerPoint Presentation</vt:lpstr>
      <vt:lpstr>🏗️ 设计模式：注册-通知模式</vt:lpstr>
      <vt:lpstr>PowerPoint Presentation</vt:lpstr>
      <vt:lpstr>3. 整合到引擎核心</vt:lpstr>
      <vt:lpstr>PowerPoint Presentation</vt:lpstr>
      <vt:lpstr>⚠️ 更新顺序的重要性</vt:lpstr>
      <vt:lpstr>4. 测试物理效果</vt:lpstr>
      <vt:lpstr>PowerPoint Presentation</vt:lpstr>
      <vt:lpstr>🎯 系统架构总结</vt:lpstr>
      <vt:lpstr>核心成就</vt:lpstr>
      <vt:lpstr>PowerPoint Presentation</vt:lpstr>
      <vt:lpstr>📚 总结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2025-11-11T16:56:39Z</dcterms:created>
  <dcterms:modified xsi:type="dcterms:W3CDTF">2025-11-11T17:11:54Z</dcterms:modified>
</cp:coreProperties>
</file>