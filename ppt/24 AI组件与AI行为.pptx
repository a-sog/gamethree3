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59B7-ED6A-0E87-C16E-D9A590F3D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E3D40-F080-558D-4737-3CFEF538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C2852-7DEF-9307-4688-28CB34B66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E10E-101C-5FB9-CAE5-7D580C77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DA75-75FB-5C8D-A90D-45F2979B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7200-61D3-B45E-300F-965E8DB7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B66F5-6188-C3DD-2463-29C6F80B6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2F55F-34BC-887C-5B63-E84ACD51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36EFB-E1BF-D4F3-910B-16F92609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5200-C906-F193-8C20-4FF3FFA2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6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DD2D-4604-CB42-7278-0CCA9930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A75E2-A8D7-F8C6-7EAB-1969E7952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08AC-A6D9-1579-D76D-4F8DA6C1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A9E5F-9C0D-82F0-1D7C-2709C977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46371-9A06-FB62-2A23-8F581741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7F22-7313-64C3-3E55-49B2E08D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0196A-73D3-F795-4398-F856AF1E4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4B3D4-B263-83DE-E929-48FBD2408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D5EF4-2C8B-5BCD-5C21-47CFFE1E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4F621-659B-FBEE-E346-73C83E63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23B90-C376-CB41-6017-D8FA4ED5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1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DBF9-E336-7BB7-8987-4454C987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CB4A9-A7DD-3D6D-9FCC-65B52684E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974C3-E133-7114-C6E2-AAADE691B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77805-0349-6743-D188-552330FE1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10904-2300-F3C9-384C-69B85A6C4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EAAAB-74E9-3EE6-4AEA-F66F2412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23EF1-F267-1EF4-CA3F-1E585F36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10B5F-5D8A-1024-A88A-D3DEF5AC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7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5BB-2F68-8A29-BBE1-990B0F4A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ECD5-4014-325B-EF9A-39656545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EC4D6-FA7F-FA42-515A-7517D266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6789D-5189-2BE8-620A-0337ACA1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50079-9000-8664-D0BF-A918C08D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4C946-024C-7408-1FB2-8C648519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F63B-CEB3-92F3-F420-A93B7953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02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FFCD-02C3-57D8-6E2A-85819148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F973-7FE6-1109-871D-A5C0D5BB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5D4D3-9C08-4063-9436-58400FDFA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C8F0A-BAF5-9B25-DCEE-E1C4DF67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731F3-04A7-7CE9-CBFD-7E455703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3B90F-26F8-729F-4885-0B49CCD2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4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8091-BA5A-211A-FB2F-A2D631A5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43402-5DD1-5007-B9D1-CC6F65424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413D4-8643-73E1-D4D3-B55FC02F3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F0D51-5FDF-5C24-1CF9-C4A00E41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CC5A-0A92-7FCC-6356-74AA8E8C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5F41D-BFC2-3B58-AA1A-61BDBB07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65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E25-9BE2-B15F-A401-188F2DC9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75529-2C77-9F82-23F0-716423A66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D75E-99D9-8091-BF71-FF3DEEC2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E808-E5D2-1481-8C3B-6231540F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AB149-4A5E-0FC9-DCCA-8BB5C87DC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7D14D-6C3F-06C7-BCE8-D8D7C9E80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380E9-5D90-3477-F877-0830357D7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7A8E-AEA5-3CD0-B784-618B6E6B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76836-37FF-9A46-B961-5C72FD02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8820E-D6ED-D610-43A0-D639A191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1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0490C-D4D4-A66A-B5E4-4FA7B1B3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C8D61-1FC2-CB61-D3DD-ED8B93964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DCC31-E266-4BB6-DC43-6E3AECB69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19326-07DB-4232-8B3A-FF70CEECAF3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AB46-6BA0-4A2D-B8FE-AA78755F2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B31E-3835-787A-831B-616C081F4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FCFDB-8A3C-4D62-8BF8-6F762DCD8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9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8D78-9A62-3244-1543-59E9BD3B2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</a:t>
            </a:r>
            <a:r>
              <a:rPr lang="zh-CN" altLang="en-US" b="1" dirty="0"/>
              <a:t>组件与</a:t>
            </a:r>
            <a:r>
              <a:rPr lang="en-US" b="1" dirty="0"/>
              <a:t>AI</a:t>
            </a:r>
            <a:r>
              <a:rPr lang="zh-CN" altLang="en-US" b="1" dirty="0"/>
              <a:t>行为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A9D82-271A-B614-5B1D-3F70C6F0A2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9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2DE0-2083-E458-50C9-129695B5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DA105-C64E-772A-68BF-C0C386A2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我们已经实现了玩家与敌人的交互系统，玩家可以踩踏敌人。但目前敌人只是静止的</a:t>
            </a:r>
            <a:r>
              <a:rPr lang="en-US" altLang="zh-CN" dirty="0"/>
              <a:t>"</a:t>
            </a:r>
            <a:r>
              <a:rPr lang="zh-CN" altLang="en-US" dirty="0"/>
              <a:t>活靶子</a:t>
            </a:r>
            <a:r>
              <a:rPr lang="en-US" altLang="zh-CN" dirty="0"/>
              <a:t>"</a:t>
            </a:r>
            <a:r>
              <a:rPr lang="zh-CN" altLang="en-US" dirty="0"/>
              <a:t>，毫无威胁性。一个优秀的平台游戏需要敌人能够移动、巡逻、甚至追击玩家。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1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C962-8C6B-E192-34B3-5E3851C7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A1DAA4-BD11-ACFD-119D-7A1D3E5D4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605839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8082909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098638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4708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31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敌人静止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所有敌人都在原地不动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缺少动态挑战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0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行为单一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无法实现不同的敌人行为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游戏缺乏多样性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26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难以扩展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用 </a:t>
                      </a:r>
                      <a:r>
                        <a:rPr lang="en-US">
                          <a:effectLst/>
                        </a:rPr>
                        <a:t>if-else </a:t>
                      </a:r>
                      <a:r>
                        <a:rPr lang="zh-CN" altLang="en-US">
                          <a:effectLst/>
                        </a:rPr>
                        <a:t>处理所有逻辑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代码难以维护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870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耦合严重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行为逻辑混杂在一起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无法灵活切换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792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82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BE10-6B07-50F0-D27F-91122423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解决方案：策略模式的</a:t>
            </a:r>
            <a:r>
              <a:rPr lang="en-US" altLang="zh-CN" b="1" dirty="0"/>
              <a:t>AI</a:t>
            </a:r>
            <a:r>
              <a:rPr lang="zh-CN" altLang="en-US" b="1" dirty="0"/>
              <a:t>系统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1EDF0-1BC6-92FE-20F2-25BA7D401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核心思想</a:t>
            </a:r>
            <a:r>
              <a:rPr lang="zh-CN" altLang="en-US" dirty="0"/>
              <a:t>： 游戏中的敌人行为千差万别：有的只会在地面巡逻，有的会在空中上下飞，有的则会跳来跳去。如果我们试图用一个巨大的 </a:t>
            </a:r>
            <a:r>
              <a:rPr lang="en-US" altLang="zh-CN" dirty="0" err="1"/>
              <a:t>EnemyComponent</a:t>
            </a:r>
            <a:r>
              <a:rPr lang="zh-CN" altLang="en-US" dirty="0"/>
              <a:t> 加上复杂的 </a:t>
            </a:r>
            <a:r>
              <a:rPr lang="en-US" altLang="zh-CN" dirty="0"/>
              <a:t>if-else </a:t>
            </a:r>
            <a:r>
              <a:rPr lang="zh-CN" altLang="en-US" dirty="0"/>
              <a:t>或 </a:t>
            </a:r>
            <a:r>
              <a:rPr lang="en-US" altLang="zh-CN" dirty="0"/>
              <a:t>switch </a:t>
            </a:r>
            <a:r>
              <a:rPr lang="zh-CN" altLang="en-US" dirty="0"/>
              <a:t>来处理所有逻辑，代码很快会变得难以维护和扩展。</a:t>
            </a:r>
          </a:p>
          <a:p>
            <a:pPr marL="0" indent="0">
              <a:buNone/>
            </a:pPr>
            <a:r>
              <a:rPr lang="zh-CN" altLang="en-US" dirty="0"/>
              <a:t>这时，</a:t>
            </a:r>
            <a:r>
              <a:rPr lang="zh-CN" altLang="en-US" b="1" dirty="0"/>
              <a:t>策略设计模式</a:t>
            </a:r>
            <a:r>
              <a:rPr lang="zh-CN" altLang="en-US" dirty="0"/>
              <a:t> 就派上了用场：</a:t>
            </a:r>
          </a:p>
          <a:p>
            <a:r>
              <a:rPr lang="zh-CN" altLang="en-US" b="1" dirty="0"/>
              <a:t>定义一系列算法（策略）</a:t>
            </a:r>
            <a:r>
              <a:rPr lang="zh-CN" altLang="en-US" dirty="0"/>
              <a:t>：将每种</a:t>
            </a:r>
            <a:r>
              <a:rPr lang="en-US" altLang="zh-CN" dirty="0"/>
              <a:t>AI</a:t>
            </a:r>
            <a:r>
              <a:rPr lang="zh-CN" altLang="en-US" dirty="0"/>
              <a:t>行为（巡逻、飞行、跳跃）分别封装在独立的类中</a:t>
            </a:r>
          </a:p>
          <a:p>
            <a:r>
              <a:rPr lang="zh-CN" altLang="en-US" b="1" dirty="0"/>
              <a:t>使它们可以互换</a:t>
            </a:r>
            <a:r>
              <a:rPr lang="zh-CN" altLang="en-US" dirty="0"/>
              <a:t>：让这些算法类实现一个共同的接口</a:t>
            </a:r>
          </a:p>
          <a:p>
            <a:r>
              <a:rPr lang="zh-CN" altLang="en-US" b="1" dirty="0"/>
              <a:t>客户端与算法分离</a:t>
            </a:r>
            <a:r>
              <a:rPr lang="zh-CN" altLang="en-US" dirty="0"/>
              <a:t>：</a:t>
            </a:r>
            <a:r>
              <a:rPr lang="en-US" altLang="zh-CN" dirty="0"/>
              <a:t>AI</a:t>
            </a:r>
            <a:r>
              <a:rPr lang="zh-CN" altLang="en-US" dirty="0"/>
              <a:t>的持有者只依赖于接口，而不知道具体使用的是哪个算法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264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0942-996A-E295-51B5-7DBC9E39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8A131-FBE6-7AA7-FD1A-34FC86F6B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121" y="319210"/>
            <a:ext cx="4688802" cy="596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4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FEEF-A675-CC0C-D745-5C85E76D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0A0F20-7B4B-4574-735D-B7F9CDAC4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629" y="828186"/>
            <a:ext cx="8804031" cy="490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75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7C0F-FC28-D4B9-D294-2E75F81B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3ADA7A-68EC-0D5E-8C31-7B5630501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07678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203236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50595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67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学习策略设计模式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理解策略模式的核心思想并应用于</a:t>
                      </a:r>
                      <a:r>
                        <a:rPr lang="en-US" altLang="zh-CN">
                          <a:effectLst/>
                        </a:rPr>
                        <a:t>AI</a:t>
                      </a:r>
                      <a:r>
                        <a:rPr lang="zh-CN" altLang="en-US">
                          <a:effectLst/>
                        </a:rPr>
                        <a:t>系统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39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构建</a:t>
                      </a:r>
                      <a:r>
                        <a:rPr lang="en-US" altLang="zh-CN" b="1">
                          <a:effectLst/>
                        </a:rPr>
                        <a:t>AI</a:t>
                      </a:r>
                      <a:r>
                        <a:rPr lang="zh-CN" altLang="en-US" b="1">
                          <a:effectLst/>
                        </a:rPr>
                        <a:t>组件框架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创建 </a:t>
                      </a:r>
                      <a:r>
                        <a:rPr lang="en-US">
                          <a:effectLst/>
                        </a:rPr>
                        <a:t>AIComponent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AIBehavior </a:t>
                      </a:r>
                      <a:r>
                        <a:rPr lang="zh-CN" altLang="en-US">
                          <a:effectLst/>
                        </a:rPr>
                        <a:t>基类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72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实现多种</a:t>
                      </a:r>
                      <a:r>
                        <a:rPr lang="en-US" altLang="zh-CN" b="1">
                          <a:effectLst/>
                        </a:rPr>
                        <a:t>AI</a:t>
                      </a:r>
                      <a:r>
                        <a:rPr lang="zh-CN" altLang="en-US" b="1">
                          <a:effectLst/>
                        </a:rPr>
                        <a:t>行为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巡逻、飞行、跳跃三种行为策略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076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动态装配</a:t>
                      </a:r>
                      <a:r>
                        <a:rPr lang="en-US" b="1">
                          <a:effectLst/>
                        </a:rPr>
                        <a:t>AI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在场景中为敌人配置不同的</a:t>
                      </a:r>
                      <a:r>
                        <a:rPr lang="en-US" altLang="zh-CN" dirty="0">
                          <a:effectLst/>
                        </a:rPr>
                        <a:t>AI</a:t>
                      </a:r>
                      <a:r>
                        <a:rPr lang="zh-CN" altLang="en-US" dirty="0">
                          <a:effectLst/>
                        </a:rPr>
                        <a:t>行为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101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24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FC4C-9DDC-77AF-6DC2-9C393C87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第一部分：架构设计与核心框架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99354C-CF67-262B-3C43-A0CC1D183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58417"/>
            <a:ext cx="3168813" cy="4134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66699-1DED-4366-2CEE-D3C1DEEE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910" y="1758417"/>
            <a:ext cx="3225966" cy="261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3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EA0D-F9C1-4CB4-18FB-F011D3E4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架构三要素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C61B37-1B5B-8850-73E2-0660BE2AA7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059837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013189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925282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614529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89376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组件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22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AIComponent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上下文 </a:t>
                      </a:r>
                      <a:r>
                        <a:rPr lang="en-US">
                          <a:effectLst/>
                        </a:rPr>
                        <a:t>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持有并调用策略对象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不包含具体逻辑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605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AIBehavior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策略接口 </a:t>
                      </a:r>
                      <a:r>
                        <a:rPr lang="en-US">
                          <a:effectLst/>
                        </a:rPr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定义行为的抽象接口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纯虚基类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155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具体行为类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具体策略 </a:t>
                      </a:r>
                      <a:r>
                        <a:rPr lang="en-US">
                          <a:effectLst/>
                        </a:rPr>
                        <a:t>Concrete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实现具体的</a:t>
                      </a:r>
                      <a:r>
                        <a:rPr lang="en-US" altLang="zh-CN">
                          <a:effectLst/>
                        </a:rPr>
                        <a:t>AI</a:t>
                      </a:r>
                      <a:r>
                        <a:rPr lang="zh-CN" altLang="en-US">
                          <a:effectLst/>
                        </a:rPr>
                        <a:t>逻辑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PatrolBehavior</a:t>
                      </a:r>
                      <a:r>
                        <a:rPr lang="zh-CN" altLang="en-US" dirty="0">
                          <a:effectLst/>
                        </a:rPr>
                        <a:t>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807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287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EF6A-9029-3AFF-E041-8D4ED268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5056A5-D695-6153-DC71-506EB87EF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700" y="365125"/>
            <a:ext cx="3302170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7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F95D-FB62-D77C-6837-EA8C7D11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行为接口：</a:t>
            </a:r>
            <a:r>
              <a:rPr lang="en-US" b="1" dirty="0" err="1"/>
              <a:t>AIBehavior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0F05-F8EC-990D-8244-182B9E18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我们首先来创建 </a:t>
            </a:r>
            <a:r>
              <a:rPr lang="en-US" dirty="0" err="1"/>
              <a:t>AIBehavior</a:t>
            </a:r>
            <a:r>
              <a:rPr lang="en-US" dirty="0"/>
              <a:t> </a:t>
            </a:r>
            <a:r>
              <a:rPr lang="zh-CN" altLang="en-US" dirty="0"/>
              <a:t>抽象基类，它是所有具体</a:t>
            </a:r>
            <a:r>
              <a:rPr lang="en-US" dirty="0"/>
              <a:t>AI</a:t>
            </a:r>
            <a:r>
              <a:rPr lang="zh-CN" altLang="en-US" dirty="0"/>
              <a:t>行为的接口。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</a:t>
            </a:r>
            <a:r>
              <a:rPr lang="en-US" b="1" dirty="0" err="1"/>
              <a:t>ai_behavior.h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620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3C71C-4A5A-EC96-0BE1-A55A9064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接口设计要点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8F4C2D-D299-B956-61A8-65C270C746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959811"/>
              </p:ext>
            </p:extLst>
          </p:nvPr>
        </p:nvGraphicFramePr>
        <p:xfrm>
          <a:off x="838200" y="1825625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742453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405462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15030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65326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76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enter()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虚函数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行为初始化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可选实现，行为切换时调用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722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纯虚函数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行为逻辑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必须实现，每帧调用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36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64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F226-1030-A38F-E5EA-328EE442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B90FE-3DF4-5ADF-AD22-9278A3512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933092" cy="524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20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747B9-7013-5C10-FEB2-2C61A567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设计细节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408E-A515-6BAE-9380-0096A862A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/>
              <a:t>为什么不保存 </a:t>
            </a:r>
            <a:r>
              <a:rPr lang="en-US" b="1"/>
              <a:t>owner </a:t>
            </a:r>
            <a:r>
              <a:rPr lang="zh-CN" altLang="en-US" b="1"/>
              <a:t>指针？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419B5-C0D4-7ACF-2C39-3461D688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46" y="2342124"/>
            <a:ext cx="5454930" cy="1892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9FB376-C52A-4147-F31A-D2FBD3E272E6}"/>
              </a:ext>
            </a:extLst>
          </p:cNvPr>
          <p:cNvSpPr txBox="1"/>
          <p:nvPr/>
        </p:nvSpPr>
        <p:spPr>
          <a:xfrm>
            <a:off x="1060939" y="46055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优势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降低耦合：行为不持有组件指针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灵活性高：同一个行为实例可用于多个组件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生命周期清晰：无需管理指针有效性</a:t>
            </a:r>
          </a:p>
        </p:txBody>
      </p:sp>
    </p:spTree>
    <p:extLst>
      <p:ext uri="{BB962C8B-B14F-4D97-AF65-F5344CB8AC3E}">
        <p14:creationId xmlns:p14="http://schemas.microsoft.com/office/powerpoint/2010/main" val="2969138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1ADD-FD8F-9154-5A03-C0387680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AI</a:t>
            </a:r>
            <a:r>
              <a:rPr lang="zh-CN" altLang="en-US" b="1" dirty="0"/>
              <a:t>大脑：</a:t>
            </a:r>
            <a:r>
              <a:rPr lang="en-US" b="1" dirty="0" err="1"/>
              <a:t>AIComponent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0F82B-7F05-7C16-8BCD-3B22C691B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AIComponent</a:t>
            </a:r>
            <a:r>
              <a:rPr lang="en-US" dirty="0"/>
              <a:t> </a:t>
            </a:r>
            <a:r>
              <a:rPr lang="zh-CN" altLang="en-US" dirty="0"/>
              <a:t>是</a:t>
            </a:r>
            <a:r>
              <a:rPr lang="en-US" dirty="0"/>
              <a:t>AI</a:t>
            </a:r>
            <a:r>
              <a:rPr lang="zh-CN" altLang="en-US" dirty="0"/>
              <a:t>系统的核心管理者，它持有一个 </a:t>
            </a:r>
            <a:r>
              <a:rPr lang="en-US" dirty="0" err="1"/>
              <a:t>AIBehavior</a:t>
            </a:r>
            <a:r>
              <a:rPr lang="en-US" dirty="0"/>
              <a:t> </a:t>
            </a:r>
            <a:r>
              <a:rPr lang="zh-CN" altLang="en-US" dirty="0"/>
              <a:t>策略对象，并在每帧将工作委托给它。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</a:t>
            </a:r>
            <a:r>
              <a:rPr lang="en-US" b="1" dirty="0" err="1"/>
              <a:t>ai_component.h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314B3-E7EC-2A05-BF59-E02041E8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2720"/>
            <a:ext cx="3226133" cy="332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6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CDE1-EE70-F2AA-86A9-4EEB6530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102773-5AB0-E778-96D2-EF2535897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549866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5313260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387348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51076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83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策略持有者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unique_ptr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管理行为对象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自动内存管理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96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组件缓存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缓存常用组件指针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避免重复查找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55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工作委托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 </a:t>
                      </a:r>
                      <a:r>
                        <a:rPr lang="en-US">
                          <a:effectLst/>
                        </a:rPr>
                        <a:t>update </a:t>
                      </a:r>
                      <a:r>
                        <a:rPr lang="zh-CN" altLang="en-US">
                          <a:effectLst/>
                        </a:rPr>
                        <a:t>委托给策略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解耦逻辑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8624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366CC1-4F47-2972-D564-65DC16CCC3B6}"/>
              </a:ext>
            </a:extLst>
          </p:cNvPr>
          <p:cNvSpPr txBox="1"/>
          <p:nvPr/>
        </p:nvSpPr>
        <p:spPr>
          <a:xfrm>
            <a:off x="1066800" y="37953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 err="1">
                <a:solidFill>
                  <a:srgbClr val="333333"/>
                </a:solidFill>
                <a:effectLst/>
                <a:latin typeface="-apple-system"/>
              </a:rPr>
              <a:t>src</a:t>
            </a:r>
            <a:r>
              <a:rPr lang="en-US" b="1" i="0" dirty="0">
                <a:solidFill>
                  <a:srgbClr val="333333"/>
                </a:solidFill>
                <a:effectLst/>
                <a:latin typeface="-apple-system"/>
              </a:rPr>
              <a:t>/game/component/ai_component.cpp（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实现）</a:t>
            </a:r>
          </a:p>
        </p:txBody>
      </p:sp>
    </p:spTree>
    <p:extLst>
      <p:ext uri="{BB962C8B-B14F-4D97-AF65-F5344CB8AC3E}">
        <p14:creationId xmlns:p14="http://schemas.microsoft.com/office/powerpoint/2010/main" val="177569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7E0D-8B9D-7F58-4B23-0045661E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213A48-9746-37E1-A862-BEF0D96B2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415" y="1808041"/>
            <a:ext cx="272846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469B3F-5FB6-F324-6146-8DBF32264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626" y="1859230"/>
            <a:ext cx="2952902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64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741F-5860-9C14-F8D0-CB60E921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第二部分：实现具体</a:t>
            </a:r>
            <a:r>
              <a:rPr lang="en-US" altLang="zh-CN" b="1" dirty="0"/>
              <a:t>AI</a:t>
            </a:r>
            <a:r>
              <a:rPr lang="zh-CN" altLang="en-US" b="1" dirty="0"/>
              <a:t>行为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BCE7C-F4F0-FC3F-7570-CC397BCF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现在我们来创建三个具体的行为策略，分别对应三种不同的敌人类型。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19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2C35-D9BA-C743-98B1-C7A26DF8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左右巡逻：</a:t>
            </a:r>
            <a:r>
              <a:rPr lang="en-US" b="1" dirty="0" err="1"/>
              <a:t>PatrolBehavior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926E-D0BC-FA07-CFDF-FFEA3D17F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这个行为会让敌人（如负鼠）在一个指定的水平范围内来回移动。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</a:t>
            </a:r>
            <a:r>
              <a:rPr lang="en-US" b="1" dirty="0" err="1"/>
              <a:t>patrol_behavior.h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/game/component/ai/patrol_behavior.cpp（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AEC53-BDAD-21DE-0403-B0401A1C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16" y="3371699"/>
            <a:ext cx="3219615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1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928A1-530D-C4A7-AD34-38F46193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转向判断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3E1E28-D86E-BFC5-437E-17B754082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43828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29075365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693969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7760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动作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820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hasCollidedRight()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向左转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撞到右侧墙壁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63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current_x &gt;= max_x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向左转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到达右边界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914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hasCollidedLeft()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向右转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撞到左侧墙壁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3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current_x &lt;= min_x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向右转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到达左边界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525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000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437D-8293-BCA7-5C18-B8F27B20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上下飞行：</a:t>
            </a:r>
            <a:r>
              <a:rPr lang="en-US" b="1" dirty="0" err="1"/>
              <a:t>UpDownBehavior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ADA1B-F0F6-CFBE-B2F9-BC393792A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用于老鹰这类飞行敌人，在垂直方向上来回移动。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</a:t>
            </a:r>
            <a:r>
              <a:rPr lang="en-US" b="1" dirty="0" err="1"/>
              <a:t>updown_behavior.h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</a:t>
            </a:r>
            <a:r>
              <a:rPr lang="en-US" b="1" dirty="0" err="1"/>
              <a:t>updown_behavior.cpp（新建文件</a:t>
            </a:r>
            <a:r>
              <a:rPr lang="en-US" b="1" dirty="0"/>
              <a:t>）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💡 </a:t>
            </a:r>
            <a:r>
              <a:rPr lang="zh-CN" altLang="en-US" dirty="0">
                <a:solidFill>
                  <a:srgbClr val="FF0000"/>
                </a:solidFill>
              </a:rPr>
              <a:t>核心机制：禁用重力</a:t>
            </a:r>
          </a:p>
          <a:p>
            <a:r>
              <a:rPr lang="en-US" dirty="0"/>
              <a:t>pc-&gt;</a:t>
            </a:r>
            <a:r>
              <a:rPr lang="en-US" dirty="0" err="1"/>
              <a:t>setUseGravity</a:t>
            </a:r>
            <a:r>
              <a:rPr lang="en-US" dirty="0"/>
              <a:t>(false);  </a:t>
            </a:r>
          </a:p>
        </p:txBody>
      </p:sp>
    </p:spTree>
    <p:extLst>
      <p:ext uri="{BB962C8B-B14F-4D97-AF65-F5344CB8AC3E}">
        <p14:creationId xmlns:p14="http://schemas.microsoft.com/office/powerpoint/2010/main" val="3966346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3BDE-80A9-916B-47CF-C3AC23A2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7212D8-ECE9-6D7A-B07B-31AF4DF35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535" y="409305"/>
            <a:ext cx="8122067" cy="33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40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71DD-3533-81CE-27F2-E86BE114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周期跳跃：</a:t>
            </a:r>
            <a:r>
              <a:rPr lang="en-US" b="1" dirty="0" err="1"/>
              <a:t>JumpBehavior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C61C2-8105-0F23-882F-DC26FD7CF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这是最复杂的行为，用于青蛙。它模拟了</a:t>
            </a:r>
            <a:r>
              <a:rPr lang="en-US" altLang="zh-CN" dirty="0"/>
              <a:t>"</a:t>
            </a:r>
            <a:r>
              <a:rPr lang="zh-CN" altLang="en-US" dirty="0"/>
              <a:t>在地面等待 </a:t>
            </a:r>
            <a:r>
              <a:rPr lang="en-US" altLang="zh-CN" dirty="0"/>
              <a:t>- </a:t>
            </a:r>
            <a:r>
              <a:rPr lang="zh-CN" altLang="en-US" dirty="0"/>
              <a:t>跳跃 </a:t>
            </a:r>
            <a:r>
              <a:rPr lang="en-US" altLang="zh-CN" dirty="0"/>
              <a:t>- </a:t>
            </a:r>
            <a:r>
              <a:rPr lang="zh-CN" altLang="en-US" dirty="0"/>
              <a:t>落地 </a:t>
            </a:r>
            <a:r>
              <a:rPr lang="en-US" altLang="zh-CN" dirty="0"/>
              <a:t>- </a:t>
            </a:r>
            <a:r>
              <a:rPr lang="zh-CN" altLang="en-US" dirty="0"/>
              <a:t>等待</a:t>
            </a:r>
            <a:r>
              <a:rPr lang="en-US" altLang="zh-CN" dirty="0"/>
              <a:t>..."</a:t>
            </a:r>
            <a:r>
              <a:rPr lang="zh-CN" altLang="en-US" dirty="0"/>
              <a:t>的循环。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</a:t>
            </a:r>
            <a:r>
              <a:rPr lang="en-US" b="1" dirty="0" err="1"/>
              <a:t>jump_behavior.h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/game/component/ai/jump_behavior.cpp（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877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2859-D454-BA75-5F84-886A21CA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1DB4F5-C698-DF38-6F33-AD65F253A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054" y="184393"/>
            <a:ext cx="2781746" cy="612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92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6264-FC26-E1C2-BC51-8D15FAAC7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复杂度对比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BEC3BD-BC41-FD89-1461-0E0E2DF96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637555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4541574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27909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385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行为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复杂度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31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PatrolBehavior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⭐ </a:t>
                      </a:r>
                      <a:r>
                        <a:rPr lang="zh-CN" altLang="en-US">
                          <a:effectLst/>
                        </a:rPr>
                        <a:t>简单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只需边界检测和转向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40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UpDownBehavior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⭐⭐ </a:t>
                      </a:r>
                      <a:r>
                        <a:rPr lang="zh-CN" altLang="en-US">
                          <a:effectLst/>
                        </a:rPr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需要关闭重力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996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JumpBehavior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⭐⭐⭐ </a:t>
                      </a:r>
                      <a:r>
                        <a:rPr lang="zh-CN" altLang="en-US">
                          <a:effectLst/>
                        </a:rPr>
                        <a:t>复杂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内置状态机 </a:t>
                      </a:r>
                      <a:r>
                        <a:rPr lang="en-US" altLang="zh-CN" dirty="0">
                          <a:effectLst/>
                        </a:rPr>
                        <a:t>+ </a:t>
                      </a:r>
                      <a:r>
                        <a:rPr lang="zh-CN" altLang="en-US" dirty="0">
                          <a:effectLst/>
                        </a:rPr>
                        <a:t>计时器 </a:t>
                      </a:r>
                      <a:r>
                        <a:rPr lang="en-US" altLang="zh-CN" dirty="0">
                          <a:effectLst/>
                        </a:rPr>
                        <a:t>+ </a:t>
                      </a:r>
                      <a:r>
                        <a:rPr lang="zh-CN" altLang="en-US" dirty="0">
                          <a:effectLst/>
                        </a:rPr>
                        <a:t>方向判断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13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74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260B-AAB4-6314-458A-D7B31C9A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第三部分：在场景中装配</a:t>
            </a:r>
            <a:r>
              <a:rPr lang="en-US" altLang="zh-CN" b="1" dirty="0"/>
              <a:t>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B54F-35C7-0F03-C080-B8E911F82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现在我们万事俱备，只差最后一步：在 </a:t>
            </a:r>
            <a:r>
              <a:rPr lang="en-US" altLang="zh-CN" dirty="0" err="1"/>
              <a:t>GameScene</a:t>
            </a:r>
            <a:r>
              <a:rPr lang="zh-CN" altLang="en-US" dirty="0"/>
              <a:t> 中为从地图加载的敌人装上我们写好的</a:t>
            </a:r>
            <a:r>
              <a:rPr lang="en-US" altLang="zh-CN" dirty="0"/>
              <a:t>AI</a:t>
            </a:r>
            <a:r>
              <a:rPr lang="zh-CN" altLang="en-US" dirty="0"/>
              <a:t>大脑和行为。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15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304E-C11A-2C97-8592-BF8C030F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 </a:t>
            </a:r>
            <a:r>
              <a:rPr lang="zh-CN" altLang="en-US" b="1" dirty="0"/>
              <a:t>动态装配</a:t>
            </a:r>
            <a:r>
              <a:rPr lang="en-US" b="1" dirty="0"/>
              <a:t>AI</a:t>
            </a:r>
            <a:r>
              <a:rPr lang="zh-CN" altLang="en-US" b="1" dirty="0"/>
              <a:t>系统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0FBD3-9BE7-E89D-3ED9-59184F1DA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我们在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的 </a:t>
            </a:r>
            <a:r>
              <a:rPr lang="en-US" dirty="0" err="1"/>
              <a:t>initEnemyAndItem</a:t>
            </a:r>
            <a:r>
              <a:rPr lang="en-US" dirty="0"/>
              <a:t> </a:t>
            </a:r>
            <a:r>
              <a:rPr lang="zh-CN" altLang="en-US" dirty="0"/>
              <a:t>函数中为每个敌人添加 </a:t>
            </a:r>
            <a:r>
              <a:rPr lang="en-US" dirty="0" err="1"/>
              <a:t>AIComponent</a:t>
            </a:r>
            <a:r>
              <a:rPr lang="en-US" dirty="0"/>
              <a:t> </a:t>
            </a:r>
            <a:r>
              <a:rPr lang="zh-CN" altLang="en-US" dirty="0"/>
              <a:t>并配置相应的行为。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070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D568-AB87-D5DE-3A8B-E73E39EC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562FD2-C3A3-8E47-2309-E0D909376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3411415" cy="685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49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4F91-BB75-A362-8ECC-8FB40B0C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D0BE46-8786-C796-42FA-D86B52681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762" y="1473932"/>
            <a:ext cx="2876746" cy="523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08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0A3A-2DC4-7ED4-C62C-E57E4611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CAFE-F7FC-796C-1372-27ADC3DE2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学习了策略设计模式</a:t>
            </a:r>
            <a:r>
              <a:rPr lang="zh-CN" altLang="en-US" dirty="0"/>
              <a:t>：理解了其核心思想和优势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构建了</a:t>
            </a:r>
            <a:r>
              <a:rPr lang="en-US" altLang="zh-CN" b="1" dirty="0"/>
              <a:t>AI</a:t>
            </a:r>
            <a:r>
              <a:rPr lang="zh-CN" altLang="en-US" b="1" dirty="0"/>
              <a:t>组件框架</a:t>
            </a:r>
            <a:r>
              <a:rPr lang="zh-CN" altLang="en-US" dirty="0"/>
              <a:t>：</a:t>
            </a:r>
            <a:r>
              <a:rPr lang="en-US" altLang="zh-CN" dirty="0" err="1"/>
              <a:t>AIComponent</a:t>
            </a:r>
            <a:r>
              <a:rPr lang="en-US" altLang="zh-CN" dirty="0"/>
              <a:t> + </a:t>
            </a:r>
            <a:r>
              <a:rPr lang="en-US" altLang="zh-CN" dirty="0" err="1"/>
              <a:t>AIBehavior</a:t>
            </a:r>
            <a:endParaRPr lang="en-US" altLang="zh-CN" dirty="0"/>
          </a:p>
          <a:p>
            <a:r>
              <a:rPr lang="en-US" altLang="zh-CN" dirty="0"/>
              <a:t>✅ </a:t>
            </a:r>
            <a:r>
              <a:rPr lang="zh-CN" altLang="en-US" b="1" dirty="0"/>
              <a:t>实现了三种</a:t>
            </a:r>
            <a:r>
              <a:rPr lang="en-US" altLang="zh-CN" b="1" dirty="0"/>
              <a:t>AI</a:t>
            </a:r>
            <a:r>
              <a:rPr lang="zh-CN" altLang="en-US" b="1" dirty="0"/>
              <a:t>行为</a:t>
            </a:r>
            <a:r>
              <a:rPr lang="zh-CN" altLang="en-US" dirty="0"/>
              <a:t>：巡逻、飞行、跳跃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实现了动态装配</a:t>
            </a:r>
            <a:r>
              <a:rPr lang="zh-CN" altLang="en-US" dirty="0"/>
              <a:t>：运行时配置敌人</a:t>
            </a:r>
            <a:r>
              <a:rPr lang="en-US" altLang="zh-CN" dirty="0"/>
              <a:t>AI</a:t>
            </a:r>
          </a:p>
          <a:p>
            <a:r>
              <a:rPr lang="en-US" altLang="zh-CN" dirty="0"/>
              <a:t>✅ </a:t>
            </a:r>
            <a:r>
              <a:rPr lang="zh-CN" altLang="en-US" b="1" dirty="0"/>
              <a:t>实现了行为解耦</a:t>
            </a:r>
            <a:r>
              <a:rPr lang="zh-CN" altLang="en-US" dirty="0"/>
              <a:t>：每个行为独立封装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提高了可扩展性</a:t>
            </a:r>
            <a:r>
              <a:rPr lang="zh-CN" altLang="en-US" dirty="0"/>
              <a:t>：添加新行为无需改旧代码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792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DDE-0B16-5C29-BC1C-984A6A0A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893" y="0"/>
            <a:ext cx="10515600" cy="1325563"/>
          </a:xfrm>
        </p:spPr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CDCD-8CF8-728D-3871-556455CBC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85" y="996991"/>
            <a:ext cx="11969790" cy="57282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通过本课的学习，我们让敌人</a:t>
            </a:r>
            <a:r>
              <a:rPr lang="en-US" altLang="zh-CN" dirty="0"/>
              <a:t>"</a:t>
            </a:r>
            <a:r>
              <a:rPr lang="zh-CN" altLang="en-US" dirty="0"/>
              <a:t>活</a:t>
            </a:r>
            <a:r>
              <a:rPr lang="en-US" altLang="zh-CN" dirty="0"/>
              <a:t>"</a:t>
            </a:r>
            <a:r>
              <a:rPr lang="zh-CN" altLang="en-US" dirty="0"/>
              <a:t>了起来，游戏世界变得生动而充满挑战。</a:t>
            </a:r>
          </a:p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🎨 策略设计模式：算法封装与解耦</a:t>
            </a:r>
          </a:p>
          <a:p>
            <a:pPr marL="0" indent="0">
              <a:buNone/>
            </a:pPr>
            <a:r>
              <a:rPr lang="zh-CN" altLang="en-US" dirty="0"/>
              <a:t>🧠 </a:t>
            </a:r>
            <a:r>
              <a:rPr lang="en-US" altLang="zh-CN" dirty="0" err="1"/>
              <a:t>AIComponent</a:t>
            </a:r>
            <a:r>
              <a:rPr lang="zh-CN" altLang="en-US" dirty="0"/>
              <a:t>：策略的持有者和调用者</a:t>
            </a:r>
          </a:p>
          <a:p>
            <a:pPr marL="0" indent="0">
              <a:buNone/>
            </a:pPr>
            <a:r>
              <a:rPr lang="zh-CN" altLang="en-US" dirty="0"/>
              <a:t>📐 </a:t>
            </a:r>
            <a:r>
              <a:rPr lang="en-US" altLang="zh-CN" dirty="0" err="1"/>
              <a:t>AIBehavior</a:t>
            </a:r>
            <a:r>
              <a:rPr lang="zh-CN" altLang="en-US" dirty="0"/>
              <a:t>：策略的抽象接口</a:t>
            </a:r>
          </a:p>
          <a:p>
            <a:pPr marL="0" indent="0">
              <a:buNone/>
            </a:pPr>
            <a:r>
              <a:rPr lang="zh-CN" altLang="en-US" dirty="0"/>
              <a:t>🚶 </a:t>
            </a:r>
            <a:r>
              <a:rPr lang="en-US" altLang="zh-CN" dirty="0" err="1"/>
              <a:t>PatrolBehavior</a:t>
            </a:r>
            <a:r>
              <a:rPr lang="zh-CN" altLang="en-US" dirty="0"/>
              <a:t>：水平巡逻行为</a:t>
            </a:r>
          </a:p>
          <a:p>
            <a:pPr marL="0" indent="0">
              <a:buNone/>
            </a:pPr>
            <a:r>
              <a:rPr lang="zh-CN" altLang="en-US" dirty="0"/>
              <a:t>🦅 </a:t>
            </a:r>
            <a:r>
              <a:rPr lang="en-US" altLang="zh-CN" dirty="0" err="1"/>
              <a:t>UpDownBehavior</a:t>
            </a:r>
            <a:r>
              <a:rPr lang="zh-CN" altLang="en-US" dirty="0"/>
              <a:t>：垂直飞行行为（关闭重力）</a:t>
            </a:r>
          </a:p>
          <a:p>
            <a:pPr marL="0" indent="0">
              <a:buNone/>
            </a:pPr>
            <a:r>
              <a:rPr lang="zh-CN" altLang="en-US" dirty="0"/>
              <a:t>🐸 </a:t>
            </a:r>
            <a:r>
              <a:rPr lang="en-US" altLang="zh-CN" dirty="0" err="1"/>
              <a:t>JumpBehavior</a:t>
            </a:r>
            <a:r>
              <a:rPr lang="zh-CN" altLang="en-US" dirty="0"/>
              <a:t>：跳跃行为（内置状态机）</a:t>
            </a:r>
          </a:p>
          <a:p>
            <a:pPr marL="0" indent="0">
              <a:buNone/>
            </a:pPr>
            <a:r>
              <a:rPr lang="zh-CN" altLang="en-US" dirty="0"/>
              <a:t>🔧 动态装配：运行时配置敌人</a:t>
            </a:r>
            <a:r>
              <a:rPr lang="en-US" altLang="zh-CN" dirty="0"/>
              <a:t>AI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：策略模式是处理</a:t>
            </a:r>
            <a:r>
              <a:rPr lang="en-US" altLang="zh-CN" dirty="0"/>
              <a:t>"</a:t>
            </a:r>
            <a:r>
              <a:rPr lang="zh-CN" altLang="en-US" dirty="0"/>
              <a:t>多种可替换算法</a:t>
            </a:r>
            <a:r>
              <a:rPr lang="en-US" altLang="zh-CN" dirty="0"/>
              <a:t>"</a:t>
            </a:r>
            <a:r>
              <a:rPr lang="zh-CN" altLang="en-US" dirty="0"/>
              <a:t>的最佳实践。我们的</a:t>
            </a:r>
            <a:r>
              <a:rPr lang="en-US" altLang="zh-CN" dirty="0"/>
              <a:t>AI</a:t>
            </a:r>
            <a:r>
              <a:rPr lang="zh-CN" altLang="en-US" dirty="0"/>
              <a:t>系统现在高度解耦、易于扩展。想添加一种新的敌人？只需编写一个新的 </a:t>
            </a:r>
            <a:r>
              <a:rPr lang="en-US" altLang="zh-CN" dirty="0" err="1"/>
              <a:t>AIBehavior</a:t>
            </a:r>
            <a:r>
              <a:rPr lang="zh-CN" altLang="en-US" dirty="0"/>
              <a:t> 子类，然后在 </a:t>
            </a:r>
            <a:r>
              <a:rPr lang="en-US" altLang="zh-CN" dirty="0" err="1"/>
              <a:t>GameScene</a:t>
            </a:r>
            <a:r>
              <a:rPr lang="zh-CN" altLang="en-US" dirty="0"/>
              <a:t> 中为其装配即可，无需改动任何现有</a:t>
            </a:r>
            <a:r>
              <a:rPr lang="en-US" altLang="zh-CN" dirty="0"/>
              <a:t>AI</a:t>
            </a:r>
            <a:r>
              <a:rPr lang="zh-CN" altLang="en-US" dirty="0"/>
              <a:t>代码。这正是优秀软件架构的魅力所在</a:t>
            </a:r>
            <a:r>
              <a:rPr lang="en-US" altLang="zh-CN" dirty="0"/>
              <a:t>——</a:t>
            </a:r>
            <a:r>
              <a:rPr lang="zh-CN" altLang="en-US" dirty="0"/>
              <a:t>开放扩展，关闭修改（开闭原则）。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415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B8F5-B59E-A1FD-78C8-23554510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🚀 下一步展望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A46A-F5B7-AF7B-21B4-EDE54623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38"/>
            <a:ext cx="10515600" cy="4658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现在敌人已经动起来了，但游戏体验还可以进一步优化：</a:t>
            </a:r>
          </a:p>
          <a:p>
            <a:r>
              <a:rPr lang="zh-CN" altLang="en-US" dirty="0"/>
              <a:t>❓ 如何实现攀爬梯子的功能？</a:t>
            </a:r>
          </a:p>
          <a:p>
            <a:r>
              <a:rPr lang="zh-CN" altLang="en-US" dirty="0"/>
              <a:t>❓ 如何让玩家在平台边缘有</a:t>
            </a:r>
            <a:r>
              <a:rPr lang="en-US" altLang="zh-CN" dirty="0"/>
              <a:t>"</a:t>
            </a:r>
            <a:r>
              <a:rPr lang="zh-CN" altLang="en-US" dirty="0"/>
              <a:t>宽恕时间</a:t>
            </a:r>
            <a:r>
              <a:rPr lang="en-US" altLang="zh-CN" dirty="0"/>
              <a:t>"</a:t>
            </a:r>
            <a:r>
              <a:rPr lang="zh-CN" altLang="en-US" dirty="0"/>
              <a:t>？</a:t>
            </a:r>
          </a:p>
          <a:p>
            <a:r>
              <a:rPr lang="zh-CN" altLang="en-US" dirty="0"/>
              <a:t>❓ 如何实现受伤后的无敌闪烁效果？</a:t>
            </a:r>
          </a:p>
          <a:p>
            <a:pPr marL="0" indent="0">
              <a:buNone/>
            </a:pPr>
            <a:r>
              <a:rPr lang="zh-CN" altLang="en-US" dirty="0"/>
              <a:t>下一课，我们将实现 </a:t>
            </a:r>
            <a:r>
              <a:rPr lang="zh-CN" altLang="en-US" b="1" dirty="0"/>
              <a:t>攀爬状态切换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🪜 梯子检测与攀爬</a:t>
            </a:r>
          </a:p>
          <a:p>
            <a:r>
              <a:rPr lang="zh-CN" altLang="en-US" dirty="0"/>
              <a:t>⏱️ 土狼时间（</a:t>
            </a:r>
            <a:r>
              <a:rPr lang="en-US" altLang="zh-CN" dirty="0"/>
              <a:t>Coyote Time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✨ 无敌闪烁效果</a:t>
            </a:r>
          </a:p>
          <a:p>
            <a:r>
              <a:rPr lang="zh-CN" altLang="en-US" dirty="0"/>
              <a:t>🎮 更细腻的操作手感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121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1255</Words>
  <Application>Microsoft Office PowerPoint</Application>
  <PresentationFormat>Widescreen</PresentationFormat>
  <Paragraphs>171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-apple-system</vt:lpstr>
      <vt:lpstr>source-code-pro</vt:lpstr>
      <vt:lpstr>Aptos</vt:lpstr>
      <vt:lpstr>Aptos Display</vt:lpstr>
      <vt:lpstr>Arial</vt:lpstr>
      <vt:lpstr>Office Theme</vt:lpstr>
      <vt:lpstr>AI组件与AI行为</vt:lpstr>
      <vt:lpstr>📌 问题背景</vt:lpstr>
      <vt:lpstr>PowerPoint Presentation</vt:lpstr>
      <vt:lpstr>💡 解决方案：策略模式的AI系统</vt:lpstr>
      <vt:lpstr>PowerPoint Presentation</vt:lpstr>
      <vt:lpstr>PowerPoint Presentation</vt:lpstr>
      <vt:lpstr>🎯 本课目标</vt:lpstr>
      <vt:lpstr>第一部分：架构设计与核心框架</vt:lpstr>
      <vt:lpstr>架构三要素</vt:lpstr>
      <vt:lpstr>PowerPoint Presentation</vt:lpstr>
      <vt:lpstr>1. 行为接口：AIBehavior</vt:lpstr>
      <vt:lpstr>接口设计要点</vt:lpstr>
      <vt:lpstr>PowerPoint Presentation</vt:lpstr>
      <vt:lpstr>💡 设计细节</vt:lpstr>
      <vt:lpstr>2. AI大脑：AIComponent</vt:lpstr>
      <vt:lpstr>PowerPoint Presentation</vt:lpstr>
      <vt:lpstr>PowerPoint Presentation</vt:lpstr>
      <vt:lpstr>第二部分：实现具体AI行为</vt:lpstr>
      <vt:lpstr>3. 左右巡逻：PatrolBehavior</vt:lpstr>
      <vt:lpstr>转向判断</vt:lpstr>
      <vt:lpstr>4. 上下飞行：UpDownBehavior</vt:lpstr>
      <vt:lpstr>PowerPoint Presentation</vt:lpstr>
      <vt:lpstr>5. 周期跳跃：JumpBehavior</vt:lpstr>
      <vt:lpstr>PowerPoint Presentation</vt:lpstr>
      <vt:lpstr>💡 复杂度对比</vt:lpstr>
      <vt:lpstr>第三部分：在场景中装配AI</vt:lpstr>
      <vt:lpstr>6. 动态装配AI系统</vt:lpstr>
      <vt:lpstr>PowerPoint Presentation</vt:lpstr>
      <vt:lpstr>🎯 系统架构总结</vt:lpstr>
      <vt:lpstr>核心成就</vt:lpstr>
      <vt:lpstr>📚 总结</vt:lpstr>
      <vt:lpstr>🚀 下一步展望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2025-11-16T06:29:33Z</dcterms:created>
  <dcterms:modified xsi:type="dcterms:W3CDTF">2025-11-16T06:39:58Z</dcterms:modified>
</cp:coreProperties>
</file>