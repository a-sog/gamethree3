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31C9-27E1-F3E5-D5AD-86A019392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29328-E0D5-6107-B9DE-375A5ABE0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DE2C1-0772-566A-14C0-1ED9854F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110EB-74C5-70A6-1009-EA288104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5D7CA-B661-2984-44EA-1FF3BC8F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7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8FB2-14E8-F1B0-CD35-07BC31BD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B52AF-9399-36FB-2E40-3829FBDBB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E9B08-6147-C2A5-488F-5A85059E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A721A-D512-620F-3435-236E4CD6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21AA2-ECD2-1DEF-5492-015D9875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7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BDC7F-6899-47E5-E0DC-14250D34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38FBE-014E-4A19-F508-D4F4C33D2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BAEBA-6A54-7840-2210-15907FD4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E6E0E-E95D-4D26-F276-A772CD4C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EA985-8267-DA13-2211-28B4FCE6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3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9F05-8D13-A2C5-E95E-9CBEAD7C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4F22E-3E12-631E-9940-4058FE900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8FCC0-92D4-17CB-2286-3D7D6CA65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C6046-707B-B22D-3410-ACD5C75B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93F63-6D1B-342E-23AE-992B619D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63973-5822-00D4-D77B-D3C57046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8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0149-18B5-A5AB-6BA9-78B702A8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698CD-7E79-265B-1EC9-B7E36E74F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C805E-14BA-2497-6F4C-3C5F8CDD1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75689-BBFA-789C-ECEB-F690F4B41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0EE1C-2252-752E-7BA4-8937A870E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50F38-9179-1547-21CD-8831A0A9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02084-706A-C8D7-9B53-2ABD7450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632A7-5136-ED1A-A0AD-3101516F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4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C0E2-ABA7-AECA-91F0-7AB8FA11B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F7709-3AC9-98C5-06E3-F70E5CB5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22D2E-C451-B148-EB43-E0C746CC5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93FC5-D448-E7D1-2908-B51F5469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1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5A2D4-3300-5498-94E0-C96CA7C7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EDDA4-4B81-1964-0FBE-3FA0D2B93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19084-3471-94FE-6278-9BFC9061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4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81F91-AAFD-B3FC-2AA2-E1826F2B4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6A59-E1D7-0415-0B5F-D42B12958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B9EE7-8042-1430-6AEA-07483C9B5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916B2-0883-BB44-53DF-8EB8BC30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15ABF-A1F1-7201-8914-5BF298AC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ECCD0-2370-05D2-BF2B-482BAE897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61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E161-E94E-F351-CE03-28844EE9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44B24-CB48-304E-4D4D-71FF1C71E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C3B30-CD78-D694-B83A-701ACBF38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A6B18-BDF7-6770-C2A7-CB838631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D3A4F-5704-095C-16E2-8E68E66E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85868-0A9A-C189-4F4F-C228963D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84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5578-94CF-0C93-03F5-F6BC19832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2B58E-D29D-6CFD-8A11-C85B8FEDA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6718-1889-A584-8A75-5AABDE03F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AF87E-9C95-C166-7150-379E66B0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ACDF1-77BA-C689-2E10-B7C38EBE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2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6D936-5888-3AB8-B59D-0BA4CF083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721D6-19B2-262E-810C-A8C192634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63F72-ECA7-0A57-DE82-1DB34F13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EF040-1363-CBC7-772C-4B601397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0D28F-C682-DEA6-083D-82997AD8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2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91429-FA55-181A-AB0F-2D9185B7A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641E9-8EB1-E342-5DD5-016A4E117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F21AE-3573-8581-2055-1FC3E79D57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099C3-14D4-442C-AFCF-F95C216F000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9806A-1CE6-8F03-3833-A20A9DDE0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C9F36-EB55-78C6-CC2D-1FD3AFED4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B8BAE-52F4-42DF-985D-A868A6CD4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9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FD8D-2451-22D9-F6BF-60B2022E9F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渲染器、相机与精灵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6BD37-732D-1D47-ECB9-939E45738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1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44DF-6A8D-2F97-E430-4CAEB25F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📖 概述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669F4-EDF9-D3A7-EF80-9202C7AB5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到目前为止，我们的游戏引擎已经拥有了心跳（主循环）、节拍器（时间控制）和血液循环系统（资源管理）。现在，是时候为它装上“眼睛”和“画笔”了。本节目标是建立一个完整的 </a:t>
            </a:r>
            <a:r>
              <a:rPr lang="en-US" altLang="zh-CN" dirty="0"/>
              <a:t>2D </a:t>
            </a:r>
            <a:r>
              <a:rPr lang="zh-CN" altLang="en-US" dirty="0"/>
              <a:t>渲染管线，将游戏世界中的对象绘制到屏幕上。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342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65CB-F5A8-C172-4AA6-9C6145BD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核心概念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94FBB-C958-B154-93DD-7962E9C92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本章引入三个核心概念与对应类：</a:t>
            </a:r>
          </a:p>
          <a:p>
            <a:r>
              <a:rPr lang="zh-CN" altLang="en-US" dirty="0"/>
              <a:t>🖼️ </a:t>
            </a:r>
            <a:r>
              <a:rPr lang="zh-CN" altLang="en-US" b="1" dirty="0"/>
              <a:t>精灵（</a:t>
            </a:r>
            <a:r>
              <a:rPr lang="en-US" altLang="zh-CN" b="1" dirty="0"/>
              <a:t>Sprite</a:t>
            </a:r>
            <a:r>
              <a:rPr lang="zh-CN" altLang="en-US" b="1" dirty="0"/>
              <a:t>）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描述</a:t>
            </a:r>
            <a:r>
              <a:rPr lang="en-US" altLang="zh-CN" dirty="0"/>
              <a:t>"</a:t>
            </a:r>
            <a:r>
              <a:rPr lang="zh-CN" altLang="en-US" dirty="0"/>
              <a:t>画什么</a:t>
            </a:r>
            <a:r>
              <a:rPr lang="en-US" altLang="zh-CN" dirty="0"/>
              <a:t>"</a:t>
            </a:r>
            <a:r>
              <a:rPr lang="zh-CN" altLang="en-US" dirty="0"/>
              <a:t>，例如使用哪张纹理、纹理的哪一部分</a:t>
            </a:r>
          </a:p>
          <a:p>
            <a:r>
              <a:rPr lang="zh-CN" altLang="en-US" dirty="0"/>
              <a:t>📹 </a:t>
            </a:r>
            <a:r>
              <a:rPr lang="zh-CN" altLang="en-US" b="1" dirty="0"/>
              <a:t>相机（</a:t>
            </a:r>
            <a:r>
              <a:rPr lang="en-US" altLang="zh-CN" b="1" dirty="0"/>
              <a:t>Camera</a:t>
            </a:r>
            <a:r>
              <a:rPr lang="zh-CN" altLang="en-US" b="1" dirty="0"/>
              <a:t>）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代表玩家的</a:t>
            </a:r>
            <a:r>
              <a:rPr lang="en-US" altLang="zh-CN" dirty="0"/>
              <a:t>"</a:t>
            </a:r>
            <a:r>
              <a:rPr lang="zh-CN" altLang="en-US" dirty="0"/>
              <a:t>视窗</a:t>
            </a:r>
            <a:r>
              <a:rPr lang="en-US" altLang="zh-CN" dirty="0"/>
              <a:t>"</a:t>
            </a:r>
            <a:r>
              <a:rPr lang="zh-CN" altLang="en-US" dirty="0"/>
              <a:t>，决定</a:t>
            </a:r>
            <a:r>
              <a:rPr lang="en-US" altLang="zh-CN" dirty="0"/>
              <a:t>"</a:t>
            </a:r>
            <a:r>
              <a:rPr lang="zh-CN" altLang="en-US" dirty="0"/>
              <a:t>哪里能被看见</a:t>
            </a:r>
            <a:r>
              <a:rPr lang="en-US" altLang="zh-CN" dirty="0"/>
              <a:t>"</a:t>
            </a:r>
            <a:r>
              <a:rPr lang="zh-CN" altLang="en-US" dirty="0"/>
              <a:t>，负责坐标转换与视图滚动</a:t>
            </a:r>
          </a:p>
          <a:p>
            <a:r>
              <a:rPr lang="zh-CN" altLang="en-US" dirty="0"/>
              <a:t>🎨 </a:t>
            </a:r>
            <a:r>
              <a:rPr lang="zh-CN" altLang="en-US" b="1" dirty="0"/>
              <a:t>渲染器（</a:t>
            </a:r>
            <a:r>
              <a:rPr lang="en-US" altLang="zh-CN" b="1" dirty="0"/>
              <a:t>Renderer</a:t>
            </a:r>
            <a:r>
              <a:rPr lang="zh-CN" altLang="en-US" b="1" dirty="0"/>
              <a:t>）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封装底层绘制 </a:t>
            </a:r>
            <a:r>
              <a:rPr lang="en-US" altLang="zh-CN" dirty="0"/>
              <a:t>API</a:t>
            </a:r>
            <a:r>
              <a:rPr lang="zh-CN" altLang="en-US" dirty="0"/>
              <a:t>，接收精灵与相机信息，执行真正的绘制精灵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83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F047A-3A26-A450-33FC-A343D6C8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6C896A-1B8A-257F-F634-3B7574125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585" y="365125"/>
            <a:ext cx="9589330" cy="530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679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F81D0-6158-39B1-39FC-ACC67942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🔍 </a:t>
            </a:r>
            <a:r>
              <a:rPr lang="en-US" altLang="zh-CN" b="1" dirty="0"/>
              <a:t>1. </a:t>
            </a:r>
            <a:r>
              <a:rPr lang="zh-CN" altLang="en-US" b="1" dirty="0"/>
              <a:t>逻辑分辨率：像素游戏的关键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E905B-CBF8-0C9D-5A78-5FE1EFECC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对于像素风格的游戏，我们希望在不同物理分辨率（</a:t>
            </a:r>
            <a:r>
              <a:rPr lang="en-US" altLang="zh-CN" dirty="0"/>
              <a:t>1080p/2K/4K</a:t>
            </a:r>
            <a:r>
              <a:rPr lang="zh-CN" altLang="en-US" dirty="0"/>
              <a:t>）下，画面像素块保持同样观感，避免被拉伸变形。</a:t>
            </a:r>
            <a:r>
              <a:rPr lang="en-US" altLang="zh-CN" dirty="0"/>
              <a:t>SDL3 </a:t>
            </a:r>
            <a:r>
              <a:rPr lang="zh-CN" altLang="en-US" dirty="0"/>
              <a:t>提供了逻辑分辨率方案。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63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092B-CF60-592E-51C2-22B4F7BE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💻 </a:t>
            </a:r>
            <a:r>
              <a:rPr lang="zh-CN" altLang="en-US" b="1" dirty="0"/>
              <a:t>实现方法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44FED-00DC-EBFB-0DA4-7ACF4FF18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1635"/>
            <a:ext cx="10515600" cy="3475327"/>
          </a:xfrm>
        </p:spPr>
        <p:txBody>
          <a:bodyPr/>
          <a:lstStyle/>
          <a:p>
            <a:pPr algn="l">
              <a:buNone/>
            </a:pPr>
            <a:r>
              <a:rPr lang="zh-CN" altLang="en-US" b="1" i="0" dirty="0">
                <a:effectLst/>
                <a:latin typeface="-apple-system"/>
              </a:rPr>
              <a:t>📋 设置含义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🎯 </a:t>
            </a:r>
            <a:r>
              <a:rPr lang="zh-CN" altLang="en-US" b="1" i="0" dirty="0">
                <a:effectLst/>
                <a:latin typeface="-apple-system"/>
              </a:rPr>
              <a:t>逻辑画布固定</a:t>
            </a:r>
            <a:r>
              <a:rPr lang="zh-CN" altLang="en-US" b="0" i="0" dirty="0">
                <a:effectLst/>
                <a:latin typeface="-apple-system"/>
              </a:rPr>
              <a:t> </a:t>
            </a:r>
            <a:r>
              <a:rPr lang="en-US" altLang="zh-CN" b="0" i="0" dirty="0">
                <a:effectLst/>
                <a:latin typeface="-apple-system"/>
              </a:rPr>
              <a:t>- </a:t>
            </a:r>
            <a:r>
              <a:rPr lang="zh-CN" altLang="en-US" b="0" i="0" dirty="0">
                <a:effectLst/>
                <a:latin typeface="-apple-system"/>
              </a:rPr>
              <a:t>为 </a:t>
            </a:r>
            <a:r>
              <a:rPr lang="en-US" altLang="zh-CN" b="0" i="0" dirty="0">
                <a:effectLst/>
                <a:latin typeface="source-code-pro"/>
              </a:rPr>
              <a:t>640x360</a:t>
            </a:r>
            <a:endParaRPr lang="zh-CN" altLang="en-US" b="0" i="0" dirty="0"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📏 </a:t>
            </a:r>
            <a:r>
              <a:rPr lang="zh-CN" altLang="en-US" b="1" i="0" dirty="0">
                <a:effectLst/>
                <a:latin typeface="-apple-system"/>
              </a:rPr>
              <a:t>自动缩放</a:t>
            </a:r>
            <a:r>
              <a:rPr lang="zh-CN" altLang="en-US" b="0" i="0" dirty="0">
                <a:effectLst/>
                <a:latin typeface="-apple-system"/>
              </a:rPr>
              <a:t> </a:t>
            </a:r>
            <a:r>
              <a:rPr lang="en-US" altLang="zh-CN" b="0" i="0" dirty="0">
                <a:effectLst/>
                <a:latin typeface="-apple-system"/>
              </a:rPr>
              <a:t>- SDL </a:t>
            </a:r>
            <a:r>
              <a:rPr lang="zh-CN" altLang="en-US" b="0" i="0" dirty="0">
                <a:effectLst/>
                <a:latin typeface="-apple-system"/>
              </a:rPr>
              <a:t>会将逻辑画布等比缩放以适配实际窗口大小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-apple-system"/>
              </a:rPr>
              <a:t>🖥️ </a:t>
            </a:r>
            <a:r>
              <a:rPr lang="zh-CN" altLang="en-US" b="1" i="0" dirty="0">
                <a:effectLst/>
                <a:latin typeface="-apple-system"/>
              </a:rPr>
              <a:t>黑边填充</a:t>
            </a:r>
            <a:r>
              <a:rPr lang="zh-CN" altLang="en-US" b="0" i="0" dirty="0">
                <a:effectLst/>
                <a:latin typeface="-apple-system"/>
              </a:rPr>
              <a:t> </a:t>
            </a:r>
            <a:r>
              <a:rPr lang="en-US" altLang="zh-CN" b="0" i="0" dirty="0">
                <a:effectLst/>
                <a:latin typeface="-apple-system"/>
              </a:rPr>
              <a:t>- </a:t>
            </a:r>
            <a:r>
              <a:rPr lang="zh-CN" altLang="en-US" b="0" i="0" dirty="0">
                <a:effectLst/>
                <a:latin typeface="-apple-system"/>
              </a:rPr>
              <a:t>当窗口宽高比不为 </a:t>
            </a:r>
            <a:r>
              <a:rPr lang="en-US" altLang="zh-CN" b="0" i="0" dirty="0">
                <a:effectLst/>
                <a:latin typeface="source-code-pro"/>
              </a:rPr>
              <a:t>16:9</a:t>
            </a:r>
            <a:r>
              <a:rPr lang="zh-CN" altLang="en-US" b="0" i="0" dirty="0">
                <a:effectLst/>
                <a:latin typeface="-apple-system"/>
              </a:rPr>
              <a:t> 时，</a:t>
            </a:r>
            <a:r>
              <a:rPr lang="en-US" altLang="zh-CN" b="0" i="0" dirty="0">
                <a:effectLst/>
                <a:latin typeface="-apple-system"/>
              </a:rPr>
              <a:t>LETTERBOX </a:t>
            </a:r>
            <a:r>
              <a:rPr lang="zh-CN" altLang="en-US" b="0" i="0" dirty="0">
                <a:effectLst/>
                <a:latin typeface="-apple-system"/>
              </a:rPr>
              <a:t>模式自动填充黑边，避免画面拉伸</a:t>
            </a:r>
          </a:p>
          <a:p>
            <a:pPr algn="l">
              <a:buNone/>
            </a:pPr>
            <a:r>
              <a:rPr lang="zh-CN" altLang="en-US" b="0" i="0" dirty="0">
                <a:effectLst/>
                <a:latin typeface="-apple-system"/>
              </a:rPr>
              <a:t>自此，所有游戏逻辑与坐标计算均在 </a:t>
            </a:r>
            <a:r>
              <a:rPr lang="en-US" altLang="zh-CN" b="0" i="0" dirty="0">
                <a:effectLst/>
                <a:latin typeface="source-code-pro"/>
              </a:rPr>
              <a:t>640x360</a:t>
            </a:r>
            <a:r>
              <a:rPr lang="zh-CN" altLang="en-US" b="0" i="0" dirty="0">
                <a:effectLst/>
                <a:latin typeface="-apple-system"/>
              </a:rPr>
              <a:t> 的逻辑分辨率下进行，大幅简化开发与适配难度。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4B715-9FAC-DAD3-5D07-35E87E2B0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22" y="2244601"/>
            <a:ext cx="10359448" cy="45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5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0DE6-10BB-27B5-FC6D-9606A419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📁 </a:t>
            </a:r>
            <a:r>
              <a:rPr lang="en-US" altLang="zh-CN" b="1" dirty="0"/>
              <a:t>2. </a:t>
            </a:r>
            <a:r>
              <a:rPr lang="zh-CN" altLang="en-US" b="1" dirty="0"/>
              <a:t>新的项目结构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5D3FE-FCB2-AC5B-B980-087CAE6D7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727"/>
            <a:ext cx="10515600" cy="472223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将渲染相关类放入 </a:t>
            </a:r>
            <a:r>
              <a:rPr lang="en-US" dirty="0"/>
              <a:t>render/ </a:t>
            </a:r>
            <a:r>
              <a:rPr lang="zh-CN" altLang="en-US" dirty="0"/>
              <a:t>目录，将通用工具放入 </a:t>
            </a:r>
            <a:r>
              <a:rPr lang="en-US" dirty="0"/>
              <a:t>utils/ </a:t>
            </a:r>
            <a:r>
              <a:rPr lang="zh-CN" altLang="en-US" dirty="0"/>
              <a:t>目录：</a:t>
            </a:r>
          </a:p>
          <a:p>
            <a:r>
              <a:rPr lang="zh-CN" altLang="en-US" dirty="0"/>
              <a:t>└── </a:t>
            </a:r>
            <a:r>
              <a:rPr lang="en-US" dirty="0" err="1"/>
              <a:t>src</a:t>
            </a:r>
            <a:r>
              <a:rPr lang="en-US" dirty="0"/>
              <a:t>/</a:t>
            </a:r>
          </a:p>
          <a:p>
            <a:r>
              <a:rPr lang="en-US" dirty="0"/>
              <a:t>    └── engine/</a:t>
            </a:r>
          </a:p>
          <a:p>
            <a:r>
              <a:rPr lang="en-US" dirty="0"/>
              <a:t>        ├── core/</a:t>
            </a:r>
          </a:p>
          <a:p>
            <a:r>
              <a:rPr lang="en-US" dirty="0"/>
              <a:t>        ├── resource/</a:t>
            </a:r>
          </a:p>
          <a:p>
            <a:r>
              <a:rPr lang="en-US" dirty="0"/>
              <a:t>        ├── render/</a:t>
            </a:r>
          </a:p>
          <a:p>
            <a:r>
              <a:rPr lang="en-US" dirty="0"/>
              <a:t>        │   ├── </a:t>
            </a:r>
            <a:r>
              <a:rPr lang="en-US" dirty="0" err="1"/>
              <a:t>renderer.h</a:t>
            </a:r>
            <a:r>
              <a:rPr lang="en-US" dirty="0"/>
              <a:t>/.</a:t>
            </a:r>
            <a:r>
              <a:rPr lang="en-US" dirty="0" err="1"/>
              <a:t>cpp</a:t>
            </a:r>
            <a:endParaRPr lang="en-US" dirty="0"/>
          </a:p>
          <a:p>
            <a:r>
              <a:rPr lang="en-US" dirty="0"/>
              <a:t>        │   ├── </a:t>
            </a:r>
            <a:r>
              <a:rPr lang="en-US" dirty="0" err="1"/>
              <a:t>camera.h</a:t>
            </a:r>
            <a:r>
              <a:rPr lang="en-US" dirty="0"/>
              <a:t>/.</a:t>
            </a:r>
            <a:r>
              <a:rPr lang="en-US" dirty="0" err="1"/>
              <a:t>cpp</a:t>
            </a:r>
            <a:endParaRPr lang="en-US" dirty="0"/>
          </a:p>
          <a:p>
            <a:r>
              <a:rPr lang="en-US" dirty="0"/>
              <a:t>        │   └── </a:t>
            </a:r>
            <a:r>
              <a:rPr lang="en-US" dirty="0" err="1"/>
              <a:t>sprite.h</a:t>
            </a:r>
            <a:endParaRPr lang="en-US" dirty="0"/>
          </a:p>
          <a:p>
            <a:r>
              <a:rPr lang="en-US" dirty="0"/>
              <a:t>        └── utils/</a:t>
            </a:r>
          </a:p>
          <a:p>
            <a:r>
              <a:rPr lang="en-US" dirty="0"/>
              <a:t>            └── </a:t>
            </a:r>
            <a:r>
              <a:rPr lang="en-US" dirty="0" err="1"/>
              <a:t>math.h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93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E46A-84F0-638A-D84C-274B8D8D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🖼️ 3. Sprite </a:t>
            </a:r>
            <a:r>
              <a:rPr lang="zh-CN" altLang="en-US" b="1" dirty="0"/>
              <a:t>类：画什么？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A8EE-0C22-0C7A-88EB-D96259281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Sprite</a:t>
            </a:r>
            <a:r>
              <a:rPr lang="zh-CN" altLang="en-US" dirty="0"/>
              <a:t> 是一个轻量级数据类，用来描述一个</a:t>
            </a:r>
            <a:r>
              <a:rPr lang="en-US" altLang="zh-CN" dirty="0"/>
              <a:t>"</a:t>
            </a:r>
            <a:r>
              <a:rPr lang="zh-CN" altLang="en-US" dirty="0"/>
              <a:t>待绘制</a:t>
            </a:r>
            <a:r>
              <a:rPr lang="en-US" altLang="zh-CN" dirty="0"/>
              <a:t>"</a:t>
            </a:r>
            <a:r>
              <a:rPr lang="zh-CN" altLang="en-US" dirty="0"/>
              <a:t>的视觉元素，不包含复杂逻辑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49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3177-0DF3-DD1E-299D-FCD04D78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📊 核心属性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D1033-7A3C-0F47-617D-D0D6D0416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🎨 </a:t>
            </a:r>
            <a:r>
              <a:rPr lang="en-US" altLang="zh-CN" b="1" dirty="0" err="1"/>
              <a:t>texture_id</a:t>
            </a:r>
            <a:r>
              <a:rPr lang="en-US" altLang="zh-CN" b="1" dirty="0"/>
              <a:t>_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要使用的纹理标识</a:t>
            </a:r>
          </a:p>
          <a:p>
            <a:r>
              <a:rPr lang="zh-CN" altLang="en-US" dirty="0"/>
              <a:t>✂️ </a:t>
            </a:r>
            <a:r>
              <a:rPr lang="en-US" altLang="zh-CN" b="1" dirty="0" err="1"/>
              <a:t>source_rect</a:t>
            </a:r>
            <a:r>
              <a:rPr lang="en-US" altLang="zh-CN" b="1" dirty="0"/>
              <a:t>_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可选的 </a:t>
            </a:r>
            <a:r>
              <a:rPr lang="en-US" altLang="zh-CN" dirty="0" err="1"/>
              <a:t>SDL_FRect</a:t>
            </a:r>
            <a:r>
              <a:rPr lang="zh-CN" altLang="en-US" dirty="0"/>
              <a:t>，用于从雪碧图中截取子区域；为空则使用整张纹理</a:t>
            </a:r>
          </a:p>
          <a:p>
            <a:r>
              <a:rPr lang="zh-CN" altLang="en-US" dirty="0"/>
              <a:t>🔄 </a:t>
            </a:r>
            <a:r>
              <a:rPr lang="en-US" altLang="zh-CN" b="1" dirty="0" err="1"/>
              <a:t>is_flipped</a:t>
            </a:r>
            <a:r>
              <a:rPr lang="en-US" altLang="zh-CN" b="1" dirty="0"/>
              <a:t>_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是否水平翻转资源管理）。现在，是时候为它装上</a:t>
            </a:r>
            <a:r>
              <a:rPr lang="en-US" altLang="zh-CN" dirty="0"/>
              <a:t>"</a:t>
            </a:r>
            <a:r>
              <a:rPr lang="zh-CN" altLang="en-US" dirty="0"/>
              <a:t>眼睛</a:t>
            </a:r>
            <a:r>
              <a:rPr lang="en-US" altLang="zh-CN" dirty="0"/>
              <a:t>"</a:t>
            </a:r>
            <a:r>
              <a:rPr lang="zh-CN" altLang="en-US" dirty="0"/>
              <a:t>和</a:t>
            </a:r>
            <a:r>
              <a:rPr lang="en-US" altLang="zh-CN" dirty="0"/>
              <a:t>"</a:t>
            </a:r>
            <a:r>
              <a:rPr lang="zh-CN" altLang="en-US" dirty="0"/>
              <a:t>画笔</a:t>
            </a:r>
            <a:r>
              <a:rPr lang="en-US" altLang="zh-CN" dirty="0"/>
              <a:t>"</a:t>
            </a:r>
            <a:r>
              <a:rPr lang="zh-CN" altLang="en-US" dirty="0"/>
              <a:t>了。本节目标是建立一个完整的 </a:t>
            </a:r>
            <a:r>
              <a:rPr lang="en-US" altLang="zh-CN" b="1" dirty="0"/>
              <a:t>2D </a:t>
            </a:r>
            <a:r>
              <a:rPr lang="zh-CN" altLang="en-US" b="1" dirty="0"/>
              <a:t>渲染管线</a:t>
            </a:r>
            <a:r>
              <a:rPr lang="zh-CN" altLang="en-US" dirty="0"/>
              <a:t>，将游戏世界中的对象绘制到屏幕上。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817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641BE-3054-3E10-0A54-6F502EBF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📹 4. Camera </a:t>
            </a:r>
            <a:r>
              <a:rPr lang="zh-CN" altLang="en-US" b="1" dirty="0"/>
              <a:t>类：从哪里看？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39597-6FFD-E814-7986-49DB81BC7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Camera</a:t>
            </a:r>
            <a:r>
              <a:rPr lang="zh-CN" altLang="en-US" dirty="0"/>
              <a:t> 模拟摄像机，定义在广阔世界中可见的区域，核心职责是坐标变换与视图控制：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12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B715E-4343-F038-1D94-37D84AD44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US" b="1" dirty="0"/>
              <a:t>🌍 </a:t>
            </a:r>
            <a:r>
              <a:rPr lang="zh-CN" altLang="en-US" b="1" dirty="0"/>
              <a:t>坐标系统</a:t>
            </a:r>
          </a:p>
          <a:p>
            <a:pPr marL="0" indent="0">
              <a:buNone/>
            </a:pPr>
            <a:r>
              <a:rPr lang="zh-CN" altLang="en-US" b="1" dirty="0"/>
              <a:t>世界坐标 </a:t>
            </a:r>
            <a:r>
              <a:rPr lang="en-US" b="1" dirty="0"/>
              <a:t>vs. </a:t>
            </a:r>
            <a:r>
              <a:rPr lang="zh-CN" altLang="en-US" b="1" dirty="0"/>
              <a:t>屏幕坐标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在</a:t>
            </a:r>
            <a:r>
              <a:rPr lang="en-US" altLang="zh-CN" dirty="0"/>
              <a:t>"</a:t>
            </a:r>
            <a:r>
              <a:rPr lang="zh-CN" altLang="en-US" dirty="0"/>
              <a:t>世界坐标</a:t>
            </a:r>
            <a:r>
              <a:rPr lang="en-US" altLang="zh-CN" dirty="0"/>
              <a:t>"</a:t>
            </a:r>
            <a:r>
              <a:rPr lang="zh-CN" altLang="en-US" dirty="0"/>
              <a:t>（关卡中的绝对位置）与</a:t>
            </a:r>
            <a:r>
              <a:rPr lang="en-US" altLang="zh-CN" dirty="0"/>
              <a:t>"</a:t>
            </a:r>
            <a:r>
              <a:rPr lang="zh-CN" altLang="en-US" dirty="0"/>
              <a:t>屏幕坐标</a:t>
            </a:r>
            <a:r>
              <a:rPr lang="en-US" altLang="zh-CN" dirty="0"/>
              <a:t>"</a:t>
            </a:r>
            <a:r>
              <a:rPr lang="zh-CN" altLang="en-US" dirty="0"/>
              <a:t>（</a:t>
            </a:r>
            <a:r>
              <a:rPr lang="en-US" altLang="zh-CN" dirty="0"/>
              <a:t>640</a:t>
            </a:r>
            <a:r>
              <a:rPr lang="en-US" dirty="0"/>
              <a:t>x360 </a:t>
            </a:r>
            <a:r>
              <a:rPr lang="zh-CN" altLang="en-US" dirty="0"/>
              <a:t>画布上的绘制位置）之间转换</a:t>
            </a:r>
          </a:p>
          <a:p>
            <a:r>
              <a:rPr lang="en-US" b="1" dirty="0"/>
              <a:t>🔄 </a:t>
            </a:r>
            <a:r>
              <a:rPr lang="zh-CN" altLang="en-US" b="1" dirty="0"/>
              <a:t>核心方法</a:t>
            </a:r>
          </a:p>
          <a:p>
            <a:pPr marL="0" indent="0">
              <a:buNone/>
            </a:pPr>
            <a:r>
              <a:rPr lang="en-US" dirty="0"/>
              <a:t>🎯 </a:t>
            </a:r>
            <a:r>
              <a:rPr lang="en-US" b="1" dirty="0" err="1"/>
              <a:t>worldToScreen</a:t>
            </a:r>
            <a:r>
              <a:rPr lang="en-US" b="1" dirty="0"/>
              <a:t>()</a:t>
            </a:r>
            <a:r>
              <a:rPr lang="en-US" dirty="0"/>
              <a:t> - </a:t>
            </a:r>
            <a:r>
              <a:rPr lang="zh-CN" altLang="en-US" dirty="0"/>
              <a:t>将世界坐标转换为屏幕坐标，核心为 </a:t>
            </a:r>
            <a:r>
              <a:rPr lang="en-US" dirty="0" err="1"/>
              <a:t>screen_pos</a:t>
            </a:r>
            <a:r>
              <a:rPr lang="en-US" dirty="0"/>
              <a:t> = </a:t>
            </a:r>
            <a:r>
              <a:rPr lang="en-US" dirty="0" err="1"/>
              <a:t>world_pos</a:t>
            </a:r>
            <a:r>
              <a:rPr lang="en-US" dirty="0"/>
              <a:t> - </a:t>
            </a:r>
            <a:r>
              <a:rPr lang="en-US" dirty="0" err="1"/>
              <a:t>camera_pos</a:t>
            </a:r>
            <a:endParaRPr lang="en-US" dirty="0"/>
          </a:p>
          <a:p>
            <a:r>
              <a:rPr lang="en-US" b="1" dirty="0"/>
              <a:t>🎭 </a:t>
            </a:r>
            <a:r>
              <a:rPr lang="zh-CN" altLang="en-US" b="1" dirty="0"/>
              <a:t>视差滚动（</a:t>
            </a:r>
            <a:r>
              <a:rPr lang="en-US" b="1" dirty="0"/>
              <a:t>Parallax）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worldToScreenWithParallax</a:t>
            </a:r>
            <a:r>
              <a:rPr lang="en-US" dirty="0"/>
              <a:t>(</a:t>
            </a:r>
            <a:r>
              <a:rPr lang="en-US" dirty="0" err="1"/>
              <a:t>scroll_factor</a:t>
            </a:r>
            <a:r>
              <a:rPr lang="en-US" dirty="0"/>
              <a:t>) </a:t>
            </a:r>
            <a:r>
              <a:rPr lang="zh-CN" altLang="en-US" dirty="0"/>
              <a:t>按滚动因子进行相对移动：</a:t>
            </a:r>
          </a:p>
          <a:p>
            <a:pPr marL="0" indent="0">
              <a:buNone/>
            </a:pPr>
            <a:r>
              <a:rPr lang="en-US" dirty="0"/>
              <a:t>🎯 </a:t>
            </a:r>
            <a:r>
              <a:rPr lang="en-US" b="1" dirty="0" err="1"/>
              <a:t>scroll_factor</a:t>
            </a:r>
            <a:r>
              <a:rPr lang="en-US" b="1" dirty="0"/>
              <a:t> = 1</a:t>
            </a:r>
            <a:r>
              <a:rPr lang="en-US" dirty="0"/>
              <a:t> - </a:t>
            </a:r>
            <a:r>
              <a:rPr lang="zh-CN" altLang="en-US" dirty="0"/>
              <a:t>与相机同步移动</a:t>
            </a:r>
          </a:p>
          <a:p>
            <a:pPr marL="0" indent="0">
              <a:buNone/>
            </a:pPr>
            <a:r>
              <a:rPr lang="en-US" dirty="0"/>
              <a:t>🏠 </a:t>
            </a:r>
            <a:r>
              <a:rPr lang="en-US" b="1" dirty="0" err="1"/>
              <a:t>scroll_factor</a:t>
            </a:r>
            <a:r>
              <a:rPr lang="en-US" b="1" dirty="0"/>
              <a:t> = 0</a:t>
            </a:r>
            <a:r>
              <a:rPr lang="en-US" dirty="0"/>
              <a:t> - </a:t>
            </a:r>
            <a:r>
              <a:rPr lang="zh-CN" altLang="en-US" dirty="0"/>
              <a:t>静止（典型用于 </a:t>
            </a:r>
            <a:r>
              <a:rPr lang="en-US" dirty="0"/>
              <a:t>UI）</a:t>
            </a:r>
          </a:p>
          <a:p>
            <a:pPr marL="0" indent="0">
              <a:buNone/>
            </a:pPr>
            <a:r>
              <a:rPr lang="en-US" dirty="0"/>
              <a:t>🌄 </a:t>
            </a:r>
            <a:r>
              <a:rPr lang="en-US" b="1" dirty="0"/>
              <a:t>0 &lt; </a:t>
            </a:r>
            <a:r>
              <a:rPr lang="en-US" b="1" dirty="0" err="1"/>
              <a:t>scroll_factor</a:t>
            </a:r>
            <a:r>
              <a:rPr lang="en-US" b="1" dirty="0"/>
              <a:t> &lt; 1</a:t>
            </a:r>
            <a:r>
              <a:rPr lang="en-US" dirty="0"/>
              <a:t> - </a:t>
            </a:r>
            <a:r>
              <a:rPr lang="zh-CN" altLang="en-US" dirty="0"/>
              <a:t>产生景深效果的视差滚动</a:t>
            </a:r>
          </a:p>
          <a:p>
            <a:r>
              <a:rPr lang="en-US" b="1" dirty="0"/>
              <a:t>🚧 </a:t>
            </a:r>
            <a:r>
              <a:rPr lang="zh-CN" altLang="en-US" b="1" dirty="0"/>
              <a:t>移动边界</a:t>
            </a:r>
          </a:p>
          <a:p>
            <a:pPr marL="0" indent="0">
              <a:buNone/>
            </a:pPr>
            <a:r>
              <a:rPr lang="en-US" dirty="0" err="1"/>
              <a:t>setLimitBounds</a:t>
            </a:r>
            <a:r>
              <a:rPr lang="en-US" dirty="0"/>
              <a:t>() </a:t>
            </a:r>
            <a:r>
              <a:rPr lang="zh-CN" altLang="en-US" dirty="0"/>
              <a:t>限制相机移动范围，防止越界关卡。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550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56A5-87CE-D282-5F71-321CAAFA3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自定义</a:t>
            </a:r>
            <a:r>
              <a:rPr lang="en-US" b="1" dirty="0" err="1"/>
              <a:t>Rect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A44B-D291-0D8F-0172-14302D780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相机中用到的 </a:t>
            </a:r>
            <a:r>
              <a:rPr lang="en-US" dirty="0"/>
              <a:t>engine::utils::</a:t>
            </a:r>
            <a:r>
              <a:rPr lang="en-US" dirty="0" err="1"/>
              <a:t>Rect</a:t>
            </a:r>
            <a:r>
              <a:rPr lang="en-US" dirty="0"/>
              <a:t> </a:t>
            </a:r>
            <a:r>
              <a:rPr lang="zh-CN" altLang="en-US" dirty="0"/>
              <a:t>定义在 </a:t>
            </a:r>
            <a:r>
              <a:rPr lang="en-US" dirty="0" err="1"/>
              <a:t>src</a:t>
            </a:r>
            <a:r>
              <a:rPr lang="en-US" dirty="0"/>
              <a:t>/engine/utils/</a:t>
            </a:r>
            <a:r>
              <a:rPr lang="en-US" dirty="0" err="1"/>
              <a:t>math.h</a:t>
            </a:r>
            <a:r>
              <a:rPr lang="en-US" dirty="0"/>
              <a:t> </a:t>
            </a:r>
            <a:r>
              <a:rPr lang="zh-CN" altLang="en-US" dirty="0"/>
              <a:t>中：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26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10F5-5B05-8397-2B2B-7A91E116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🎨 5. Renderer </a:t>
            </a:r>
            <a:r>
              <a:rPr lang="zh-CN" altLang="en-US" b="1" dirty="0"/>
              <a:t>类：谁来画？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951C8-4E61-F696-6041-D4F40EBEE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Renderer </a:t>
            </a:r>
            <a:r>
              <a:rPr lang="zh-CN" altLang="en-US" dirty="0"/>
              <a:t>是渲染中枢，封装 </a:t>
            </a:r>
            <a:r>
              <a:rPr lang="en-US" dirty="0"/>
              <a:t>SDL </a:t>
            </a:r>
            <a:r>
              <a:rPr lang="zh-CN" altLang="en-US" dirty="0"/>
              <a:t>底层绘制 </a:t>
            </a:r>
            <a:r>
              <a:rPr lang="en-US" dirty="0"/>
              <a:t>API，</a:t>
            </a:r>
            <a:r>
              <a:rPr lang="zh-CN" altLang="en-US" dirty="0"/>
              <a:t>并提供更高层、易用的绘制接口：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142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0FE6C-81CE-A2CA-3BC8-11637D89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zh-CN" altLang="en-US" b="1" dirty="0"/>
              <a:t>🔗 依赖关系</a:t>
            </a:r>
          </a:p>
          <a:p>
            <a:pPr marL="0" indent="0">
              <a:buNone/>
            </a:pPr>
            <a:r>
              <a:rPr lang="zh-CN" altLang="en-US" dirty="0"/>
              <a:t>构造时接收 </a:t>
            </a:r>
            <a:r>
              <a:rPr lang="en-US" altLang="zh-CN" dirty="0" err="1"/>
              <a:t>SDL_Renderer</a:t>
            </a:r>
            <a:r>
              <a:rPr lang="en-US" altLang="zh-CN" dirty="0"/>
              <a:t>*</a:t>
            </a:r>
            <a:r>
              <a:rPr lang="zh-CN" altLang="en-US" dirty="0"/>
              <a:t> 与 </a:t>
            </a:r>
            <a:r>
              <a:rPr lang="en-US" altLang="zh-CN" dirty="0" err="1"/>
              <a:t>ResourceManager</a:t>
            </a:r>
            <a:r>
              <a:rPr lang="en-US" altLang="zh-CN" dirty="0"/>
              <a:t>*</a:t>
            </a:r>
            <a:r>
              <a:rPr lang="zh-CN" altLang="en-US" dirty="0"/>
              <a:t>，以便直接调用 </a:t>
            </a:r>
            <a:r>
              <a:rPr lang="en-US" altLang="zh-CN" dirty="0"/>
              <a:t>SDL </a:t>
            </a:r>
            <a:r>
              <a:rPr lang="zh-CN" altLang="en-US" dirty="0"/>
              <a:t>并向资源管理器请求纹理。</a:t>
            </a:r>
          </a:p>
          <a:p>
            <a:r>
              <a:rPr lang="zh-CN" altLang="en-US" b="1" dirty="0"/>
              <a:t>🛠️ 主要方法</a:t>
            </a:r>
          </a:p>
          <a:p>
            <a:pPr marL="0" indent="0">
              <a:buNone/>
            </a:pPr>
            <a:r>
              <a:rPr lang="zh-CN" altLang="en-US" dirty="0"/>
              <a:t>🌍 </a:t>
            </a:r>
            <a:r>
              <a:rPr lang="en-US" altLang="zh-CN" dirty="0" err="1"/>
              <a:t>drawSprite</a:t>
            </a:r>
            <a:r>
              <a:rPr lang="en-US" altLang="zh-CN" dirty="0"/>
              <a:t>()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绘制受相机影响的世界物体；先做坐标转换，再进行视口裁剪（</a:t>
            </a:r>
            <a:r>
              <a:rPr lang="en-US" altLang="zh-CN" dirty="0"/>
              <a:t>Viewport Culling</a:t>
            </a:r>
            <a:r>
              <a:rPr lang="zh-CN" altLang="en-US" dirty="0"/>
              <a:t>），屏外则跳过以提升性能</a:t>
            </a:r>
          </a:p>
          <a:p>
            <a:pPr marL="0" indent="0">
              <a:buNone/>
            </a:pPr>
            <a:r>
              <a:rPr lang="zh-CN" altLang="en-US" dirty="0"/>
              <a:t>🖥️ </a:t>
            </a:r>
            <a:r>
              <a:rPr lang="en-US" altLang="zh-CN" dirty="0" err="1"/>
              <a:t>drawUISprite</a:t>
            </a:r>
            <a:r>
              <a:rPr lang="en-US" altLang="zh-CN" dirty="0"/>
              <a:t>()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在屏幕坐标系直接绘制 </a:t>
            </a:r>
            <a:r>
              <a:rPr lang="en-US" altLang="zh-CN" dirty="0"/>
              <a:t>UI</a:t>
            </a:r>
            <a:r>
              <a:rPr lang="zh-CN" altLang="en-US" dirty="0"/>
              <a:t>（如血条、得分），不受相机影响</a:t>
            </a:r>
          </a:p>
          <a:p>
            <a:pPr marL="0" indent="0">
              <a:buNone/>
            </a:pPr>
            <a:r>
              <a:rPr lang="zh-CN" altLang="en-US" dirty="0"/>
              <a:t>🌄 </a:t>
            </a:r>
            <a:r>
              <a:rPr lang="en-US" altLang="zh-CN" dirty="0" err="1"/>
              <a:t>drawParallax</a:t>
            </a:r>
            <a:r>
              <a:rPr lang="en-US" altLang="zh-CN" dirty="0"/>
              <a:t>()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用于可重复的视差背景；根据相机位置与滚动因子计算需要绘制的背景图块，实现无限滚动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388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2CA4-053B-D93D-D7F5-6ECCF41B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🔌 </a:t>
            </a:r>
            <a:r>
              <a:rPr lang="en-US" altLang="zh-CN" b="1" dirty="0"/>
              <a:t>6. </a:t>
            </a:r>
            <a:r>
              <a:rPr lang="zh-CN" altLang="en-US" b="1" dirty="0"/>
              <a:t>集成与测试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0F6D-2C99-BE16-1987-2C8723D6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🏗️ </a:t>
            </a:r>
            <a:r>
              <a:rPr lang="zh-CN" altLang="en-US" b="1" dirty="0"/>
              <a:t>集成方式</a:t>
            </a:r>
          </a:p>
          <a:p>
            <a:pPr marL="0" indent="0">
              <a:buNone/>
            </a:pPr>
            <a:r>
              <a:rPr lang="zh-CN" altLang="en-US" dirty="0"/>
              <a:t>在 </a:t>
            </a:r>
            <a:r>
              <a:rPr lang="en-US" dirty="0" err="1"/>
              <a:t>GameApp</a:t>
            </a:r>
            <a:r>
              <a:rPr lang="en-US" dirty="0"/>
              <a:t> </a:t>
            </a:r>
            <a:r>
              <a:rPr lang="zh-CN" altLang="en-US" dirty="0"/>
              <a:t>中以 </a:t>
            </a:r>
            <a:r>
              <a:rPr lang="en-US" dirty="0" err="1"/>
              <a:t>unique_ptr</a:t>
            </a:r>
            <a:r>
              <a:rPr lang="en-US" dirty="0"/>
              <a:t> </a:t>
            </a:r>
            <a:r>
              <a:rPr lang="zh-CN" altLang="en-US" dirty="0"/>
              <a:t>持有 </a:t>
            </a:r>
            <a:r>
              <a:rPr lang="en-US" dirty="0"/>
              <a:t>Renderer </a:t>
            </a:r>
            <a:r>
              <a:rPr lang="zh-CN" altLang="en-US" dirty="0"/>
              <a:t>与 </a:t>
            </a:r>
            <a:r>
              <a:rPr lang="en-US" dirty="0"/>
              <a:t>Camera，</a:t>
            </a:r>
            <a:r>
              <a:rPr lang="zh-CN" altLang="en-US" dirty="0"/>
              <a:t>在 </a:t>
            </a:r>
            <a:r>
              <a:rPr lang="en-US" dirty="0" err="1"/>
              <a:t>init</a:t>
            </a:r>
            <a:r>
              <a:rPr lang="en-US" dirty="0"/>
              <a:t>() </a:t>
            </a:r>
            <a:r>
              <a:rPr lang="zh-CN" altLang="en-US" dirty="0"/>
              <a:t>阶段初始化（与 </a:t>
            </a:r>
            <a:r>
              <a:rPr lang="en-US" dirty="0" err="1"/>
              <a:t>Time、ResourceManager</a:t>
            </a:r>
            <a:r>
              <a:rPr lang="en-US" dirty="0"/>
              <a:t> </a:t>
            </a:r>
            <a:r>
              <a:rPr lang="zh-CN" altLang="en-US" dirty="0"/>
              <a:t>模式一致）。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7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7BCF2-596A-0F6E-D9A6-F495CDA33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🎬 </a:t>
            </a:r>
            <a:r>
              <a:rPr lang="zh-CN" altLang="en-US" sz="4000" b="1" dirty="0"/>
              <a:t>渲染流</a:t>
            </a:r>
            <a:r>
              <a:rPr lang="zh-CN" altLang="en-US" sz="3600" b="1" dirty="0"/>
              <a:t>程</a:t>
            </a:r>
          </a:p>
          <a:p>
            <a:pPr marL="0" indent="0">
              <a:buNone/>
            </a:pPr>
            <a:r>
              <a:rPr lang="zh-CN" altLang="en-US" sz="3200" dirty="0"/>
              <a:t>重构为三步：</a:t>
            </a:r>
          </a:p>
          <a:p>
            <a:r>
              <a:rPr lang="en-US" dirty="0"/>
              <a:t>🧹 </a:t>
            </a:r>
            <a:r>
              <a:rPr lang="en-US" b="1" dirty="0"/>
              <a:t>renderer_-&gt;</a:t>
            </a:r>
            <a:r>
              <a:rPr lang="en-US" b="1" dirty="0" err="1"/>
              <a:t>clearScreen</a:t>
            </a:r>
            <a:r>
              <a:rPr lang="en-US" b="1" dirty="0"/>
              <a:t>()</a:t>
            </a:r>
            <a:r>
              <a:rPr lang="en-US" dirty="0"/>
              <a:t> - </a:t>
            </a:r>
            <a:r>
              <a:rPr lang="zh-CN" altLang="en-US" dirty="0"/>
              <a:t>用背景色清空画布</a:t>
            </a:r>
          </a:p>
          <a:p>
            <a:r>
              <a:rPr lang="en-US" dirty="0"/>
              <a:t>🎨 </a:t>
            </a:r>
            <a:r>
              <a:rPr lang="en-US" b="1" dirty="0" err="1"/>
              <a:t>testRenderer</a:t>
            </a:r>
            <a:r>
              <a:rPr lang="en-US" b="1" dirty="0"/>
              <a:t>()</a:t>
            </a:r>
            <a:r>
              <a:rPr lang="en-US" dirty="0"/>
              <a:t> - </a:t>
            </a:r>
            <a:r>
              <a:rPr lang="zh-CN" altLang="en-US" dirty="0"/>
              <a:t>发出所有具体绘制指令</a:t>
            </a:r>
          </a:p>
          <a:p>
            <a:r>
              <a:rPr lang="en-US" dirty="0"/>
              <a:t>📺 </a:t>
            </a:r>
            <a:r>
              <a:rPr lang="en-US" b="1" dirty="0"/>
              <a:t>renderer_-&gt;present()</a:t>
            </a:r>
            <a:r>
              <a:rPr lang="en-US" dirty="0"/>
              <a:t> - </a:t>
            </a:r>
            <a:r>
              <a:rPr lang="zh-CN" altLang="en-US" dirty="0"/>
              <a:t>将画布内容呈现到屏幕</a:t>
            </a:r>
          </a:p>
          <a:p>
            <a:pPr marL="0" indent="0">
              <a:buNone/>
            </a:pPr>
            <a:r>
              <a:rPr lang="en-US" sz="3200" b="1" dirty="0"/>
              <a:t>🧪 </a:t>
            </a:r>
            <a:r>
              <a:rPr lang="zh-CN" altLang="en-US" sz="3200" b="1" dirty="0"/>
              <a:t>测试函数</a:t>
            </a:r>
          </a:p>
          <a:p>
            <a:r>
              <a:rPr lang="en-US" dirty="0"/>
              <a:t>📹 </a:t>
            </a:r>
            <a:r>
              <a:rPr lang="en-US" b="1" dirty="0" err="1"/>
              <a:t>testCamera</a:t>
            </a:r>
            <a:r>
              <a:rPr lang="en-US" b="1" dirty="0"/>
              <a:t>()</a:t>
            </a:r>
            <a:r>
              <a:rPr lang="en-US" dirty="0"/>
              <a:t> - </a:t>
            </a:r>
            <a:r>
              <a:rPr lang="zh-CN" altLang="en-US" dirty="0"/>
              <a:t>用方向键移动相机，验证视图移动与边界限制</a:t>
            </a:r>
          </a:p>
          <a:p>
            <a:r>
              <a:rPr lang="en-US" dirty="0"/>
              <a:t>🎨 </a:t>
            </a:r>
            <a:r>
              <a:rPr lang="en-US" b="1" dirty="0" err="1"/>
              <a:t>testRenderer</a:t>
            </a:r>
            <a:r>
              <a:rPr lang="en-US" b="1" dirty="0"/>
              <a:t>()</a:t>
            </a:r>
            <a:r>
              <a:rPr lang="en-US" dirty="0"/>
              <a:t> - </a:t>
            </a:r>
            <a:r>
              <a:rPr lang="zh-CN" altLang="en-US" dirty="0"/>
              <a:t>同时绘制背景（视差）、青蛙（世界）与按钮（</a:t>
            </a:r>
            <a:r>
              <a:rPr lang="en-US" dirty="0"/>
              <a:t>UI），</a:t>
            </a:r>
            <a:r>
              <a:rPr lang="zh-CN" altLang="en-US" dirty="0"/>
              <a:t>并让青蛙旋转，演示三类绘制方法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41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CC31-C659-32BA-8273-4BA5C18F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📋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B3CD-742C-BD00-EF9C-C3EE7E7EF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我们成功构建了一个完整的 </a:t>
            </a:r>
            <a:r>
              <a:rPr lang="en-US" altLang="zh-CN" dirty="0"/>
              <a:t>2D </a:t>
            </a:r>
            <a:r>
              <a:rPr lang="zh-CN" altLang="en-US" dirty="0"/>
              <a:t>渲染系统，包含：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像素完美的逻辑分辨率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灵活的精灵系统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强大的相机控制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高效的渲染管线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视差滚动背景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这为我们后续的游戏对象、动画系统和场景管理奠定了坚实的基础！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44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1007</Words>
  <Application>Microsoft Office PowerPoint</Application>
  <PresentationFormat>Widescreen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-apple-system</vt:lpstr>
      <vt:lpstr>source-code-pro</vt:lpstr>
      <vt:lpstr>Aptos</vt:lpstr>
      <vt:lpstr>Aptos Display</vt:lpstr>
      <vt:lpstr>Arial</vt:lpstr>
      <vt:lpstr>Office Theme</vt:lpstr>
      <vt:lpstr>渲染器、相机与精灵</vt:lpstr>
      <vt:lpstr>📖 概述</vt:lpstr>
      <vt:lpstr>🎯 核心概念</vt:lpstr>
      <vt:lpstr>PowerPoint Presentation</vt:lpstr>
      <vt:lpstr>🔍 1. 逻辑分辨率：像素游戏的关键</vt:lpstr>
      <vt:lpstr>💻 实现方法</vt:lpstr>
      <vt:lpstr>📁 2. 新的项目结构</vt:lpstr>
      <vt:lpstr>🖼️ 3. Sprite 类：画什么？</vt:lpstr>
      <vt:lpstr>📊 核心属性</vt:lpstr>
      <vt:lpstr>📹 4. Camera 类：从哪里看？</vt:lpstr>
      <vt:lpstr>PowerPoint Presentation</vt:lpstr>
      <vt:lpstr>自定义Rect</vt:lpstr>
      <vt:lpstr>🎨 5. Renderer 类：谁来画？</vt:lpstr>
      <vt:lpstr>PowerPoint Presentation</vt:lpstr>
      <vt:lpstr>🔌 6. 集成与测试</vt:lpstr>
      <vt:lpstr>PowerPoint Presentation</vt:lpstr>
      <vt:lpstr>📋 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2025-10-30T12:46:41Z</dcterms:created>
  <dcterms:modified xsi:type="dcterms:W3CDTF">2025-10-30T12:52:33Z</dcterms:modified>
</cp:coreProperties>
</file>