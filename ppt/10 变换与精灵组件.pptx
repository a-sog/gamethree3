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CA4D-3FC2-263F-88E0-B51F85D3B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FAEEF-2503-DFAB-EE65-E87EC4A4D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F2F2-B5A4-B0EE-0342-26DB0DDC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813C-C096-8B8D-3A94-559B5CDD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9FB5-C75B-2911-BCE6-2B809695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2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2B5B-C204-AC8D-3927-1183CE6B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3AA04-AAC2-3DD9-1526-9CC06F276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5716-BF54-3B1D-2B9B-240A8496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9A03C-7F61-BABE-E44E-8723FD5E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EEB7A-DB31-698A-1033-759F277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4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640C-4DE0-70D1-C128-AC5A52E7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F3A0C-E496-982B-B43C-35D056EB8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EFDD5-5E1B-B91C-FCA3-E814D548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4D766-ED2E-6538-2C5B-AD1A42E3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2A962-8788-2F8E-C672-0F229DD4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3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0C2A-6DAE-E408-F6FD-3BB9E1CB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77090-087C-6A7B-1714-C972B3E02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F630D-22F8-DAF8-9D5B-92F3FB4D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D580B-5E37-3A1E-404B-EF4C5327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64BB0-86B4-DB4A-4C52-30871E9D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512B1-D457-DAC7-5D3B-670D4465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9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9456-7FBF-9CEF-A9B7-B4B07DE8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9B3F2-4FEC-F662-B437-3425DFAE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DD365-230C-3BE2-CE53-1825BD062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F1590-595B-370D-A645-AB5D832E8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B0C20-C6C0-14D2-9365-F2A4AC411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6BBB0-46AC-1375-6300-473631E9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F44E7-8258-6EC5-3BD4-8022E5F0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3340A-0F1E-CE51-4B62-F1F26E26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5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1B3F-52D1-8C77-32F7-1264457B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A40AE-A4A7-C06C-9BB3-4BDFAB23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1241F-E75A-A435-B8D3-FD79024D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BE427-CE37-DAF8-9E60-EE747F34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1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BBAA8-D144-3BDA-B66D-A77FC870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584BF-156D-FB8A-9C4B-3FD58B40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D737B-6D93-E181-B477-553FB33A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3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C88D-CF03-6D8A-34FC-28BC5A82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1634-5116-28AC-691E-4BF1A1032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449B4-FF49-0BFC-F7CE-DED26EB5E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F197B-C9A9-9DB1-3248-34C485B4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87F7D-32D6-B473-AC24-82D4F94B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67F60-6A6A-0954-1D5B-4D57C876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9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B918-C601-3273-FA9F-4B84FB56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F5FB3-3958-71A4-9C20-D676CF81A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968A6-93C4-31A0-B997-3124D5E55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C9087-8F6D-4D15-12EF-017B537B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46560-ACA4-3266-642E-5F7CF50D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38E70-E435-578D-B4EE-FCFD026E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7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C94D-B709-B658-E14D-650E6D0C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24B7D-B52C-E300-F48D-4B1A0A30C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41541-0CE2-6362-0C03-C30C36BC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13DBC-0B10-A0FD-480E-177429FA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878CC-F602-5280-4878-ED4A1017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1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332B6-8CF6-FEDE-393F-56A61E3D7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01836-6641-DC0C-40FC-EED3688B4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F4AAA-E145-122A-3687-D061EB40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69952-510E-3A70-23AD-15936BDA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0DBF3-82CD-FE5A-576F-BE5AEFF2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4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3028E-F286-84EB-1668-7AD3C14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EF2C9-E8A1-08CD-1BFD-20A60B35A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266F4-5BD2-E212-2098-6797A343B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4EFF6-477D-4F48-AC51-21D9F0E2299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7A2AF-CA01-53F8-F4D1-79B34A681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4ED6-4C9B-8E4D-5E3D-9A396A837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CC0EC-2B30-4F86-BFEB-51C02C58D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4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FEB8-87C9-7F96-5E0B-6D542C128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变换与精灵组件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4803B-4CFE-0E3B-DD9A-A4FC6913CD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8E69-C866-9213-0A0E-1C19B6AC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1839-E7B9-D71F-05C7-71B335FBF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在上一课中，我们构建了强大的 </a:t>
            </a:r>
            <a:r>
              <a:rPr lang="en-US" altLang="zh-CN" dirty="0" err="1"/>
              <a:t>GameObject</a:t>
            </a:r>
            <a:r>
              <a:rPr lang="zh-CN" altLang="en-US" dirty="0"/>
              <a:t> 和 </a:t>
            </a:r>
            <a:r>
              <a:rPr lang="en-US" altLang="zh-CN" dirty="0"/>
              <a:t>Component</a:t>
            </a:r>
            <a:r>
              <a:rPr lang="zh-CN" altLang="en-US" dirty="0"/>
              <a:t> 基类，为我们的引擎奠定了面向组件编程的基石。然而，这些还只是蓝图。</a:t>
            </a:r>
            <a:r>
              <a:rPr lang="en-US" altLang="zh-CN" dirty="0" err="1"/>
              <a:t>GameObject</a:t>
            </a:r>
            <a:r>
              <a:rPr lang="zh-CN" altLang="en-US" dirty="0"/>
              <a:t> 本身是看不见摸不着的，</a:t>
            </a:r>
            <a:r>
              <a:rPr lang="en-US" altLang="zh-CN" dirty="0"/>
              <a:t>Component</a:t>
            </a:r>
            <a:r>
              <a:rPr lang="zh-CN" altLang="en-US" dirty="0"/>
              <a:t> 基类也未实现任何具体功能。</a:t>
            </a:r>
          </a:p>
          <a:p>
            <a:pPr marL="0" indent="0">
              <a:buNone/>
            </a:pPr>
            <a:r>
              <a:rPr lang="zh-CN" altLang="en-US" dirty="0"/>
              <a:t>本节课，我们将创建两个 </a:t>
            </a:r>
            <a:r>
              <a:rPr lang="zh-CN" altLang="en-US" b="1" dirty="0"/>
              <a:t>最核心的组件</a:t>
            </a:r>
            <a:r>
              <a:rPr lang="zh-CN" altLang="en-US" dirty="0"/>
              <a:t>，赋予游戏对象在世界中存在的基础属性：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02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A548-BAE1-07DE-18C8-43D3B5AE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22BE27-483E-9D90-CDB1-2A9B2BE13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78297"/>
              </p:ext>
            </p:extLst>
          </p:nvPr>
        </p:nvGraphicFramePr>
        <p:xfrm>
          <a:off x="838200" y="1825625"/>
          <a:ext cx="10515597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8320038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517429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31238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组件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核心问题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82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TransformComponent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它在哪儿？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负责存储游戏对象的位置（</a:t>
                      </a:r>
                      <a:r>
                        <a:rPr lang="en-US" altLang="zh-CN">
                          <a:effectLst/>
                        </a:rPr>
                        <a:t>position</a:t>
                      </a:r>
                      <a:r>
                        <a:rPr lang="zh-CN" altLang="en-US">
                          <a:effectLst/>
                        </a:rPr>
                        <a:t>）、旋转（</a:t>
                      </a:r>
                      <a:r>
                        <a:rPr lang="en-US" altLang="zh-CN">
                          <a:effectLst/>
                        </a:rPr>
                        <a:t>rotation</a:t>
                      </a:r>
                      <a:r>
                        <a:rPr lang="zh-CN" altLang="en-US">
                          <a:effectLst/>
                        </a:rPr>
                        <a:t>）和缩放（</a:t>
                      </a:r>
                      <a:r>
                        <a:rPr lang="en-US" altLang="zh-CN">
                          <a:effectLst/>
                        </a:rPr>
                        <a:t>scale</a:t>
                      </a:r>
                      <a:r>
                        <a:rPr lang="zh-CN" altLang="en-US">
                          <a:effectLst/>
                        </a:rPr>
                        <a:t>）。这是几乎所有游戏对象都必备的组件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145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SpriteComponent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它长什么样？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负责在游戏对象的位置上绘制一个精灵（</a:t>
                      </a:r>
                      <a:r>
                        <a:rPr lang="en-US" altLang="zh-CN" dirty="0">
                          <a:effectLst/>
                        </a:rPr>
                        <a:t>sprite</a:t>
                      </a:r>
                      <a:r>
                        <a:rPr lang="zh-CN" altLang="en-US" dirty="0">
                          <a:effectLst/>
                        </a:rPr>
                        <a:t>），让我们的对象变得可见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11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8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E541-6491-9906-C9F2-316ED7DF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🤔 </a:t>
            </a:r>
            <a:r>
              <a:rPr lang="zh-CN" altLang="en-US" b="1" dirty="0"/>
              <a:t>架构挑战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E6D8-29C9-DCCD-1C44-0E0B17C8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但在开始之前，我们面临一个架构上的挑战：</a:t>
            </a:r>
          </a:p>
          <a:p>
            <a:pPr marL="0" indent="0">
              <a:buNone/>
            </a:pPr>
            <a:r>
              <a:rPr lang="en-US" dirty="0"/>
              <a:t>❓ </a:t>
            </a:r>
            <a:r>
              <a:rPr lang="zh-CN" altLang="en-US" b="1" dirty="0"/>
              <a:t>组件如何与引擎的其他部分（如 </a:t>
            </a:r>
            <a:r>
              <a:rPr lang="en-US" b="1" dirty="0" err="1"/>
              <a:t>Renderer、ResourceManager</a:t>
            </a:r>
            <a:r>
              <a:rPr lang="en-US" b="1" dirty="0"/>
              <a:t>）</a:t>
            </a:r>
            <a:r>
              <a:rPr lang="zh-CN" altLang="en-US" b="1" dirty="0"/>
              <a:t>通信？</a:t>
            </a: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15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2DBA-3430-D96F-D429-0EA9316A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依赖注入与 </a:t>
            </a:r>
            <a:r>
              <a:rPr lang="en-US" b="1" dirty="0"/>
              <a:t>Context </a:t>
            </a:r>
            <a:r>
              <a:rPr lang="zh-CN" altLang="en-US" b="1" dirty="0"/>
              <a:t>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CFB8-7C0A-F895-6F75-7B23E025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问题分析</a:t>
            </a:r>
            <a:endParaRPr lang="en-US" altLang="zh-CN" b="1" dirty="0"/>
          </a:p>
          <a:p>
            <a:pPr marL="0" indent="0">
              <a:buNone/>
            </a:pPr>
            <a:r>
              <a:rPr lang="en-US" dirty="0" err="1"/>
              <a:t>SpriteComponent</a:t>
            </a:r>
            <a:r>
              <a:rPr lang="en-US" dirty="0"/>
              <a:t> </a:t>
            </a:r>
            <a:r>
              <a:rPr lang="zh-CN" altLang="en-US" dirty="0"/>
              <a:t>需要：</a:t>
            </a:r>
          </a:p>
          <a:p>
            <a:r>
              <a:rPr lang="zh-CN" altLang="en-US" dirty="0"/>
              <a:t>调用 </a:t>
            </a:r>
            <a:r>
              <a:rPr lang="en-US" dirty="0"/>
              <a:t>Renderer </a:t>
            </a:r>
            <a:r>
              <a:rPr lang="zh-CN" altLang="en-US" dirty="0"/>
              <a:t>来绘制自己</a:t>
            </a:r>
          </a:p>
          <a:p>
            <a:r>
              <a:rPr lang="zh-CN" altLang="en-US" dirty="0"/>
              <a:t>访问 </a:t>
            </a:r>
            <a:r>
              <a:rPr lang="en-US" dirty="0" err="1"/>
              <a:t>ResourceManager</a:t>
            </a:r>
            <a:r>
              <a:rPr lang="en-US" dirty="0"/>
              <a:t> </a:t>
            </a:r>
            <a:r>
              <a:rPr lang="zh-CN" altLang="en-US" dirty="0"/>
              <a:t>来获取纹理信息</a:t>
            </a:r>
          </a:p>
          <a:p>
            <a:pPr marL="0" indent="0">
              <a:buNone/>
            </a:pPr>
            <a:r>
              <a:rPr lang="zh-CN" altLang="en-US" dirty="0"/>
              <a:t>我们当然可以在创建 </a:t>
            </a:r>
            <a:r>
              <a:rPr lang="en-US" dirty="0" err="1"/>
              <a:t>SpriteComponent</a:t>
            </a:r>
            <a:r>
              <a:rPr lang="en-US" dirty="0"/>
              <a:t> </a:t>
            </a:r>
            <a:r>
              <a:rPr lang="zh-CN" altLang="en-US" dirty="0"/>
              <a:t>时把 </a:t>
            </a:r>
            <a:r>
              <a:rPr lang="en-US" dirty="0"/>
              <a:t>Renderer </a:t>
            </a:r>
            <a:r>
              <a:rPr lang="zh-CN" altLang="en-US" dirty="0"/>
              <a:t>和 </a:t>
            </a:r>
            <a:r>
              <a:rPr lang="en-US" dirty="0" err="1"/>
              <a:t>ResourceManager</a:t>
            </a:r>
            <a:r>
              <a:rPr lang="en-US" dirty="0"/>
              <a:t> </a:t>
            </a:r>
            <a:r>
              <a:rPr lang="zh-CN" altLang="en-US" dirty="0"/>
              <a:t>的指针传给它，但：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❌ </a:t>
            </a:r>
            <a:r>
              <a:rPr lang="zh-CN" altLang="en-US" b="1" dirty="0"/>
              <a:t>传统方式的问题：</a:t>
            </a:r>
            <a:endParaRPr lang="zh-CN" altLang="en-US" dirty="0"/>
          </a:p>
          <a:p>
            <a:pPr marL="0" indent="0">
              <a:buNone/>
            </a:pPr>
            <a:endParaRPr lang="zh-CN" alt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70F4C-E4C4-7384-EB91-75B77065C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33" y="5212112"/>
            <a:ext cx="708696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68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BD6E-EFC9-B6E4-274D-82185FD4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A377-808A-F319-29F5-7169EAE9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随着组件和引擎模块越来越多：</a:t>
            </a:r>
          </a:p>
          <a:p>
            <a:r>
              <a:rPr lang="zh-CN" altLang="en-US" sz="2400" dirty="0"/>
              <a:t>构造函数会变得越来越长</a:t>
            </a:r>
          </a:p>
          <a:p>
            <a:r>
              <a:rPr lang="zh-CN" altLang="en-US" sz="2400" dirty="0"/>
              <a:t>依赖关系会变得错综复杂</a:t>
            </a:r>
          </a:p>
          <a:p>
            <a:r>
              <a:rPr lang="zh-CN" altLang="en-US" sz="2400" dirty="0"/>
              <a:t>修改和维护困难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7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E54B-18BC-ED87-E080-4E2239FD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解决方案：</a:t>
            </a:r>
            <a:r>
              <a:rPr lang="en-US" b="1" dirty="0"/>
              <a:t>Context（</a:t>
            </a:r>
            <a:r>
              <a:rPr lang="zh-CN" altLang="en-US" b="1" dirty="0"/>
              <a:t>上下文）类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E8423-33B1-C37E-C792-2E49981AA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4158" y="2226378"/>
            <a:ext cx="6483683" cy="3549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C5024A-9F74-F3A0-0286-D84BCA048F28}"/>
              </a:ext>
            </a:extLst>
          </p:cNvPr>
          <p:cNvSpPr txBox="1"/>
          <p:nvPr/>
        </p:nvSpPr>
        <p:spPr>
          <a:xfrm>
            <a:off x="3118338" y="58465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为了解决这个问题，我们引入一种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优雅</a:t>
            </a:r>
            <a:r>
              <a:rPr lang="zh-CN" altLang="en-US" b="0" i="0" dirty="0">
                <a:effectLst/>
                <a:latin typeface="-apple-system"/>
              </a:rPr>
              <a:t>的设计模式：</a:t>
            </a:r>
            <a:r>
              <a:rPr lang="zh-CN" altLang="en-US" b="1" i="0" dirty="0">
                <a:effectLst/>
                <a:latin typeface="-apple-system"/>
              </a:rPr>
              <a:t>依赖注入容器</a:t>
            </a:r>
            <a:r>
              <a:rPr lang="zh-CN" altLang="en-US" b="0" i="0" dirty="0">
                <a:effectLst/>
                <a:latin typeface="-apple-system"/>
              </a:rPr>
              <a:t>，在这里我们称之为 </a:t>
            </a:r>
            <a:r>
              <a:rPr lang="en-US" altLang="zh-CN" b="0" i="0" dirty="0">
                <a:effectLst/>
                <a:latin typeface="source-code-pro"/>
              </a:rPr>
              <a:t>Context</a:t>
            </a:r>
            <a:r>
              <a:rPr lang="zh-CN" altLang="en-US" b="0" i="0" dirty="0">
                <a:effectLst/>
                <a:latin typeface="-apple-system"/>
              </a:rPr>
              <a:t>（上下文）类。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2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4BE2-6EED-4CE0-7FD7-CF8B3F9D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FABF-E51B-048E-8F1E-CCAC6E19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engine/core/</a:t>
            </a:r>
            <a:r>
              <a:rPr lang="en-US" b="1" dirty="0" err="1"/>
              <a:t>context.h</a:t>
            </a:r>
            <a:endParaRPr lang="en-US" b="1" dirty="0"/>
          </a:p>
          <a:p>
            <a:r>
              <a:rPr lang="en-US" b="1" dirty="0"/>
              <a:t>engine/core/context.cpp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21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8C5F-169E-FF14-2C56-4CE1DB67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🔑 </a:t>
            </a:r>
            <a:r>
              <a:rPr lang="en-US" altLang="zh-CN" b="1" dirty="0"/>
              <a:t>Context </a:t>
            </a:r>
            <a:r>
              <a:rPr lang="zh-CN" altLang="en-US" b="1" dirty="0"/>
              <a:t>的作用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5833-385F-5804-895B-FDF55D764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46"/>
            <a:ext cx="10515600" cy="487680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它的作用就像一个 </a:t>
            </a:r>
            <a:r>
              <a:rPr lang="en-US" altLang="zh-CN" b="1" dirty="0"/>
              <a:t>"</a:t>
            </a:r>
            <a:r>
              <a:rPr lang="zh-CN" altLang="en-US" b="1" dirty="0"/>
              <a:t>工具箱</a:t>
            </a:r>
            <a:r>
              <a:rPr lang="en-US" altLang="zh-CN" b="1" dirty="0"/>
              <a:t>"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zh-CN" altLang="en-US" dirty="0"/>
              <a:t>任何需要使用引擎功能的部分（比如我们的组件）</a:t>
            </a:r>
          </a:p>
          <a:p>
            <a:pPr marL="0" indent="0">
              <a:buNone/>
            </a:pPr>
            <a:r>
              <a:rPr lang="zh-CN" altLang="en-US" dirty="0"/>
              <a:t>    ↓</a:t>
            </a:r>
          </a:p>
          <a:p>
            <a:pPr marL="0" indent="0">
              <a:buNone/>
            </a:pPr>
            <a:r>
              <a:rPr lang="zh-CN" altLang="en-US" dirty="0"/>
              <a:t>不再需要关心如何获取 </a:t>
            </a:r>
            <a:r>
              <a:rPr lang="en-US" altLang="zh-CN" dirty="0"/>
              <a:t>Renderer </a:t>
            </a:r>
            <a:r>
              <a:rPr lang="zh-CN" altLang="en-US" dirty="0"/>
              <a:t>或 </a:t>
            </a:r>
            <a:r>
              <a:rPr lang="en-US" altLang="zh-CN" dirty="0" err="1"/>
              <a:t>InputManager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↓</a:t>
            </a:r>
          </a:p>
          <a:p>
            <a:pPr marL="0" indent="0">
              <a:buNone/>
            </a:pPr>
            <a:r>
              <a:rPr lang="zh-CN" altLang="en-US" dirty="0"/>
              <a:t>只需获取这一个 </a:t>
            </a:r>
            <a:r>
              <a:rPr lang="en-US" altLang="zh-CN" dirty="0"/>
              <a:t>Context </a:t>
            </a:r>
            <a:r>
              <a:rPr lang="zh-CN" altLang="en-US" dirty="0"/>
              <a:t>对象</a:t>
            </a:r>
          </a:p>
          <a:p>
            <a:pPr marL="0" indent="0">
              <a:buNone/>
            </a:pPr>
            <a:r>
              <a:rPr lang="zh-CN" altLang="en-US" dirty="0"/>
              <a:t>    ↓</a:t>
            </a:r>
          </a:p>
          <a:p>
            <a:pPr marL="0" indent="0">
              <a:buNone/>
            </a:pPr>
            <a:r>
              <a:rPr lang="zh-CN" altLang="en-US" dirty="0"/>
              <a:t>就可以通过它访问所有需要的工具</a:t>
            </a:r>
          </a:p>
          <a:p>
            <a:r>
              <a:rPr lang="zh-CN" altLang="en-US" b="1" dirty="0"/>
              <a:t>优势：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单一注入点</a:t>
            </a:r>
            <a:r>
              <a:rPr lang="zh-CN" altLang="en-US" dirty="0"/>
              <a:t>：只需要传递一个 </a:t>
            </a:r>
            <a:r>
              <a:rPr lang="en-US" altLang="zh-CN" dirty="0"/>
              <a:t>Context </a:t>
            </a:r>
            <a:r>
              <a:rPr lang="zh-CN" altLang="en-US" dirty="0"/>
              <a:t>对象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松耦合</a:t>
            </a:r>
            <a:r>
              <a:rPr lang="zh-CN" altLang="en-US" dirty="0"/>
              <a:t>：组件不直接依赖具体的管理器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易于扩展</a:t>
            </a:r>
            <a:r>
              <a:rPr lang="zh-CN" altLang="en-US" dirty="0"/>
              <a:t>：新增模块只需修改 </a:t>
            </a:r>
            <a:r>
              <a:rPr lang="en-US" altLang="zh-CN" dirty="0"/>
              <a:t>Context</a:t>
            </a:r>
          </a:p>
          <a:p>
            <a:pPr marL="0" indent="0">
              <a:buNone/>
            </a:pPr>
            <a:r>
              <a:rPr lang="en-US" altLang="zh-CN" dirty="0"/>
              <a:t>✅ </a:t>
            </a:r>
            <a:r>
              <a:rPr lang="zh-CN" altLang="en-US" b="1" dirty="0"/>
              <a:t>便于测试</a:t>
            </a:r>
            <a:r>
              <a:rPr lang="zh-CN" altLang="en-US" dirty="0"/>
              <a:t>：可以轻松 </a:t>
            </a:r>
            <a:r>
              <a:rPr lang="en-US" altLang="zh-CN" dirty="0"/>
              <a:t>mock Context </a:t>
            </a:r>
            <a:r>
              <a:rPr lang="zh-CN" altLang="en-US" dirty="0"/>
              <a:t>进行单元测试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6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69B4-2B31-F132-2623-917A1653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升级组件系统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3F12-4716-38FE-D2EF-3CE10F1D6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为了集成 </a:t>
            </a:r>
            <a:r>
              <a:rPr lang="en-US" dirty="0"/>
              <a:t>Context，</a:t>
            </a:r>
            <a:r>
              <a:rPr lang="zh-CN" altLang="en-US" dirty="0"/>
              <a:t>我们需要对 </a:t>
            </a:r>
            <a:r>
              <a:rPr lang="en-US" dirty="0"/>
              <a:t>Component </a:t>
            </a:r>
            <a:r>
              <a:rPr lang="zh-CN" altLang="en-US" dirty="0"/>
              <a:t>基类和 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进行升级。</a:t>
            </a:r>
            <a:endParaRPr lang="en-US" altLang="zh-CN" dirty="0"/>
          </a:p>
          <a:p>
            <a:r>
              <a:rPr lang="en-US" b="1" dirty="0" err="1"/>
              <a:t>component.h</a:t>
            </a:r>
            <a:r>
              <a:rPr lang="en-US" b="1" dirty="0"/>
              <a:t>（</a:t>
            </a:r>
            <a:r>
              <a:rPr lang="zh-CN" altLang="en-US" b="1" dirty="0"/>
              <a:t>升级版）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1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0403-FD5C-F5C2-F435-C558A5BB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关键改动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063BC7-410C-BBC2-33D6-310ABB628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254785"/>
              </p:ext>
            </p:extLst>
          </p:nvPr>
        </p:nvGraphicFramePr>
        <p:xfrm>
          <a:off x="838200" y="1825625"/>
          <a:ext cx="105156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477163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01664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改动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04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Context </a:t>
                      </a:r>
                      <a:r>
                        <a:rPr lang="zh-CN" altLang="en-US" b="1">
                          <a:effectLst/>
                        </a:rPr>
                        <a:t>参数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将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Context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对象作为参数添加到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handleInput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render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这些生命周期函数中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86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纯虚函数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</a:t>
                      </a:r>
                      <a:r>
                        <a:rPr lang="zh-CN" altLang="en-US" dirty="0">
                          <a:effectLst/>
                        </a:rPr>
                        <a:t> 函数声明为纯虚函数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= 0</a:t>
                      </a:r>
                      <a:r>
                        <a:rPr lang="zh-CN" altLang="en-US" dirty="0">
                          <a:effectLst/>
                        </a:rPr>
                        <a:t>。这意味着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Component</a:t>
                      </a:r>
                      <a:r>
                        <a:rPr lang="zh-CN" altLang="en-US" dirty="0">
                          <a:effectLst/>
                        </a:rPr>
                        <a:t> 类现在是一个抽象类，不能被直接实例化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65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强制实现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任何继承自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Component</a:t>
                      </a:r>
                      <a:r>
                        <a:rPr lang="zh-CN" altLang="en-US" dirty="0">
                          <a:effectLst/>
                        </a:rPr>
                        <a:t> 的子类都必须实现自己的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</a:t>
                      </a:r>
                      <a:r>
                        <a:rPr lang="zh-CN" altLang="en-US" dirty="0">
                          <a:effectLst/>
                        </a:rPr>
                        <a:t> 方法。这是一个强制性的设计约束，确保了所有组件都有明确的更新逻辑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57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13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0D55-6C6B-738D-745D-99C55B33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325D7-6347-6BE0-0B46-53768A6C9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game_object.h</a:t>
            </a:r>
            <a:r>
              <a:rPr lang="en-US" b="1" dirty="0"/>
              <a:t> / .</a:t>
            </a:r>
            <a:r>
              <a:rPr lang="en-US" b="1" dirty="0" err="1"/>
              <a:t>cpp</a:t>
            </a:r>
            <a:r>
              <a:rPr lang="en-US" b="1" dirty="0"/>
              <a:t>（</a:t>
            </a:r>
            <a:r>
              <a:rPr lang="zh-CN" altLang="en-US" b="1" dirty="0"/>
              <a:t>升级版）</a:t>
            </a:r>
          </a:p>
          <a:p>
            <a:r>
              <a:rPr lang="zh-CN" altLang="en-US" dirty="0"/>
              <a:t>相应地，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的 </a:t>
            </a:r>
            <a:r>
              <a:rPr lang="en-US" dirty="0" err="1"/>
              <a:t>handleInput</a:t>
            </a:r>
            <a:r>
              <a:rPr lang="en-US" dirty="0"/>
              <a:t>, update, render </a:t>
            </a:r>
            <a:r>
              <a:rPr lang="zh-CN" altLang="en-US" dirty="0"/>
              <a:t>方法也要接收 </a:t>
            </a:r>
            <a:r>
              <a:rPr lang="en-US" dirty="0"/>
              <a:t>Context </a:t>
            </a:r>
            <a:r>
              <a:rPr lang="zh-CN" altLang="en-US" dirty="0"/>
              <a:t>参数，并将它 </a:t>
            </a:r>
            <a:r>
              <a:rPr lang="en-US" altLang="zh-CN" b="1" dirty="0"/>
              <a:t>"</a:t>
            </a:r>
            <a:r>
              <a:rPr lang="zh-CN" altLang="en-US" b="1" dirty="0"/>
              <a:t>透传</a:t>
            </a:r>
            <a:r>
              <a:rPr lang="en-US" altLang="zh-CN" b="1" dirty="0"/>
              <a:t>"</a:t>
            </a:r>
            <a:r>
              <a:rPr lang="zh-CN" altLang="en-US" dirty="0"/>
              <a:t> 给其管理的所有组件。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708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7E00-46A2-5674-5274-D7338179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TransformComponent</a:t>
            </a:r>
            <a:r>
              <a:rPr lang="en-US" b="1" dirty="0"/>
              <a:t>：</a:t>
            </a:r>
            <a:r>
              <a:rPr lang="zh-CN" altLang="en-US" b="1" dirty="0"/>
              <a:t>空间属性的载体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11F3C-ABA4-392A-67CB-8BF122F3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这是我们 </a:t>
            </a:r>
            <a:r>
              <a:rPr lang="zh-CN" altLang="en-US" b="1" dirty="0"/>
              <a:t>第一个具体的组件</a:t>
            </a:r>
            <a:r>
              <a:rPr lang="zh-CN" altLang="en-US" dirty="0"/>
              <a:t>，也是最简单的一个。它几乎是一个纯粹的数据容器。</a:t>
            </a:r>
          </a:p>
          <a:p>
            <a:r>
              <a:rPr lang="en-US" b="1" dirty="0" err="1"/>
              <a:t>transform_component.h</a:t>
            </a:r>
            <a:endParaRPr lang="en-US" b="1" dirty="0"/>
          </a:p>
          <a:p>
            <a:r>
              <a:rPr lang="en-US" b="1" dirty="0"/>
              <a:t>transform_component.cpp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9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EA84-72EC-0C01-1735-047B8F5C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设计特点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C8B95D-2B3B-1006-AA6E-C7BE95A79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907137"/>
              </p:ext>
            </p:extLst>
          </p:nvPr>
        </p:nvGraphicFramePr>
        <p:xfrm>
          <a:off x="838200" y="1825625"/>
          <a:ext cx="105156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663903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7863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4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数据容器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主要存储三个基本空间属性：位置、缩放、旋转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322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空的 </a:t>
                      </a:r>
                      <a:r>
                        <a:rPr lang="en-US" b="1">
                          <a:effectLst/>
                        </a:rPr>
                        <a:t>update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它只有一个空的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</a:t>
                      </a:r>
                      <a:r>
                        <a:rPr lang="zh-CN" altLang="en-US" dirty="0">
                          <a:effectLst/>
                        </a:rPr>
                        <a:t> 方法（为了满足基类纯虚函数的要求）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710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组件协作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setScale</a:t>
                      </a:r>
                      <a:r>
                        <a:rPr lang="zh-CN" altLang="en-US" dirty="0">
                          <a:effectLst/>
                        </a:rPr>
                        <a:t> 函数展示了组件间协作的简单例子：当缩放改变时，它会通知 </a:t>
                      </a:r>
                      <a:r>
                        <a:rPr lang="en-US" altLang="zh-CN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SpriteComponent</a:t>
                      </a:r>
                      <a:r>
                        <a:rPr lang="zh-CN" altLang="en-US" dirty="0">
                          <a:effectLst/>
                        </a:rPr>
                        <a:t> 更新其偏移量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5941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D5E03E-B093-5B02-9646-4AAC7106AE1F}"/>
              </a:ext>
            </a:extLst>
          </p:cNvPr>
          <p:cNvSpPr txBox="1"/>
          <p:nvPr/>
        </p:nvSpPr>
        <p:spPr>
          <a:xfrm>
            <a:off x="1090247" y="430594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effectLst/>
                <a:latin typeface="-apple-system"/>
              </a:rPr>
              <a:t>💡 </a:t>
            </a:r>
            <a:r>
              <a:rPr lang="zh-CN" altLang="en-US" b="1" i="0" dirty="0">
                <a:effectLst/>
                <a:latin typeface="-apple-system"/>
              </a:rPr>
              <a:t>设计哲学</a:t>
            </a:r>
            <a:r>
              <a:rPr lang="zh-CN" altLang="en-US" b="0" i="0" dirty="0">
                <a:effectLst/>
                <a:latin typeface="-apple-system"/>
              </a:rPr>
              <a:t>：</a:t>
            </a:r>
            <a:r>
              <a:rPr lang="en-US" altLang="zh-CN" b="0" i="0" dirty="0" err="1">
                <a:effectLst/>
                <a:latin typeface="-apple-system"/>
              </a:rPr>
              <a:t>TransformComponent</a:t>
            </a:r>
            <a:r>
              <a:rPr lang="en-US" altLang="zh-CN" b="0" i="0" dirty="0">
                <a:effectLst/>
                <a:latin typeface="-apple-system"/>
              </a:rPr>
              <a:t> </a:t>
            </a:r>
            <a:r>
              <a:rPr lang="zh-CN" altLang="en-US" b="0" i="0" dirty="0">
                <a:effectLst/>
                <a:latin typeface="-apple-system"/>
              </a:rPr>
              <a:t>是一个纯粹的数据组件，它不包含复杂的逻辑，只负责存储和提供空间信息。</a:t>
            </a:r>
          </a:p>
          <a:p>
            <a:pPr>
              <a:buNone/>
            </a:pP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26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2A05-EF9C-1C0D-32CF-B0DDC4EB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SpriteComponent</a:t>
            </a:r>
            <a:r>
              <a:rPr lang="en-US" b="1" dirty="0"/>
              <a:t>：</a:t>
            </a:r>
            <a:r>
              <a:rPr lang="zh-CN" altLang="en-US" b="1" dirty="0"/>
              <a:t>赋予对象视觉形象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1E05A-C057-360A-AFAD-64877F4DE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这是本节课的 </a:t>
            </a:r>
            <a:r>
              <a:rPr lang="zh-CN" altLang="en-US" b="1" dirty="0"/>
              <a:t>重头戏</a:t>
            </a:r>
            <a:r>
              <a:rPr lang="zh-CN" altLang="en-US" dirty="0"/>
              <a:t>，它负责将一个 </a:t>
            </a:r>
            <a:r>
              <a:rPr lang="en-US" altLang="zh-CN" dirty="0"/>
              <a:t>Sprite</a:t>
            </a:r>
            <a:r>
              <a:rPr lang="zh-CN" altLang="en-US" dirty="0"/>
              <a:t> 数据对象在屏幕上绘制出来。</a:t>
            </a:r>
            <a:endParaRPr lang="en-US" altLang="zh-CN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b="1" dirty="0"/>
              <a:t>🎨 对齐（</a:t>
            </a:r>
            <a:r>
              <a:rPr lang="en-US" altLang="zh-CN" b="1" dirty="0"/>
              <a:t>Alignment</a:t>
            </a:r>
            <a:r>
              <a:rPr lang="zh-CN" altLang="en-US" b="1" dirty="0"/>
              <a:t>）概念</a:t>
            </a:r>
          </a:p>
          <a:p>
            <a:r>
              <a:rPr lang="zh-CN" altLang="en-US" dirty="0"/>
              <a:t>在深入代码之前，我们需要理解一个重要概念：</a:t>
            </a:r>
            <a:r>
              <a:rPr lang="zh-CN" altLang="en-US" b="1" dirty="0"/>
              <a:t>对齐（</a:t>
            </a:r>
            <a:r>
              <a:rPr lang="en-US" altLang="zh-CN" b="1" dirty="0"/>
              <a:t>Alignment</a:t>
            </a:r>
            <a:r>
              <a:rPr lang="zh-CN" altLang="en-US" b="1" dirty="0"/>
              <a:t>）与偏移（</a:t>
            </a:r>
            <a:r>
              <a:rPr lang="en-US" altLang="zh-CN" b="1" dirty="0"/>
              <a:t>Offset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7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9B7-5B28-8CA7-192F-F9D29D83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问题场景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78F78-58DC-5A0D-EF30-9A2C8C680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TransformComponent</a:t>
            </a:r>
            <a:r>
              <a:rPr lang="en-US" dirty="0"/>
              <a:t> </a:t>
            </a:r>
            <a:r>
              <a:rPr lang="zh-CN" altLang="en-US" dirty="0"/>
              <a:t>的 </a:t>
            </a:r>
            <a:r>
              <a:rPr lang="en-US" dirty="0"/>
              <a:t>position </a:t>
            </a:r>
            <a:r>
              <a:rPr lang="zh-CN" altLang="en-US" dirty="0"/>
              <a:t>通常代表一个 </a:t>
            </a:r>
            <a:r>
              <a:rPr lang="zh-CN" altLang="en-US" b="1" dirty="0"/>
              <a:t>逻辑点</a:t>
            </a:r>
            <a:r>
              <a:rPr lang="zh-CN" altLang="en-US" dirty="0"/>
              <a:t>（比如角色的脚底中心）。但我们绘制图片时，需要的是 </a:t>
            </a:r>
            <a:r>
              <a:rPr lang="zh-CN" altLang="en-US" b="1" dirty="0"/>
              <a:t>图片左上角的坐标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sz="2400" dirty="0"/>
              <a:t>逻辑位置 </a:t>
            </a:r>
            <a:r>
              <a:rPr lang="en-US" altLang="zh-CN" sz="2400" dirty="0"/>
              <a:t>(</a:t>
            </a:r>
            <a:r>
              <a:rPr lang="en-US" sz="2400" dirty="0" err="1"/>
              <a:t>Transform.position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↓</a:t>
            </a:r>
          </a:p>
          <a:p>
            <a:pPr marL="0" indent="0">
              <a:buNone/>
            </a:pPr>
            <a:r>
              <a:rPr lang="zh-CN" altLang="en-US" sz="2400" dirty="0"/>
              <a:t>不一定等于</a:t>
            </a:r>
          </a:p>
          <a:p>
            <a:pPr marL="0" indent="0">
              <a:buNone/>
            </a:pPr>
            <a:r>
              <a:rPr lang="zh-CN" altLang="en-US" sz="2400" dirty="0"/>
              <a:t>    ↓</a:t>
            </a:r>
          </a:p>
          <a:p>
            <a:pPr marL="0" indent="0">
              <a:buNone/>
            </a:pPr>
            <a:r>
              <a:rPr lang="zh-CN" altLang="en-US" sz="2400" dirty="0"/>
              <a:t>渲染位置 </a:t>
            </a:r>
            <a:r>
              <a:rPr lang="en-US" altLang="zh-CN" sz="2400" dirty="0"/>
              <a:t>(</a:t>
            </a:r>
            <a:r>
              <a:rPr lang="en-US" sz="2400" dirty="0"/>
              <a:t>Sprite </a:t>
            </a:r>
            <a:r>
              <a:rPr lang="zh-CN" altLang="en-US" sz="2400" dirty="0"/>
              <a:t>左上角</a:t>
            </a:r>
            <a:r>
              <a:rPr lang="en-US" altLang="zh-CN" sz="24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97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CEDD-C780-EE5B-25AB-6F73BCCE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解决方案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34A9-59DE-8C43-C0C3-CCE9EE6B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Alignment</a:t>
            </a:r>
            <a:r>
              <a:rPr lang="en-US" dirty="0"/>
              <a:t> </a:t>
            </a:r>
            <a:r>
              <a:rPr lang="zh-CN" altLang="en-US" dirty="0"/>
              <a:t>定义了图片几何中心与 </a:t>
            </a:r>
            <a:r>
              <a:rPr lang="en-US" dirty="0" err="1"/>
              <a:t>TransformComponent</a:t>
            </a:r>
            <a:r>
              <a:rPr lang="en-US" dirty="0"/>
              <a:t> </a:t>
            </a:r>
            <a:r>
              <a:rPr lang="zh-CN" altLang="en-US" dirty="0"/>
              <a:t>的 </a:t>
            </a:r>
            <a:r>
              <a:rPr lang="en-US" dirty="0"/>
              <a:t>position </a:t>
            </a:r>
            <a:r>
              <a:rPr lang="zh-CN" altLang="en-US" dirty="0"/>
              <a:t>点之间的关系：</a:t>
            </a:r>
          </a:p>
          <a:p>
            <a:r>
              <a:rPr lang="en-US" dirty="0"/>
              <a:t>// engine/utils/</a:t>
            </a:r>
            <a:r>
              <a:rPr lang="en-US" dirty="0" err="1"/>
              <a:t>alignment.h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D9F50-FEE2-483F-F8FA-4B8CFF48D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7" y="3226554"/>
            <a:ext cx="2806844" cy="1549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0A38C-5345-E31A-6704-79DA62F7DDF1}"/>
              </a:ext>
            </a:extLst>
          </p:cNvPr>
          <p:cNvSpPr txBox="1"/>
          <p:nvPr/>
        </p:nvSpPr>
        <p:spPr>
          <a:xfrm>
            <a:off x="4243754" y="36186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 err="1">
                <a:effectLst/>
                <a:latin typeface="source-code-pro"/>
              </a:rPr>
              <a:t>SpriteComponent</a:t>
            </a:r>
            <a:r>
              <a:rPr lang="en-US" b="0" i="0" dirty="0">
                <a:effectLst/>
                <a:latin typeface="-apple-system"/>
              </a:rPr>
              <a:t> </a:t>
            </a:r>
            <a:r>
              <a:rPr lang="zh-CN" altLang="en-US" b="0" i="0" dirty="0">
                <a:effectLst/>
                <a:latin typeface="-apple-system"/>
              </a:rPr>
              <a:t>会根据：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对齐方式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精灵尺寸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缩放</a:t>
            </a:r>
          </a:p>
          <a:p>
            <a:pPr algn="l">
              <a:buNone/>
            </a:pPr>
            <a:r>
              <a:rPr lang="zh-CN" altLang="en-US" b="0" i="0" dirty="0">
                <a:effectLst/>
                <a:latin typeface="-apple-system"/>
              </a:rPr>
              <a:t>自动计算出一个 </a:t>
            </a:r>
            <a:r>
              <a:rPr lang="en-US" b="0" i="0" dirty="0">
                <a:effectLst/>
                <a:latin typeface="source-code-pro"/>
              </a:rPr>
              <a:t>offset_</a:t>
            </a:r>
            <a:r>
              <a:rPr lang="en-US" b="0" i="0" dirty="0">
                <a:effectLst/>
                <a:latin typeface="-apple-system"/>
              </a:rPr>
              <a:t>，</a:t>
            </a:r>
            <a:r>
              <a:rPr lang="zh-CN" altLang="en-US" b="0" i="0" dirty="0">
                <a:effectLst/>
                <a:latin typeface="-apple-system"/>
              </a:rPr>
              <a:t>在渲染时将这个偏移量应用到 </a:t>
            </a:r>
            <a:r>
              <a:rPr lang="en-US" b="0" i="0" dirty="0">
                <a:effectLst/>
                <a:latin typeface="source-code-pro"/>
              </a:rPr>
              <a:t>transform_-&gt;</a:t>
            </a:r>
            <a:r>
              <a:rPr lang="en-US" b="0" i="0" dirty="0" err="1">
                <a:effectLst/>
                <a:latin typeface="source-code-pro"/>
              </a:rPr>
              <a:t>getPosition</a:t>
            </a:r>
            <a:r>
              <a:rPr lang="en-US" b="0" i="0" dirty="0">
                <a:effectLst/>
                <a:latin typeface="source-code-pro"/>
              </a:rPr>
              <a:t>()</a:t>
            </a:r>
            <a:r>
              <a:rPr lang="en-US" b="0" i="0" dirty="0">
                <a:effectLst/>
                <a:latin typeface="-apple-system"/>
              </a:rPr>
              <a:t> </a:t>
            </a:r>
            <a:r>
              <a:rPr lang="zh-CN" altLang="en-US" b="0" i="0" dirty="0">
                <a:effectLst/>
                <a:latin typeface="-apple-system"/>
              </a:rPr>
              <a:t>上，从而得到正确的绘制坐标。</a:t>
            </a:r>
          </a:p>
        </p:txBody>
      </p:sp>
    </p:spTree>
    <p:extLst>
      <p:ext uri="{BB962C8B-B14F-4D97-AF65-F5344CB8AC3E}">
        <p14:creationId xmlns:p14="http://schemas.microsoft.com/office/powerpoint/2010/main" val="4156667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49A5-A534-2224-ABC6-010F314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5CFC-DF72-237E-9F08-90B3641BA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sprite_component.h</a:t>
            </a:r>
            <a:endParaRPr lang="en-US" b="1" dirty="0"/>
          </a:p>
          <a:p>
            <a:r>
              <a:rPr lang="en-US" b="1" dirty="0"/>
              <a:t>sprite_component.cpp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04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C63B-1C55-F8A4-0E7F-05B14C1E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核心方法解析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7E435-0366-0C05-16D3-74577C65F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594884"/>
              </p:ext>
            </p:extLst>
          </p:nvPr>
        </p:nvGraphicFramePr>
        <p:xfrm>
          <a:off x="838200" y="1825625"/>
          <a:ext cx="105156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456882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8282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57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init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从 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source-code-pro"/>
                          <a:ea typeface="+mn-ea"/>
                          <a:cs typeface="+mn-cs"/>
                        </a:rPr>
                        <a:t>owner_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source-code-pro"/>
                          <a:ea typeface="+mn-ea"/>
                          <a:cs typeface="+mn-cs"/>
                        </a:rPr>
                        <a:t>（</a:t>
                      </a:r>
                      <a:r>
                        <a:rPr lang="zh-CN" altLang="en-US" dirty="0">
                          <a:effectLst/>
                        </a:rPr>
                        <a:t>即所属的 </a:t>
                      </a:r>
                      <a:r>
                        <a:rPr lang="en-US" dirty="0" err="1">
                          <a:effectLst/>
                        </a:rPr>
                        <a:t>GameObject</a:t>
                      </a:r>
                      <a:r>
                        <a:rPr lang="en-US" dirty="0">
                          <a:effectLst/>
                        </a:rPr>
                        <a:t>）</a:t>
                      </a:r>
                      <a:r>
                        <a:rPr lang="zh-CN" altLang="en-US" dirty="0">
                          <a:effectLst/>
                        </a:rPr>
                        <a:t>获取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TransformComponent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的指针，并计算初始的精灵尺寸和偏移量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8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source-code-pro"/>
                          <a:ea typeface="+mn-ea"/>
                          <a:cs typeface="+mn-cs"/>
                        </a:rPr>
                        <a:t>render(Context&amp;)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核心职责</a:t>
                      </a:r>
                      <a:r>
                        <a:rPr lang="zh-CN" altLang="en-US" dirty="0">
                          <a:effectLst/>
                        </a:rPr>
                        <a:t>。从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transform_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获取最新的位置、缩放和旋转，加上计算好的偏移量，然后通过 </a:t>
                      </a:r>
                      <a:r>
                        <a:rPr lang="en-US" dirty="0">
                          <a:effectLst/>
                        </a:rPr>
                        <a:t>context </a:t>
                      </a:r>
                      <a:r>
                        <a:rPr lang="zh-CN" altLang="en-US" dirty="0">
                          <a:effectLst/>
                        </a:rPr>
                        <a:t>获取 </a:t>
                      </a:r>
                      <a:r>
                        <a:rPr lang="en-US" dirty="0">
                          <a:effectLst/>
                        </a:rPr>
                        <a:t>Renderer </a:t>
                      </a:r>
                      <a:r>
                        <a:rPr lang="zh-CN" altLang="en-US" dirty="0">
                          <a:effectLst/>
                        </a:rPr>
                        <a:t>和 </a:t>
                      </a:r>
                      <a:r>
                        <a:rPr lang="en-US" dirty="0">
                          <a:effectLst/>
                        </a:rPr>
                        <a:t>Camera，</a:t>
                      </a:r>
                      <a:r>
                        <a:rPr lang="zh-CN" altLang="en-US" dirty="0">
                          <a:effectLst/>
                        </a:rPr>
                        <a:t>最后调用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renderer.drawSprite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完成绘制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88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  <a:ea typeface="+mn-ea"/>
                          <a:cs typeface="+mn-cs"/>
                        </a:rPr>
                        <a:t>updateOffset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source-code-pro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根据对齐方式、精灵尺寸和缩放，计算正确的渲染偏移量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706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533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46F0-B04F-5301-7501-2471BC85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2E46E-A6C7-3FB9-BBE3-56D0EEBD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核心成就</a:t>
            </a:r>
          </a:p>
          <a:p>
            <a:pPr marL="0" indent="0">
              <a:buNone/>
            </a:pPr>
            <a:r>
              <a:rPr lang="en-US" dirty="0"/>
              <a:t>✅ </a:t>
            </a:r>
            <a:r>
              <a:rPr lang="zh-CN" altLang="en-US" b="1" dirty="0"/>
              <a:t>引入依赖注入</a:t>
            </a:r>
            <a:r>
              <a:rPr lang="zh-CN" altLang="en-US" dirty="0"/>
              <a:t>：通过 </a:t>
            </a:r>
            <a:r>
              <a:rPr lang="en-US" dirty="0"/>
              <a:t>Context </a:t>
            </a:r>
            <a:r>
              <a:rPr lang="zh-CN" altLang="en-US" dirty="0"/>
              <a:t>类优雅地解决了组件与引擎模块的通信问题</a:t>
            </a:r>
          </a:p>
          <a:p>
            <a:pPr marL="0" indent="0">
              <a:buNone/>
            </a:pPr>
            <a:r>
              <a:rPr lang="en-US" dirty="0"/>
              <a:t>✅ </a:t>
            </a:r>
            <a:r>
              <a:rPr lang="zh-CN" altLang="en-US" b="1" dirty="0"/>
              <a:t>实现具体组件</a:t>
            </a:r>
            <a:r>
              <a:rPr lang="zh-CN" altLang="en-US" dirty="0"/>
              <a:t>：创建了 </a:t>
            </a:r>
            <a:r>
              <a:rPr lang="en-US" dirty="0" err="1"/>
              <a:t>TransformComponent</a:t>
            </a:r>
            <a:r>
              <a:rPr lang="en-US" dirty="0"/>
              <a:t> </a:t>
            </a:r>
            <a:r>
              <a:rPr lang="zh-CN" altLang="en-US" dirty="0"/>
              <a:t>和 </a:t>
            </a:r>
            <a:r>
              <a:rPr lang="en-US" dirty="0" err="1"/>
              <a:t>SpriteComponent</a:t>
            </a:r>
            <a:r>
              <a:rPr lang="en-US" dirty="0"/>
              <a:t> </a:t>
            </a:r>
            <a:r>
              <a:rPr lang="zh-CN" altLang="en-US" dirty="0"/>
              <a:t>两个核心组件</a:t>
            </a:r>
          </a:p>
          <a:p>
            <a:pPr marL="0" indent="0">
              <a:buNone/>
            </a:pPr>
            <a:r>
              <a:rPr lang="en-US" dirty="0"/>
              <a:t>✅ </a:t>
            </a:r>
            <a:r>
              <a:rPr lang="zh-CN" altLang="en-US" b="1" dirty="0"/>
              <a:t>数据行为分离</a:t>
            </a:r>
            <a:r>
              <a:rPr lang="zh-CN" altLang="en-US" dirty="0"/>
              <a:t>：将数据（</a:t>
            </a:r>
            <a:r>
              <a:rPr lang="en-US" dirty="0" err="1"/>
              <a:t>TransformComponent</a:t>
            </a:r>
            <a:r>
              <a:rPr lang="en-US" dirty="0"/>
              <a:t>）</a:t>
            </a:r>
            <a:r>
              <a:rPr lang="zh-CN" altLang="en-US" dirty="0"/>
              <a:t>和行为（</a:t>
            </a:r>
            <a:r>
              <a:rPr lang="en-US" dirty="0" err="1"/>
              <a:t>SpriteComponent</a:t>
            </a:r>
            <a:r>
              <a:rPr lang="en-US" dirty="0"/>
              <a:t>）</a:t>
            </a:r>
            <a:r>
              <a:rPr lang="zh-CN" altLang="en-US" dirty="0"/>
              <a:t>分离</a:t>
            </a:r>
          </a:p>
          <a:p>
            <a:pPr marL="0" indent="0">
              <a:buNone/>
            </a:pPr>
            <a:r>
              <a:rPr lang="en-US" dirty="0"/>
              <a:t>✅ </a:t>
            </a:r>
            <a:r>
              <a:rPr lang="zh-CN" altLang="en-US" b="1" dirty="0"/>
              <a:t>组件协作</a:t>
            </a:r>
            <a:r>
              <a:rPr lang="zh-CN" altLang="en-US" dirty="0"/>
              <a:t>：展示了组件间如何相互配合（</a:t>
            </a:r>
            <a:r>
              <a:rPr lang="en-US" dirty="0"/>
              <a:t>Transform </a:t>
            </a:r>
            <a:r>
              <a:rPr lang="zh-CN" altLang="en-US" dirty="0"/>
              <a:t>通知 </a:t>
            </a:r>
            <a:r>
              <a:rPr lang="en-US" dirty="0"/>
              <a:t>Sprite </a:t>
            </a:r>
            <a:r>
              <a:rPr lang="zh-CN" altLang="en-US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838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4954-781D-60AD-DDDC-81A7234B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设计亮点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D16A81-C5FA-6B26-D084-B04E0DF2D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31962"/>
              </p:ext>
            </p:extLst>
          </p:nvPr>
        </p:nvGraphicFramePr>
        <p:xfrm>
          <a:off x="838200" y="1825625"/>
          <a:ext cx="10515597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1088446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91595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0998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实现方式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依赖注入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Context </a:t>
                      </a:r>
                      <a:r>
                        <a:rPr lang="zh-CN" altLang="en-US">
                          <a:effectLst/>
                        </a:rPr>
                        <a:t>类统一管理引擎模块引用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松耦合、易测试、可扩展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76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对齐系统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Alignment </a:t>
                      </a:r>
                      <a:r>
                        <a:rPr lang="zh-CN" altLang="en-US">
                          <a:effectLst/>
                        </a:rPr>
                        <a:t>枚举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自动偏移计算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灵活的精灵定位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36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纯虚函数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Component::update() </a:t>
                      </a:r>
                      <a:r>
                        <a:rPr lang="zh-CN" altLang="en-US">
                          <a:effectLst/>
                        </a:rPr>
                        <a:t>声明为纯虚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强制所有组件实现更新逻辑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519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组件缓存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SpriteComponent </a:t>
                      </a:r>
                      <a:r>
                        <a:rPr lang="zh-CN" altLang="en-US">
                          <a:effectLst/>
                        </a:rPr>
                        <a:t>缓存 </a:t>
                      </a:r>
                      <a:r>
                        <a:rPr lang="en-US">
                          <a:effectLst/>
                        </a:rPr>
                        <a:t>Transform </a:t>
                      </a:r>
                      <a:r>
                        <a:rPr lang="zh-CN" altLang="en-US">
                          <a:effectLst/>
                        </a:rPr>
                        <a:t>指针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避免重复查找，提高性能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78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949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B11A-753E-6B4F-EDDA-8C2A5966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F2A257-B4A1-123E-28AA-D0F6774F3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4768" y="2445464"/>
            <a:ext cx="3162463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99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76EC-121B-6C4F-8C91-FEFC0F40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设计模式回顾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744E4-A1AB-5BAC-FD5D-DFA9A2F7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组合模式（</a:t>
            </a:r>
            <a:r>
              <a:rPr lang="en-US" b="1" dirty="0"/>
              <a:t>Composite Pattern）</a:t>
            </a:r>
          </a:p>
          <a:p>
            <a:pPr marL="0" indent="0">
              <a:buNone/>
            </a:pP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组合多个 </a:t>
            </a:r>
            <a:r>
              <a:rPr lang="en-US" dirty="0"/>
              <a:t>Component，</a:t>
            </a:r>
            <a:r>
              <a:rPr lang="zh-CN" altLang="en-US" dirty="0"/>
              <a:t>而非继承实现功能。</a:t>
            </a:r>
          </a:p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依赖注入（</a:t>
            </a:r>
            <a:r>
              <a:rPr lang="en-US" b="1" dirty="0"/>
              <a:t>Dependency Injection）</a:t>
            </a:r>
          </a:p>
          <a:p>
            <a:pPr marL="0" indent="0">
              <a:buNone/>
            </a:pPr>
            <a:r>
              <a:rPr lang="zh-CN" altLang="en-US" dirty="0"/>
              <a:t>通过 </a:t>
            </a:r>
            <a:r>
              <a:rPr lang="en-US" dirty="0"/>
              <a:t>Context </a:t>
            </a:r>
            <a:r>
              <a:rPr lang="zh-CN" altLang="en-US" dirty="0"/>
              <a:t>注入依赖，而非硬编码引用。</a:t>
            </a:r>
          </a:p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观察者模式（简化版）</a:t>
            </a:r>
          </a:p>
          <a:p>
            <a:pPr marL="0" indent="0">
              <a:buNone/>
            </a:pPr>
            <a:r>
              <a:rPr lang="en-US" dirty="0" err="1"/>
              <a:t>TransformComponent</a:t>
            </a:r>
            <a:r>
              <a:rPr lang="en-US" dirty="0"/>
              <a:t> </a:t>
            </a:r>
            <a:r>
              <a:rPr lang="zh-CN" altLang="en-US" dirty="0"/>
              <a:t>的 </a:t>
            </a:r>
            <a:r>
              <a:rPr lang="en-US" dirty="0" err="1"/>
              <a:t>setScale</a:t>
            </a:r>
            <a:r>
              <a:rPr lang="en-US" dirty="0"/>
              <a:t>() </a:t>
            </a:r>
            <a:r>
              <a:rPr lang="zh-CN" altLang="en-US" dirty="0"/>
              <a:t>通知 </a:t>
            </a:r>
            <a:r>
              <a:rPr lang="en-US" dirty="0" err="1"/>
              <a:t>SpriteComponent</a:t>
            </a:r>
            <a:r>
              <a:rPr lang="en-US" dirty="0"/>
              <a:t> </a:t>
            </a:r>
            <a:r>
              <a:rPr lang="zh-CN" altLang="en-US" dirty="0"/>
              <a:t>更新。</a:t>
            </a:r>
          </a:p>
          <a:p>
            <a:pPr marL="0" indent="0">
              <a:buNone/>
            </a:pP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731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3D50-3F54-59CF-6F6C-B9A877FA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🚀 </a:t>
            </a:r>
            <a:r>
              <a:rPr lang="zh-CN" altLang="en-US" b="1" dirty="0"/>
              <a:t>下一步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8EA7D-3000-2D40-FACF-232083CA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892"/>
            <a:ext cx="10515600" cy="46060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现在我们有了：</a:t>
            </a:r>
          </a:p>
          <a:p>
            <a:r>
              <a:rPr lang="en-US" dirty="0"/>
              <a:t>🎯 </a:t>
            </a:r>
            <a:r>
              <a:rPr lang="zh-CN" altLang="en-US" dirty="0"/>
              <a:t>位置系统（</a:t>
            </a:r>
            <a:r>
              <a:rPr lang="en-US" dirty="0" err="1"/>
              <a:t>TransformComponent</a:t>
            </a:r>
            <a:r>
              <a:rPr lang="en-US" dirty="0"/>
              <a:t>）</a:t>
            </a:r>
          </a:p>
          <a:p>
            <a:r>
              <a:rPr lang="en-US" dirty="0"/>
              <a:t>🎨 </a:t>
            </a:r>
            <a:r>
              <a:rPr lang="zh-CN" altLang="en-US" dirty="0"/>
              <a:t>渲染系统（</a:t>
            </a:r>
            <a:r>
              <a:rPr lang="en-US" dirty="0" err="1"/>
              <a:t>SpriteComponent</a:t>
            </a:r>
            <a:r>
              <a:rPr lang="en-US" dirty="0"/>
              <a:t>）</a:t>
            </a:r>
          </a:p>
          <a:p>
            <a:r>
              <a:rPr lang="en-US" dirty="0"/>
              <a:t>🔧 </a:t>
            </a:r>
            <a:r>
              <a:rPr lang="zh-CN" altLang="en-US" dirty="0"/>
              <a:t>依赖管理（</a:t>
            </a:r>
            <a:r>
              <a:rPr lang="en-US" dirty="0"/>
              <a:t>Context）</a:t>
            </a:r>
          </a:p>
          <a:p>
            <a:pPr marL="0" indent="0">
              <a:buNone/>
            </a:pPr>
            <a:r>
              <a:rPr lang="zh-CN" altLang="en-US" dirty="0"/>
              <a:t>未来，我们可以继续添加更多组件：</a:t>
            </a:r>
          </a:p>
          <a:p>
            <a:r>
              <a:rPr lang="zh-CN" altLang="en-US" dirty="0"/>
              <a:t>物理组件（</a:t>
            </a:r>
            <a:r>
              <a:rPr lang="en-US" dirty="0" err="1"/>
              <a:t>PhysicsComponent</a:t>
            </a:r>
            <a:r>
              <a:rPr lang="en-US" dirty="0"/>
              <a:t>）</a:t>
            </a:r>
          </a:p>
          <a:p>
            <a:r>
              <a:rPr lang="zh-CN" altLang="en-US" dirty="0"/>
              <a:t>音频组件（</a:t>
            </a:r>
            <a:r>
              <a:rPr lang="en-US" dirty="0" err="1"/>
              <a:t>AudioComponent</a:t>
            </a:r>
            <a:r>
              <a:rPr lang="en-US" dirty="0"/>
              <a:t>）</a:t>
            </a:r>
          </a:p>
          <a:p>
            <a:r>
              <a:rPr lang="zh-CN" altLang="en-US" dirty="0"/>
              <a:t>动画组件（</a:t>
            </a:r>
            <a:r>
              <a:rPr lang="en-US" dirty="0" err="1"/>
              <a:t>AnimationComponent</a:t>
            </a:r>
            <a:r>
              <a:rPr lang="en-US" dirty="0"/>
              <a:t>）</a:t>
            </a:r>
          </a:p>
          <a:p>
            <a:pPr marL="0" indent="0">
              <a:buNone/>
            </a:pPr>
            <a:r>
              <a:rPr lang="zh-CN" altLang="en-US" dirty="0"/>
              <a:t>通过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和这些组件的组合，我们将</a:t>
            </a:r>
            <a:r>
              <a:rPr lang="en-US" altLang="zh-CN" dirty="0"/>
              <a:t>"</a:t>
            </a:r>
            <a:r>
              <a:rPr lang="zh-CN" altLang="en-US" dirty="0"/>
              <a:t>组装</a:t>
            </a:r>
            <a:r>
              <a:rPr lang="en-US" altLang="zh-CN" dirty="0"/>
              <a:t>"</a:t>
            </a:r>
            <a:r>
              <a:rPr lang="zh-CN" altLang="en-US" dirty="0"/>
              <a:t>出完整的游戏世界！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4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1240</Words>
  <Application>Microsoft Office PowerPoint</Application>
  <PresentationFormat>Widescreen</PresentationFormat>
  <Paragraphs>146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-apple-system</vt:lpstr>
      <vt:lpstr>source-code-pro</vt:lpstr>
      <vt:lpstr>Aptos</vt:lpstr>
      <vt:lpstr>Aptos Display</vt:lpstr>
      <vt:lpstr>Arial</vt:lpstr>
      <vt:lpstr>Office Theme</vt:lpstr>
      <vt:lpstr>变换与精灵组件</vt:lpstr>
      <vt:lpstr>📌 问题背景</vt:lpstr>
      <vt:lpstr>🎯 本课目标</vt:lpstr>
      <vt:lpstr>🤔 架构挑战</vt:lpstr>
      <vt:lpstr>1. 依赖注入与 Context 类</vt:lpstr>
      <vt:lpstr>PowerPoint Presentation</vt:lpstr>
      <vt:lpstr>💡 解决方案：Context（上下文）类</vt:lpstr>
      <vt:lpstr>PowerPoint Presentation</vt:lpstr>
      <vt:lpstr>🔑 Context 的作用</vt:lpstr>
      <vt:lpstr>2. 升级组件系统</vt:lpstr>
      <vt:lpstr>关键改动</vt:lpstr>
      <vt:lpstr>PowerPoint Presentation</vt:lpstr>
      <vt:lpstr>3. TransformComponent：空间属性的载体</vt:lpstr>
      <vt:lpstr>设计特点</vt:lpstr>
      <vt:lpstr>4. SpriteComponent：赋予对象视觉形象</vt:lpstr>
      <vt:lpstr>问题场景</vt:lpstr>
      <vt:lpstr>解决方案</vt:lpstr>
      <vt:lpstr>PowerPoint Presentation</vt:lpstr>
      <vt:lpstr>核心方法解析</vt:lpstr>
      <vt:lpstr>🎯 系统架构总结</vt:lpstr>
      <vt:lpstr>设计亮点</vt:lpstr>
      <vt:lpstr>PowerPoint Presentation</vt:lpstr>
      <vt:lpstr>💡 设计模式回顾</vt:lpstr>
      <vt:lpstr>🚀 下一步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2025-11-05T13:49:45Z</dcterms:created>
  <dcterms:modified xsi:type="dcterms:W3CDTF">2025-11-05T14:03:29Z</dcterms:modified>
</cp:coreProperties>
</file>