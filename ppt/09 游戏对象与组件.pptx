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4F8D-296E-DC63-D620-700289B0A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C32E5-E5A0-0741-1360-85663954A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77D2B-DCA7-89FA-F607-8B9B2254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31BE0-F86A-90E9-7434-DC19332B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BBF53-A7FB-047E-40B4-2313B8C1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6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0292-834C-EEFB-90E1-38C9D849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BE19-1F94-E037-436E-C83DB4BC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3DB48-4D6B-5871-6FD5-FE18BBF7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3FEC-E2FB-E9F0-FDEB-9A43DFCE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80646-B092-91DA-CAD3-1A98F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FED8-CA51-D353-6CFF-D95B140E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2CDD0-12C6-E817-8F51-38E87A40C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4EC5-7E05-9F4B-7000-ACF4AD9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7000E-B99F-EA0E-AEE1-EEC0E4BF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A6DDA-537E-8F9E-4792-CAF9AFF1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7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B391-F581-C94F-174F-8358A809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5EAA-E944-4D1C-750D-AE11056B9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82850-5159-5FC5-A892-4F28222A4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EFDD5-BF80-DD68-5660-FBA1471F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170E5-99C6-4EF3-F30D-7DA6F70C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D28F3-6702-0E90-609E-059D052C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3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07AF-79C8-90D6-A7BA-C8B48C84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C07AC-DD89-B610-DA5A-67AC8C0CA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F9D41-09FC-F91D-C9F1-2CEE500BC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16A26-C83E-24ED-423E-C35B10366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63EDA-391D-47AE-602D-CDB31AD02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70D0E-9160-50C1-26E1-AD0516B3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7A910-6230-9853-6B13-47F922BC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F3D20E-56F8-5DE4-2D18-8FC497AB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5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B53E-03B6-0DE4-C9F8-5E897B46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FAE05-8017-7726-F9FD-D4F4CC55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4757A-155B-9E4A-5139-525A67B6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606FB-F018-536D-44E8-50A50AFC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9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C66C9-E76E-D8AA-6806-9FF39F4B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7CC1E-4863-AFDB-B3C6-A14C4C71E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EF3CB-7CBF-AEF0-84BC-F8CF2014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0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1707-973E-CC0E-7EFB-3D000C1F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06D6-B3A6-B5E6-A46E-69B1FAE20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B0E53-73F8-C49D-7EF6-D87209B77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1B7E1-280F-7D70-2566-4BD15426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8BC66-5D4D-C00F-C08C-15E4A016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A22D3-2947-60D0-E0CD-9E1A108E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7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176A-598E-9B8A-644D-9E1A94FBF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483F0-866F-A060-CD05-1B8C71477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F8B14-A733-0657-0D52-9730B3D14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2E8C1-D4CA-7749-11AA-F1B57C33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94E14-6697-49C7-FE46-51731B83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12956-08C5-B8C1-F38C-8C82721E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7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B8BD-A2FF-6882-65CB-9F23725B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D7940-56BF-308D-F125-1FD2EAF6A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78269-F427-A9B3-7508-4BC883FF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3351C-C26E-A7A6-577E-4488C7A1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C78DC-B7FA-F548-0BAE-6F67ADFA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0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969CB0-BD31-6F50-818B-2EC015724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6EF9C-48FA-1A8A-CEDD-D54ED0835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ABA9F-3B83-2C3F-BE8C-C613CA35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4E8A-51B5-C72D-8D3F-9C7E192E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9CA7-0346-CC6A-771B-920B36B3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3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37E92-C031-6854-B3DD-9A0B94A1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1E076-7BD1-118D-7F9A-C700A7F3D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246D6-8ABE-5A0A-FC7E-F488B6152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F87A2-D695-4B98-A28B-E67978B4936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F8504-9DE9-FFDE-5F93-7BF668DF6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7F018-92A9-922E-4627-8E801CE07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982F2-2D6B-4BD9-A32B-619D878C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4FFF-890E-D36F-3DBB-8C14EB80A0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游戏对象与组件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5ECDC-5846-FF80-DF69-932CD8E83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CC0A5-D49D-1132-AA58-66570A89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5E90A-F29B-357B-2A1A-ACBE95A1A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在前面的课程中，我们已经把引擎的底层基础设施搭建完毕。现在，是时候构建我们游戏世界的</a:t>
            </a:r>
            <a:r>
              <a:rPr lang="en-US" altLang="zh-CN" dirty="0"/>
              <a:t>"</a:t>
            </a:r>
            <a:r>
              <a:rPr lang="zh-CN" altLang="en-US" dirty="0"/>
              <a:t>原子</a:t>
            </a:r>
            <a:r>
              <a:rPr lang="en-US" altLang="zh-CN" dirty="0"/>
              <a:t>"</a:t>
            </a:r>
            <a:r>
              <a:rPr lang="zh-CN" altLang="en-US" dirty="0"/>
              <a:t>了。在过去的项目中，我们可能会为玩家、敌人、子弹分别创建 </a:t>
            </a:r>
            <a:r>
              <a:rPr lang="en-US" altLang="zh-CN" dirty="0"/>
              <a:t>Player</a:t>
            </a:r>
            <a:r>
              <a:rPr lang="zh-CN" altLang="en-US" dirty="0"/>
              <a:t> 类、</a:t>
            </a:r>
            <a:r>
              <a:rPr lang="en-US" altLang="zh-CN" dirty="0"/>
              <a:t>Enemy</a:t>
            </a:r>
            <a:r>
              <a:rPr lang="zh-CN" altLang="en-US" dirty="0"/>
              <a:t> 类、</a:t>
            </a:r>
            <a:r>
              <a:rPr lang="en-US" altLang="zh-CN" dirty="0"/>
              <a:t>Bullet</a:t>
            </a:r>
            <a:r>
              <a:rPr lang="zh-CN" altLang="en-US" dirty="0"/>
              <a:t> 类，并通过继承来共享功能。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4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384F8-2081-6942-144E-5D38529B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⚠️ 传统继承的问题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276FC-0637-5AB3-8FD6-BACE81B8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这种方式在项目变大后，会迅速演变成复杂混乱的 </a:t>
            </a:r>
            <a:r>
              <a:rPr lang="en-US" altLang="zh-CN" b="1" dirty="0"/>
              <a:t>"</a:t>
            </a:r>
            <a:r>
              <a:rPr lang="zh-CN" altLang="en-US" b="1" dirty="0"/>
              <a:t>继承之网</a:t>
            </a:r>
            <a:r>
              <a:rPr lang="en-US" altLang="zh-CN" b="1" dirty="0"/>
              <a:t>"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这种设计的问题：</a:t>
            </a:r>
          </a:p>
          <a:p>
            <a:pPr marL="0" indent="0">
              <a:buNone/>
            </a:pPr>
            <a:r>
              <a:rPr lang="zh-CN" altLang="en-US" dirty="0"/>
              <a:t>❌ 功能难以复用（比如让敌人也能</a:t>
            </a:r>
            <a:r>
              <a:rPr lang="en-US" altLang="zh-CN" dirty="0"/>
              <a:t>"</a:t>
            </a:r>
            <a:r>
              <a:rPr lang="zh-CN" altLang="en-US" dirty="0"/>
              <a:t>强化</a:t>
            </a:r>
            <a:r>
              <a:rPr lang="en-US" altLang="zh-CN" dirty="0"/>
              <a:t>"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r>
              <a:rPr lang="zh-CN" altLang="en-US" dirty="0"/>
              <a:t>❌ 继承层次深，修改困难</a:t>
            </a:r>
          </a:p>
          <a:p>
            <a:pPr marL="0" indent="0">
              <a:buNone/>
            </a:pPr>
            <a:r>
              <a:rPr lang="zh-CN" altLang="en-US" dirty="0"/>
              <a:t>❌ 代码耦合度高，不够灵活</a:t>
            </a:r>
          </a:p>
          <a:p>
            <a:r>
              <a:rPr lang="zh-CN" altLang="en-US" dirty="0"/>
              <a:t>本节课，我们将彻底拥抱在第三课中提出的 </a:t>
            </a:r>
            <a:r>
              <a:rPr lang="en-US" altLang="zh-CN" b="1" dirty="0"/>
              <a:t>"</a:t>
            </a:r>
            <a:r>
              <a:rPr lang="zh-CN" altLang="en-US" b="1" dirty="0"/>
              <a:t>组合优于继承</a:t>
            </a:r>
            <a:r>
              <a:rPr lang="en-US" altLang="zh-CN" b="1" dirty="0"/>
              <a:t>"</a:t>
            </a:r>
            <a:r>
              <a:rPr lang="zh-CN" altLang="en-US" dirty="0"/>
              <a:t> 的设计哲学，搭建起整个引擎的核心</a:t>
            </a:r>
            <a:r>
              <a:rPr lang="en-US" altLang="zh-CN" dirty="0"/>
              <a:t>——</a:t>
            </a:r>
            <a:r>
              <a:rPr lang="zh-CN" altLang="en-US" b="1" dirty="0"/>
              <a:t>游戏对象（</a:t>
            </a:r>
            <a:r>
              <a:rPr lang="en-US" altLang="zh-CN" b="1" dirty="0" err="1"/>
              <a:t>GameObject</a:t>
            </a:r>
            <a:r>
              <a:rPr lang="zh-CN" altLang="en-US" b="1" dirty="0"/>
              <a:t>）与组件（</a:t>
            </a:r>
            <a:r>
              <a:rPr lang="en-US" altLang="zh-CN" b="1" dirty="0"/>
              <a:t>Component</a:t>
            </a:r>
            <a:r>
              <a:rPr lang="zh-CN" altLang="en-US" b="1" dirty="0"/>
              <a:t>）系统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80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699F-A65D-EF43-4ABE-62915B66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核心思想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5C173-F33C-6ECD-1D3E-45F03AF98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🧩 </a:t>
            </a:r>
            <a:r>
              <a:rPr lang="zh-CN" altLang="en-US" b="1" dirty="0"/>
              <a:t>组件化设计（</a:t>
            </a:r>
            <a:r>
              <a:rPr lang="en-US" b="1" dirty="0"/>
              <a:t>Component-Based Design）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B0C43-4AA9-8AA3-CBB6-15D8A2337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94" y="2443437"/>
            <a:ext cx="6559887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8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504E-03A2-A56C-72BD-08F5DEE5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D6E75-37CB-8886-BEB3-E4B72342C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FF0000"/>
                </a:solidFill>
              </a:rPr>
              <a:t>GameObject</a:t>
            </a:r>
            <a:r>
              <a:rPr lang="zh-CN" altLang="en-US" b="1" dirty="0">
                <a:solidFill>
                  <a:srgbClr val="FF0000"/>
                </a:solidFill>
              </a:rPr>
              <a:t>（游戏对象</a:t>
            </a:r>
            <a:r>
              <a:rPr lang="zh-CN" altLang="en-US" b="1" dirty="0"/>
              <a:t>）</a:t>
            </a:r>
          </a:p>
          <a:p>
            <a:pPr marL="0" indent="0">
              <a:buNone/>
            </a:pPr>
            <a:r>
              <a:rPr lang="zh-CN" altLang="en-US" dirty="0"/>
              <a:t>它本身不是任何具体的东西，你可以把它想象成一个 </a:t>
            </a:r>
            <a:r>
              <a:rPr lang="zh-CN" altLang="en-US" b="1" dirty="0"/>
              <a:t>空的容器</a:t>
            </a:r>
            <a:r>
              <a:rPr lang="zh-CN" altLang="en-US" dirty="0"/>
              <a:t> 或一个 </a:t>
            </a:r>
            <a:r>
              <a:rPr lang="en-US" altLang="zh-CN" b="1" dirty="0"/>
              <a:t>"</a:t>
            </a:r>
            <a:r>
              <a:rPr lang="zh-CN" altLang="en-US" b="1" dirty="0"/>
              <a:t>积木底座</a:t>
            </a:r>
            <a:r>
              <a:rPr lang="en-US" altLang="zh-CN" b="1" dirty="0"/>
              <a:t>"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/>
              <a:t>它的唯一职责就是管理一堆</a:t>
            </a:r>
            <a:r>
              <a:rPr lang="en-US" altLang="zh-CN" dirty="0"/>
              <a:t>"</a:t>
            </a:r>
            <a:r>
              <a:rPr lang="zh-CN" altLang="en-US" dirty="0"/>
              <a:t>功能模块</a:t>
            </a:r>
            <a:r>
              <a:rPr lang="en-US" altLang="zh-CN" dirty="0"/>
              <a:t>"</a:t>
            </a:r>
          </a:p>
          <a:p>
            <a:pPr marL="0" indent="0">
              <a:buNone/>
            </a:pPr>
            <a:r>
              <a:rPr lang="zh-CN" altLang="en-US" dirty="0"/>
              <a:t>它拥有一个名字（</a:t>
            </a:r>
            <a:r>
              <a:rPr lang="en-US" altLang="zh-CN" dirty="0"/>
              <a:t>name</a:t>
            </a:r>
            <a:r>
              <a:rPr lang="zh-CN" altLang="en-US" dirty="0"/>
              <a:t>）和标签（</a:t>
            </a:r>
            <a:r>
              <a:rPr lang="en-US" altLang="zh-CN" dirty="0"/>
              <a:t>tag</a:t>
            </a:r>
            <a:r>
              <a:rPr lang="zh-CN" altLang="en-US" dirty="0"/>
              <a:t>）来标识自己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Component</a:t>
            </a:r>
            <a:r>
              <a:rPr lang="zh-CN" altLang="en-US" b="1" dirty="0">
                <a:solidFill>
                  <a:srgbClr val="FF0000"/>
                </a:solidFill>
              </a:rPr>
              <a:t>（组件）</a:t>
            </a:r>
          </a:p>
          <a:p>
            <a:pPr marL="0" indent="0">
              <a:buNone/>
            </a:pPr>
            <a:r>
              <a:rPr lang="zh-CN" altLang="en-US" dirty="0"/>
              <a:t>这就是我们的 </a:t>
            </a:r>
            <a:r>
              <a:rPr lang="en-US" altLang="zh-CN" b="1" dirty="0"/>
              <a:t>"</a:t>
            </a:r>
            <a:r>
              <a:rPr lang="zh-CN" altLang="en-US" b="1" dirty="0"/>
              <a:t>功能模块</a:t>
            </a:r>
            <a:r>
              <a:rPr lang="en-US" altLang="zh-CN" b="1" dirty="0"/>
              <a:t>"</a:t>
            </a:r>
            <a:r>
              <a:rPr lang="zh-CN" altLang="en-US" dirty="0"/>
              <a:t>，每一块积木。每个组件都只负责一项单一的功能。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7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1E809-45BD-063C-94AE-022BB045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如何使用组件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AE2D7C-344E-B70D-0D7C-B12F5C51CB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589719"/>
              </p:ext>
            </p:extLst>
          </p:nvPr>
        </p:nvGraphicFramePr>
        <p:xfrm>
          <a:off x="838200" y="1825624"/>
          <a:ext cx="10515600" cy="228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568620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7208460"/>
                    </a:ext>
                  </a:extLst>
                </a:gridCol>
              </a:tblGrid>
              <a:tr h="5722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解决方案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578771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想让一个 </a:t>
                      </a:r>
                      <a:r>
                        <a:rPr lang="en-US">
                          <a:effectLst/>
                        </a:rPr>
                        <a:t>GameObject </a:t>
                      </a:r>
                      <a:r>
                        <a:rPr lang="zh-CN" altLang="en-US">
                          <a:effectLst/>
                        </a:rPr>
                        <a:t>显示在屏幕上？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给它添加一个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SpriteComponent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29297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想让它拥有物理特性并能与世界碰撞？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给它添加一个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PhysicsComponent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74999"/>
                  </a:ext>
                </a:extLst>
              </a:tr>
              <a:tr h="572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想让它响应玩家的输入？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给它添加一个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PlayerInputComponent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41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780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AD0B-E253-49FA-E537-FFE1A2D3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✨ </a:t>
            </a:r>
            <a:r>
              <a:rPr lang="zh-CN" altLang="en-US" b="1" dirty="0"/>
              <a:t>组合的力量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BEF4-2FAC-0557-B903-F6EB8A765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69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通过这种方式，我们的 </a:t>
            </a:r>
            <a:r>
              <a:rPr lang="en-US" altLang="zh-CN" b="1" dirty="0"/>
              <a:t>"</a:t>
            </a:r>
            <a:r>
              <a:rPr lang="zh-CN" altLang="en-US" b="1" dirty="0"/>
              <a:t>玩家</a:t>
            </a:r>
            <a:r>
              <a:rPr lang="en-US" altLang="zh-CN" b="1" dirty="0"/>
              <a:t>"</a:t>
            </a:r>
            <a:r>
              <a:rPr lang="zh-CN" altLang="en-US" dirty="0"/>
              <a:t> 不再是一个巨大的 </a:t>
            </a:r>
            <a:r>
              <a:rPr lang="en-US" dirty="0"/>
              <a:t>Player </a:t>
            </a:r>
            <a:r>
              <a:rPr lang="zh-CN" altLang="en-US" dirty="0"/>
              <a:t>类，而是：</a:t>
            </a:r>
          </a:p>
          <a:p>
            <a:pPr marL="0" indent="0">
              <a:buNone/>
            </a:pPr>
            <a:r>
              <a:rPr lang="en-US" dirty="0" err="1"/>
              <a:t>GameObject</a:t>
            </a:r>
            <a:r>
              <a:rPr lang="en-US" dirty="0"/>
              <a:t>("Player")</a:t>
            </a:r>
          </a:p>
          <a:p>
            <a:pPr marL="0" indent="0">
              <a:buNone/>
            </a:pPr>
            <a:r>
              <a:rPr lang="en-US" dirty="0"/>
              <a:t>├── </a:t>
            </a:r>
            <a:r>
              <a:rPr lang="en-US" dirty="0" err="1"/>
              <a:t>SpriteComponent</a:t>
            </a:r>
            <a:r>
              <a:rPr lang="en-US" dirty="0"/>
              <a:t>        // </a:t>
            </a:r>
            <a:r>
              <a:rPr lang="zh-CN" altLang="en-US" dirty="0"/>
              <a:t>显示精灵</a:t>
            </a:r>
          </a:p>
          <a:p>
            <a:pPr marL="0" indent="0">
              <a:buNone/>
            </a:pPr>
            <a:r>
              <a:rPr lang="zh-CN" altLang="en-US" dirty="0"/>
              <a:t>├── </a:t>
            </a:r>
            <a:r>
              <a:rPr lang="en-US" dirty="0" err="1"/>
              <a:t>PhysicsComponent</a:t>
            </a:r>
            <a:r>
              <a:rPr lang="en-US" dirty="0"/>
              <a:t>       // </a:t>
            </a:r>
            <a:r>
              <a:rPr lang="zh-CN" altLang="en-US" dirty="0"/>
              <a:t>物理特性</a:t>
            </a:r>
          </a:p>
          <a:p>
            <a:pPr marL="0" indent="0">
              <a:buNone/>
            </a:pPr>
            <a:r>
              <a:rPr lang="zh-CN" altLang="en-US" dirty="0"/>
              <a:t>├── </a:t>
            </a:r>
            <a:r>
              <a:rPr lang="en-US" dirty="0" err="1"/>
              <a:t>PlayerInputComponent</a:t>
            </a:r>
            <a:r>
              <a:rPr lang="en-US" dirty="0"/>
              <a:t>   // </a:t>
            </a:r>
            <a:r>
              <a:rPr lang="zh-CN" altLang="en-US" dirty="0"/>
              <a:t>接收输入</a:t>
            </a:r>
          </a:p>
          <a:p>
            <a:pPr marL="0" indent="0">
              <a:buNone/>
            </a:pPr>
            <a:r>
              <a:rPr lang="zh-CN" altLang="en-US" dirty="0"/>
              <a:t>├── </a:t>
            </a:r>
            <a:r>
              <a:rPr lang="en-US" dirty="0" err="1"/>
              <a:t>HealthComponent</a:t>
            </a:r>
            <a:r>
              <a:rPr lang="en-US" dirty="0"/>
              <a:t>        // </a:t>
            </a:r>
            <a:r>
              <a:rPr lang="zh-CN" altLang="en-US" dirty="0"/>
              <a:t>生命值</a:t>
            </a:r>
          </a:p>
          <a:p>
            <a:pPr marL="0" indent="0">
              <a:buNone/>
            </a:pPr>
            <a:r>
              <a:rPr lang="zh-CN" altLang="en-US" dirty="0"/>
              <a:t>└── </a:t>
            </a:r>
            <a:r>
              <a:rPr lang="en-US" dirty="0" err="1"/>
              <a:t>AnimationComponent</a:t>
            </a:r>
            <a:r>
              <a:rPr lang="en-US" dirty="0"/>
              <a:t>     // </a:t>
            </a:r>
            <a:r>
              <a:rPr lang="zh-CN" altLang="en-US" dirty="0"/>
              <a:t>动画控制</a:t>
            </a:r>
          </a:p>
          <a:p>
            <a:r>
              <a:rPr lang="en-US" dirty="0"/>
              <a:t>🎯 </a:t>
            </a:r>
            <a:r>
              <a:rPr lang="zh-CN" altLang="en-US" b="1" dirty="0"/>
              <a:t>这种设计的灵活性是无与伦比的</a:t>
            </a:r>
            <a:r>
              <a:rPr lang="zh-CN" altLang="en-US" dirty="0"/>
              <a:t>：想创建一个</a:t>
            </a:r>
            <a:r>
              <a:rPr lang="en-US" altLang="zh-CN" dirty="0"/>
              <a:t>"</a:t>
            </a:r>
            <a:r>
              <a:rPr lang="zh-CN" altLang="en-US" dirty="0"/>
              <a:t>会飞的敌人</a:t>
            </a:r>
            <a:r>
              <a:rPr lang="en-US" altLang="zh-CN" dirty="0"/>
              <a:t>"</a:t>
            </a:r>
            <a:r>
              <a:rPr lang="zh-CN" altLang="en-US" dirty="0"/>
              <a:t>？只需复用 </a:t>
            </a:r>
            <a:r>
              <a:rPr lang="en-US" dirty="0" err="1"/>
              <a:t>SpriteComponent</a:t>
            </a:r>
            <a:r>
              <a:rPr lang="en-US" dirty="0"/>
              <a:t> </a:t>
            </a:r>
            <a:r>
              <a:rPr lang="zh-CN" altLang="en-US" dirty="0"/>
              <a:t>和 </a:t>
            </a:r>
            <a:r>
              <a:rPr lang="en-US" dirty="0" err="1"/>
              <a:t>AIComponent</a:t>
            </a:r>
            <a:r>
              <a:rPr lang="en-US" dirty="0"/>
              <a:t>，</a:t>
            </a:r>
            <a:r>
              <a:rPr lang="zh-CN" altLang="en-US" dirty="0"/>
              <a:t>不需要写新类！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83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E8EB-5B71-A018-F1EC-58F44543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新的项目结构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FDD0-AB7C-7EBB-4314-572FDBEC9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我们将在 </a:t>
            </a:r>
            <a:r>
              <a:rPr lang="en-US" dirty="0" err="1"/>
              <a:t>src</a:t>
            </a:r>
            <a:r>
              <a:rPr lang="en-US" dirty="0"/>
              <a:t>/engine/ </a:t>
            </a:r>
            <a:r>
              <a:rPr lang="zh-CN" altLang="en-US" dirty="0"/>
              <a:t>下创建两个新的目录，分别用于存放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和 </a:t>
            </a:r>
            <a:r>
              <a:rPr lang="en-US" dirty="0"/>
              <a:t>Component </a:t>
            </a:r>
            <a:r>
              <a:rPr lang="zh-CN" altLang="en-US" dirty="0"/>
              <a:t>相关的代码。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6954E-D311-FB93-3649-A6EA27C16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14" y="2855722"/>
            <a:ext cx="3911801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9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B010-9B56-7B21-7A56-B6A467AB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Component </a:t>
            </a:r>
            <a:r>
              <a:rPr lang="zh-CN" altLang="en-US" b="1" dirty="0"/>
              <a:t>基类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21BE3-820B-D3E3-377F-DD905942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我们首先定义所有组件的</a:t>
            </a:r>
            <a:r>
              <a:rPr lang="en-US" altLang="zh-CN" dirty="0"/>
              <a:t>"</a:t>
            </a:r>
            <a:r>
              <a:rPr lang="zh-CN" altLang="en-US" dirty="0"/>
              <a:t>始祖</a:t>
            </a:r>
            <a:r>
              <a:rPr lang="en-US" altLang="zh-CN" dirty="0"/>
              <a:t>"——Component</a:t>
            </a:r>
            <a:r>
              <a:rPr lang="zh-CN" altLang="en-US" dirty="0"/>
              <a:t> 基类。这是一个非常简单的抽象类，它定义了所有组件都必须遵守的 </a:t>
            </a:r>
            <a:r>
              <a:rPr lang="en-US" altLang="zh-CN" b="1" dirty="0"/>
              <a:t>"</a:t>
            </a:r>
            <a:r>
              <a:rPr lang="zh-CN" altLang="en-US" b="1" dirty="0"/>
              <a:t>生命周期</a:t>
            </a:r>
            <a:r>
              <a:rPr lang="en-US" altLang="zh-CN" b="1" dirty="0"/>
              <a:t>"</a:t>
            </a:r>
            <a:r>
              <a:rPr lang="zh-CN" altLang="en-US" dirty="0"/>
              <a:t> 约定。</a:t>
            </a:r>
            <a:endParaRPr lang="en-US" altLang="zh-CN" dirty="0"/>
          </a:p>
          <a:p>
            <a:pPr marL="0" indent="0">
              <a:buNone/>
            </a:pPr>
            <a:r>
              <a:rPr lang="en-US" b="1" dirty="0" err="1"/>
              <a:t>component.h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2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32D7-3B55-7BB2-2728-B756B7D1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关键设计说明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6D83F2-AEAD-B2F2-8961-27620D176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639634"/>
              </p:ext>
            </p:extLst>
          </p:nvPr>
        </p:nvGraphicFramePr>
        <p:xfrm>
          <a:off x="838200" y="1825625"/>
          <a:ext cx="105156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81975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3906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056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owner_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一个指向拥有它的 </a:t>
                      </a:r>
                      <a:r>
                        <a:rPr lang="en-US" altLang="zh-CN">
                          <a:effectLst/>
                        </a:rPr>
                        <a:t>GameObject </a:t>
                      </a:r>
                      <a:r>
                        <a:rPr lang="zh-CN" altLang="en-US">
                          <a:effectLst/>
                        </a:rPr>
                        <a:t>的指针。这让组件可以在需要时访问它的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主人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的信息（例如，获取主人的位置）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742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virtual ~Component()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虚析构函数是必须的，以确保当我们通过基类指针删除派生类对象时，能够正确地调用派生类的析构函数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796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生命周期函数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init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update()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render()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,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clean()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r>
                        <a:rPr lang="zh-CN" altLang="en-US" dirty="0">
                          <a:effectLst/>
                        </a:rPr>
                        <a:t>这些虚函数将被 </a:t>
                      </a:r>
                      <a:r>
                        <a:rPr lang="en-US" dirty="0" err="1">
                          <a:effectLst/>
                        </a:rPr>
                        <a:t>GameObject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在适当的时候（如主循环的不同阶段）调用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76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protected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我们把生命周期函数设为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protected</a:t>
                      </a:r>
                      <a:r>
                        <a:rPr lang="en-US" dirty="0">
                          <a:effectLst/>
                        </a:rPr>
                        <a:t>，</a:t>
                      </a:r>
                      <a:r>
                        <a:rPr lang="zh-CN" altLang="en-US" dirty="0">
                          <a:effectLst/>
                        </a:rPr>
                        <a:t>因为只有 </a:t>
                      </a:r>
                      <a:r>
                        <a:rPr lang="en-US" dirty="0" err="1">
                          <a:effectLst/>
                        </a:rPr>
                        <a:t>GameObject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才有权调用它们（通过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friend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声明）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74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294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AD55-58E3-6905-9FE7-BA6B7280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</a:t>
            </a:r>
            <a:r>
              <a:rPr lang="en-US" b="1" dirty="0" err="1"/>
              <a:t>GameObject</a:t>
            </a:r>
            <a:r>
              <a:rPr lang="en-US" b="1" dirty="0"/>
              <a:t> </a:t>
            </a:r>
            <a:r>
              <a:rPr lang="zh-CN" altLang="en-US" b="1" dirty="0"/>
              <a:t>类：组件的管理者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8F146-644A-2A08-5FD8-C137BB899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GameObject</a:t>
            </a:r>
            <a:r>
              <a:rPr lang="zh-CN" altLang="en-US" dirty="0"/>
              <a:t> 是这个系统的核心，也是技术上最复杂的部分。它需要能够 </a:t>
            </a:r>
            <a:r>
              <a:rPr lang="zh-CN" altLang="en-US" b="1" dirty="0"/>
              <a:t>动态地、类型安全地</a:t>
            </a:r>
            <a:r>
              <a:rPr lang="zh-CN" altLang="en-US" dirty="0"/>
              <a:t> 添加、获取、检查和移除任何类型的组件。</a:t>
            </a:r>
            <a:endParaRPr lang="en-US" altLang="zh-CN" dirty="0"/>
          </a:p>
          <a:p>
            <a:pPr marL="0" indent="0">
              <a:buNone/>
            </a:pPr>
            <a:r>
              <a:rPr lang="en-US" b="1" dirty="0" err="1"/>
              <a:t>game_object.h</a:t>
            </a:r>
            <a:endParaRPr lang="en-US" b="1" dirty="0"/>
          </a:p>
          <a:p>
            <a:r>
              <a:rPr lang="zh-CN" altLang="en-US" dirty="0"/>
              <a:t>这是 </a:t>
            </a:r>
            <a:r>
              <a:rPr lang="en-US" dirty="0" err="1"/>
              <a:t>GameObject</a:t>
            </a:r>
            <a:r>
              <a:rPr lang="en-US" dirty="0"/>
              <a:t> </a:t>
            </a:r>
            <a:r>
              <a:rPr lang="zh-CN" altLang="en-US" dirty="0"/>
              <a:t>的头文件，其中包含了大量的 </a:t>
            </a:r>
            <a:r>
              <a:rPr lang="en-US" b="1" dirty="0">
                <a:solidFill>
                  <a:srgbClr val="FF0000"/>
                </a:solidFill>
              </a:rPr>
              <a:t>C++ </a:t>
            </a:r>
            <a:r>
              <a:rPr lang="zh-CN" altLang="en-US" b="1" dirty="0">
                <a:solidFill>
                  <a:srgbClr val="FF0000"/>
                </a:solidFill>
              </a:rPr>
              <a:t>模板元编程技巧</a:t>
            </a:r>
            <a:r>
              <a:rPr lang="zh-CN" altLang="en-US" dirty="0"/>
              <a:t>，让我们来逐一解析：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3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A9AD-306C-0E4B-6D93-9187D24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🔍 关键技术解析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6F0E-D551-0CE4-5052-D7898701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b="1" dirty="0"/>
              <a:t>组件存储</a:t>
            </a:r>
            <a:endParaRPr lang="en-US" altLang="zh-CN" b="1" dirty="0"/>
          </a:p>
          <a:p>
            <a:pPr marL="514350" indent="-514350">
              <a:buAutoNum type="arabicPeriod"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sz="2000" dirty="0"/>
              <a:t>我们使用一个 </a:t>
            </a:r>
            <a:r>
              <a:rPr lang="en-US" sz="2000" dirty="0" err="1"/>
              <a:t>unordered_map</a:t>
            </a:r>
            <a:r>
              <a:rPr lang="en-US" sz="2000" dirty="0"/>
              <a:t> </a:t>
            </a:r>
            <a:r>
              <a:rPr lang="zh-CN" altLang="en-US" sz="2000" dirty="0"/>
              <a:t>来存储组件：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995A7-5AE9-4C1C-0C03-8D4B942B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25" y="2329220"/>
            <a:ext cx="7334627" cy="32386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6B6528-5E5D-ACD8-AC23-89C1E7360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74873"/>
              </p:ext>
            </p:extLst>
          </p:nvPr>
        </p:nvGraphicFramePr>
        <p:xfrm>
          <a:off x="838200" y="3294380"/>
          <a:ext cx="1074219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730">
                  <a:extLst>
                    <a:ext uri="{9D8B030D-6E8A-4147-A177-3AD203B41FA5}">
                      <a16:colId xmlns:a16="http://schemas.microsoft.com/office/drawing/2014/main" val="658483956"/>
                    </a:ext>
                  </a:extLst>
                </a:gridCol>
                <a:gridCol w="3580730">
                  <a:extLst>
                    <a:ext uri="{9D8B030D-6E8A-4147-A177-3AD203B41FA5}">
                      <a16:colId xmlns:a16="http://schemas.microsoft.com/office/drawing/2014/main" val="2248226180"/>
                    </a:ext>
                  </a:extLst>
                </a:gridCol>
                <a:gridCol w="3580730">
                  <a:extLst>
                    <a:ext uri="{9D8B030D-6E8A-4147-A177-3AD203B41FA5}">
                      <a16:colId xmlns:a16="http://schemas.microsoft.com/office/drawing/2014/main" val="29871529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40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Key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type_index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使用组件的类型本身作为键。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type_index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typeid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(T))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可以为任何类型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</a:t>
                      </a:r>
                      <a:r>
                        <a:rPr lang="en-US" dirty="0">
                          <a:effectLst/>
                        </a:rPr>
                        <a:t>（</a:t>
                      </a:r>
                      <a:r>
                        <a:rPr lang="zh-CN" altLang="en-US" dirty="0">
                          <a:effectLst/>
                        </a:rPr>
                        <a:t>如 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SpriteComponent</a:t>
                      </a:r>
                      <a:r>
                        <a:rPr lang="en-US" dirty="0">
                          <a:effectLst/>
                        </a:rPr>
                        <a:t>）</a:t>
                      </a:r>
                      <a:r>
                        <a:rPr lang="zh-CN" altLang="en-US" dirty="0">
                          <a:effectLst/>
                        </a:rPr>
                        <a:t>生成一个唯一的、可哈希的标识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76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Value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unique_ptr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&lt;Component&gt;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GameObject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拥有它的所有组件。使用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unique_ptr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可以确保当 </a:t>
                      </a:r>
                      <a:r>
                        <a:rPr lang="en-US" dirty="0" err="1">
                          <a:effectLst/>
                        </a:rPr>
                        <a:t>GameObject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被销毁时，它所拥有的所有组件都会被自动、安全地销毁，完美符合 </a:t>
                      </a:r>
                      <a:r>
                        <a:rPr lang="en-US" dirty="0">
                          <a:effectLst/>
                        </a:rPr>
                        <a:t>RAII </a:t>
                      </a:r>
                      <a:r>
                        <a:rPr lang="zh-CN" altLang="en-US" dirty="0">
                          <a:effectLst/>
                        </a:rPr>
                        <a:t>原则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93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03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4DBF4-11A7-C6C1-89E3-6734438C5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154"/>
            <a:ext cx="10515600" cy="559080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addComponent</a:t>
            </a:r>
            <a:r>
              <a:rPr lang="en-US" b="1" dirty="0"/>
              <a:t>&lt;T, ...&gt;()</a:t>
            </a:r>
          </a:p>
          <a:p>
            <a:pPr marL="0" indent="0">
              <a:buNone/>
            </a:pPr>
            <a:r>
              <a:rPr lang="zh-CN" altLang="en-US" sz="2000" dirty="0"/>
              <a:t>这是最关键的模板函数：</a:t>
            </a:r>
            <a:endParaRPr lang="en-US" altLang="zh-CN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zh-CN" altLang="en-US" sz="2000" b="1" dirty="0"/>
              <a:t>模板参数解析：</a:t>
            </a: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template &lt;</a:t>
            </a:r>
            <a:r>
              <a:rPr lang="en-US" altLang="zh-CN" sz="2000" dirty="0" err="1"/>
              <a:t>typename</a:t>
            </a:r>
            <a:r>
              <a:rPr lang="en-US" altLang="zh-CN" sz="2000" dirty="0"/>
              <a:t> T, </a:t>
            </a:r>
            <a:r>
              <a:rPr lang="en-US" altLang="zh-CN" sz="2000" dirty="0" err="1"/>
              <a:t>typename</a:t>
            </a:r>
            <a:r>
              <a:rPr lang="en-US" altLang="zh-CN" sz="2000" dirty="0"/>
              <a:t>...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&gt;: </a:t>
            </a:r>
            <a:r>
              <a:rPr lang="zh-CN" altLang="en-US" sz="2000" dirty="0"/>
              <a:t>这是一个 </a:t>
            </a:r>
            <a:r>
              <a:rPr lang="zh-CN" altLang="en-US" sz="2000" b="1" dirty="0"/>
              <a:t>可变参数模板</a:t>
            </a:r>
            <a:r>
              <a:rPr lang="zh-CN" altLang="en-US" sz="2000" dirty="0"/>
              <a:t>，意味着我们可以用任意数量和类型的参数来构造一个组件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endParaRPr lang="en-US" sz="2000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7B2FA-06FB-87F5-02F4-75B956CA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81" y="1496632"/>
            <a:ext cx="3568883" cy="558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F2597B-F75C-8457-7BD7-D8DF9D9EA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481" y="3381558"/>
            <a:ext cx="5124713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6DBF-79AA-0B64-1181-2DA29648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关键技术：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68A14C-A7B9-6167-1911-66E431879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4330451"/>
              </p:ext>
            </p:extLst>
          </p:nvPr>
        </p:nvGraphicFramePr>
        <p:xfrm>
          <a:off x="838200" y="1825625"/>
          <a:ext cx="10515600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778802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2065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技术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21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static_assert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(...)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静态断言，在编译期进行检查。它确保任何试图添加到 </a:t>
                      </a:r>
                      <a:r>
                        <a:rPr lang="en-US" altLang="zh-CN" dirty="0" err="1">
                          <a:effectLst/>
                        </a:rPr>
                        <a:t>GameObject</a:t>
                      </a:r>
                      <a:r>
                        <a:rPr lang="en-US" altLang="zh-CN" dirty="0">
                          <a:effectLst/>
                        </a:rPr>
                        <a:t> </a:t>
                      </a:r>
                      <a:r>
                        <a:rPr lang="zh-CN" altLang="en-US" dirty="0">
                          <a:effectLst/>
                        </a:rPr>
                        <a:t>的类型 </a:t>
                      </a:r>
                      <a:r>
                        <a:rPr lang="en-US" altLang="zh-CN" dirty="0">
                          <a:solidFill>
                            <a:srgbClr val="C8C3BC"/>
                          </a:solidFill>
                          <a:effectLst/>
                          <a:latin typeface="source-code-pro"/>
                        </a:rPr>
                        <a:t>T</a:t>
                      </a:r>
                      <a:r>
                        <a:rPr lang="zh-CN" altLang="en-US" dirty="0">
                          <a:effectLst/>
                        </a:rPr>
                        <a:t> 都必须是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Component</a:t>
                      </a:r>
                      <a:r>
                        <a:rPr lang="zh-CN" altLang="en-US" dirty="0">
                          <a:effectLst/>
                        </a:rPr>
                        <a:t> 的派生类。如果不是，编译将直接失败并给出明确的错误信息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09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std::forward&lt;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Args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&gt;(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args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)...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完美转发</a:t>
                      </a:r>
                      <a:r>
                        <a:rPr lang="zh-CN" altLang="en-US" dirty="0">
                          <a:effectLst/>
                        </a:rPr>
                        <a:t>。它能将参数以原始的值类别（左值或右值）转发给组件的构造函数，保证了效率和正确性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5480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F43682-09B9-D685-01A7-1D08412747BE}"/>
              </a:ext>
            </a:extLst>
          </p:cNvPr>
          <p:cNvSpPr txBox="1"/>
          <p:nvPr/>
        </p:nvSpPr>
        <p:spPr>
          <a:xfrm>
            <a:off x="838200" y="422455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effectLst/>
                <a:latin typeface="-apple-system"/>
              </a:rPr>
              <a:t>执行流程：</a:t>
            </a:r>
            <a:endParaRPr lang="zh-CN" altLang="en-US" b="0" i="0" dirty="0">
              <a:effectLst/>
              <a:latin typeface="-apple-system"/>
            </a:endParaRPr>
          </a:p>
          <a:p>
            <a:pPr algn="l">
              <a:buNone/>
            </a:pPr>
            <a:r>
              <a:rPr lang="en-US" altLang="zh-CN" b="0" i="0" dirty="0">
                <a:effectLst/>
                <a:latin typeface="Courier New" panose="02070309020205020404" pitchFamily="49" charset="0"/>
              </a:rPr>
              <a:t>1.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检查组件是否已存在</a:t>
            </a:r>
          </a:p>
          <a:p>
            <a:pPr algn="l">
              <a:buNone/>
            </a:pPr>
            <a:r>
              <a:rPr lang="en-US" altLang="zh-CN" b="0" i="0" dirty="0">
                <a:effectLst/>
                <a:latin typeface="Courier New" panose="02070309020205020404" pitchFamily="49" charset="0"/>
              </a:rPr>
              <a:t>2.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创建新的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unique_ptr</a:t>
            </a:r>
            <a:endParaRPr lang="en-US" b="0" i="0" dirty="0"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3.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获取其裸指针（用于返回和调用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）</a:t>
            </a:r>
          </a:p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4.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设置 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owner</a:t>
            </a:r>
          </a:p>
          <a:p>
            <a:pPr algn="l">
              <a:buNone/>
            </a:pPr>
            <a:r>
              <a:rPr lang="en-US" b="0" i="0" dirty="0">
                <a:effectLst/>
                <a:latin typeface="Courier New" panose="02070309020205020404" pitchFamily="49" charset="0"/>
              </a:rPr>
              <a:t>5.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将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unique_ptr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的所有权移动到 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map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中</a:t>
            </a:r>
          </a:p>
          <a:p>
            <a:pPr algn="l">
              <a:buNone/>
            </a:pPr>
            <a:r>
              <a:rPr lang="en-US" altLang="zh-CN" b="0" i="0" dirty="0">
                <a:effectLst/>
                <a:latin typeface="Courier New" panose="02070309020205020404" pitchFamily="49" charset="0"/>
              </a:rPr>
              <a:t>6.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调用新组件的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() </a:t>
            </a:r>
            <a:r>
              <a:rPr lang="zh-CN" altLang="en-US" b="0" i="0" dirty="0">
                <a:effectLst/>
                <a:latin typeface="Courier New" panose="02070309020205020404" pitchFamily="49" charset="0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2197881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7C79-FE9C-0CD0-B1A5-343BB394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3. </a:t>
            </a:r>
            <a:r>
              <a:rPr lang="fr-FR" b="1" dirty="0" err="1"/>
              <a:t>getComponent</a:t>
            </a:r>
            <a:r>
              <a:rPr lang="fr-FR" b="1" dirty="0"/>
              <a:t>&lt;T&gt;() &amp; </a:t>
            </a:r>
            <a:r>
              <a:rPr lang="fr-FR" b="1" dirty="0" err="1"/>
              <a:t>hasComponent</a:t>
            </a:r>
            <a:r>
              <a:rPr lang="fr-FR" b="1" dirty="0"/>
              <a:t>&lt;T&gt;()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D7AA-0403-B8B6-FAFC-A58140BCF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这两个函数利用 </a:t>
            </a:r>
            <a:r>
              <a:rPr lang="en-US" dirty="0" err="1"/>
              <a:t>type_index</a:t>
            </a:r>
            <a:r>
              <a:rPr lang="en-US" dirty="0"/>
              <a:t> </a:t>
            </a:r>
            <a:r>
              <a:rPr lang="zh-CN" altLang="en-US" dirty="0"/>
              <a:t>在 </a:t>
            </a:r>
            <a:r>
              <a:rPr lang="en-US" dirty="0"/>
              <a:t>map </a:t>
            </a:r>
            <a:r>
              <a:rPr lang="zh-CN" altLang="en-US" dirty="0"/>
              <a:t>中进行快速查找：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0ED00-E708-C9B3-8D63-842DD52A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07" y="2482801"/>
            <a:ext cx="4743694" cy="189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2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8437-E992-EF9A-981E-5CF4267F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game_object.cpp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EC7C8-1166-A513-3504-BD2A3450F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实现文件相对简单，它主要负责将 </a:t>
            </a:r>
            <a:r>
              <a:rPr lang="en-US" altLang="zh-CN" dirty="0" err="1"/>
              <a:t>GameObject</a:t>
            </a:r>
            <a:r>
              <a:rPr lang="en-US" altLang="zh-CN" dirty="0"/>
              <a:t> </a:t>
            </a:r>
            <a:r>
              <a:rPr lang="zh-CN" altLang="en-US" dirty="0"/>
              <a:t>的 </a:t>
            </a:r>
            <a:r>
              <a:rPr lang="en-US" altLang="zh-CN" dirty="0"/>
              <a:t>update, render, </a:t>
            </a:r>
            <a:r>
              <a:rPr lang="en-US" altLang="zh-CN" dirty="0" err="1"/>
              <a:t>handleInput</a:t>
            </a:r>
            <a:r>
              <a:rPr lang="zh-CN" altLang="en-US" dirty="0"/>
              <a:t> 等调用 </a:t>
            </a:r>
            <a:r>
              <a:rPr lang="zh-CN" altLang="en-US" b="1" dirty="0"/>
              <a:t>转发</a:t>
            </a:r>
            <a:r>
              <a:rPr lang="zh-CN" altLang="en-US" dirty="0"/>
              <a:t> 给它所拥有的每一个组件。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b="1" dirty="0"/>
              <a:t>关键点：</a:t>
            </a:r>
            <a:endParaRPr lang="zh-CN" altLang="en-US" dirty="0"/>
          </a:p>
          <a:p>
            <a:r>
              <a:rPr lang="zh-CN" altLang="en-US" dirty="0"/>
              <a:t>遍历 </a:t>
            </a:r>
            <a:r>
              <a:rPr lang="en-US" altLang="zh-CN" dirty="0"/>
              <a:t>components_</a:t>
            </a:r>
            <a:r>
              <a:rPr lang="zh-CN" altLang="en-US" dirty="0"/>
              <a:t> 这个 </a:t>
            </a:r>
            <a:r>
              <a:rPr lang="en-US" altLang="zh-CN" dirty="0"/>
              <a:t>map</a:t>
            </a:r>
          </a:p>
          <a:p>
            <a:r>
              <a:rPr lang="zh-CN" altLang="en-US" dirty="0"/>
              <a:t>调用每个组件对应的生命周期函数</a:t>
            </a:r>
          </a:p>
          <a:p>
            <a:r>
              <a:rPr lang="zh-CN" altLang="en-US" dirty="0"/>
              <a:t>自动管理组件的生命周期（创建、销毁）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55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EFF8-9DF8-FC89-4F32-A7C39D54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集成与测试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2DE2-586E-D657-A867-D9EE3432E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最后，我们在 </a:t>
            </a:r>
            <a:r>
              <a:rPr lang="en-US" dirty="0" err="1"/>
              <a:t>GameApp</a:t>
            </a:r>
            <a:r>
              <a:rPr lang="en-US" dirty="0"/>
              <a:t> </a:t>
            </a:r>
            <a:r>
              <a:rPr lang="zh-CN" altLang="en-US" dirty="0"/>
              <a:t>中添加一个简单的 </a:t>
            </a:r>
            <a:r>
              <a:rPr lang="en-US" dirty="0" err="1"/>
              <a:t>testGameObject</a:t>
            </a:r>
            <a:r>
              <a:rPr lang="en-US" dirty="0"/>
              <a:t>() </a:t>
            </a:r>
            <a:r>
              <a:rPr lang="zh-CN" altLang="en-US" dirty="0"/>
              <a:t>函数。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32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4E9D-ADC0-A1C5-A94C-2455B855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7D6DFC-3422-067D-2888-32033226D9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597959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877897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0466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传统继承方式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组件化方式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92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Player </a:t>
                      </a:r>
                      <a:r>
                        <a:rPr lang="zh-CN" altLang="en-US">
                          <a:effectLst/>
                        </a:rPr>
                        <a:t>类包含所有功能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GameObject + </a:t>
                      </a:r>
                      <a:r>
                        <a:rPr lang="zh-CN" altLang="en-US">
                          <a:effectLst/>
                        </a:rPr>
                        <a:t>多个独立组件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28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通过继承共享代码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通过组合复用组件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45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修改困难，牵一发动全身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灵活组装，随意搭配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470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继承层次深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扁平化结构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0865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2B4A01-F841-B8B1-2DB0-0C395D58A5F7}"/>
              </a:ext>
            </a:extLst>
          </p:cNvPr>
          <p:cNvSpPr txBox="1"/>
          <p:nvPr/>
        </p:nvSpPr>
        <p:spPr>
          <a:xfrm>
            <a:off x="779585" y="39432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effectLst/>
                <a:latin typeface="-apple-system"/>
              </a:rPr>
              <a:t>设计优势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高度灵活</a:t>
            </a:r>
            <a:r>
              <a:rPr lang="zh-CN" altLang="en-US" b="0" i="0" dirty="0">
                <a:effectLst/>
                <a:latin typeface="-apple-system"/>
              </a:rPr>
              <a:t>：任意组合组件创建不同对象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易于扩展</a:t>
            </a:r>
            <a:r>
              <a:rPr lang="zh-CN" altLang="en-US" b="0" i="0" dirty="0">
                <a:effectLst/>
                <a:latin typeface="-apple-system"/>
              </a:rPr>
              <a:t>：新增功能只需添加新组件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代码复用</a:t>
            </a:r>
            <a:r>
              <a:rPr lang="zh-CN" altLang="en-US" b="0" i="0" dirty="0">
                <a:effectLst/>
                <a:latin typeface="-apple-system"/>
              </a:rPr>
              <a:t>：组件可在不同对象间共享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解耦合</a:t>
            </a:r>
            <a:r>
              <a:rPr lang="zh-CN" altLang="en-US" b="0" i="0" dirty="0">
                <a:effectLst/>
                <a:latin typeface="-apple-system"/>
              </a:rPr>
              <a:t>：组件之间相互独立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类型安全</a:t>
            </a:r>
            <a:r>
              <a:rPr lang="zh-CN" altLang="en-US" b="0" i="0" dirty="0">
                <a:effectLst/>
                <a:latin typeface="-apple-system"/>
              </a:rPr>
              <a:t>：编译期类型检查</a:t>
            </a:r>
          </a:p>
          <a:p>
            <a:pPr algn="l"/>
            <a:r>
              <a:rPr lang="zh-CN" altLang="en-US" b="0" i="0" dirty="0">
                <a:effectLst/>
                <a:latin typeface="-apple-system"/>
              </a:rPr>
              <a:t>✅ </a:t>
            </a:r>
            <a:r>
              <a:rPr lang="zh-CN" altLang="en-US" b="1" i="0" dirty="0">
                <a:effectLst/>
                <a:latin typeface="-apple-system"/>
              </a:rPr>
              <a:t>内存安全</a:t>
            </a:r>
            <a:r>
              <a:rPr lang="zh-CN" altLang="en-US" b="0" i="0" dirty="0">
                <a:effectLst/>
                <a:latin typeface="-apple-system"/>
              </a:rPr>
              <a:t>：</a:t>
            </a:r>
            <a:r>
              <a:rPr lang="en-US" altLang="zh-CN" b="0" i="0" dirty="0">
                <a:effectLst/>
                <a:latin typeface="-apple-system"/>
              </a:rPr>
              <a:t>RAII </a:t>
            </a:r>
            <a:r>
              <a:rPr lang="zh-CN" altLang="en-US" b="0" i="0" dirty="0">
                <a:effectLst/>
                <a:latin typeface="-apple-system"/>
              </a:rPr>
              <a:t>原则，自动管理生命周期</a:t>
            </a:r>
          </a:p>
        </p:txBody>
      </p:sp>
    </p:spTree>
    <p:extLst>
      <p:ext uri="{BB962C8B-B14F-4D97-AF65-F5344CB8AC3E}">
        <p14:creationId xmlns:p14="http://schemas.microsoft.com/office/powerpoint/2010/main" val="2880163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1368-F63B-7D10-A0FC-88A9C7B3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未来展望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E4DFC-224A-A2E3-1303-9025A0227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从下一课开始，我们将：</a:t>
            </a:r>
          </a:p>
          <a:p>
            <a:r>
              <a:rPr lang="zh-CN" altLang="en-US" dirty="0"/>
              <a:t>创建各种具体的组件（</a:t>
            </a:r>
            <a:r>
              <a:rPr lang="en-US" dirty="0" err="1"/>
              <a:t>SpriteComponent</a:t>
            </a:r>
            <a:r>
              <a:rPr lang="en-US" dirty="0"/>
              <a:t>, </a:t>
            </a:r>
            <a:r>
              <a:rPr lang="en-US" dirty="0" err="1"/>
              <a:t>TransformComponent</a:t>
            </a:r>
            <a:r>
              <a:rPr lang="en-US" dirty="0"/>
              <a:t> </a:t>
            </a:r>
            <a:r>
              <a:rPr lang="zh-CN" altLang="en-US" dirty="0"/>
              <a:t>等）</a:t>
            </a:r>
          </a:p>
          <a:p>
            <a:r>
              <a:rPr lang="zh-CN" altLang="en-US" dirty="0"/>
              <a:t>不再直接创建 </a:t>
            </a:r>
            <a:r>
              <a:rPr lang="en-US" dirty="0"/>
              <a:t>Player </a:t>
            </a:r>
            <a:r>
              <a:rPr lang="zh-CN" altLang="en-US" dirty="0"/>
              <a:t>或 </a:t>
            </a:r>
            <a:r>
              <a:rPr lang="en-US" dirty="0"/>
              <a:t>Enemy </a:t>
            </a:r>
            <a:r>
              <a:rPr lang="zh-CN" altLang="en-US" dirty="0"/>
              <a:t>类</a:t>
            </a:r>
          </a:p>
          <a:p>
            <a:r>
              <a:rPr lang="zh-CN" altLang="en-US" dirty="0"/>
              <a:t>通过创建 </a:t>
            </a:r>
            <a:r>
              <a:rPr lang="en-US" dirty="0" err="1"/>
              <a:t>GameObject</a:t>
            </a:r>
            <a:r>
              <a:rPr lang="en-US" dirty="0"/>
              <a:t> </a:t>
            </a:r>
            <a:r>
              <a:rPr lang="zh-CN" altLang="en-US" dirty="0"/>
              <a:t>并为其装配不同的组件，来 </a:t>
            </a:r>
            <a:r>
              <a:rPr lang="en-US" altLang="zh-CN" b="1" dirty="0"/>
              <a:t>"</a:t>
            </a:r>
            <a:r>
              <a:rPr lang="zh-CN" altLang="en-US" b="1" dirty="0"/>
              <a:t>组装</a:t>
            </a:r>
            <a:r>
              <a:rPr lang="en-US" altLang="zh-CN" b="1" dirty="0"/>
              <a:t>"</a:t>
            </a:r>
            <a:r>
              <a:rPr lang="zh-CN" altLang="en-US" dirty="0"/>
              <a:t> 出我们游戏世界中的万事万物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386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67A95-314E-6CD5-B797-84D178BF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🎮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3F72D-8716-0E48-124F-25B4080EE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我们已经成功地搭建了引擎中 </a:t>
            </a:r>
            <a:r>
              <a:rPr lang="zh-CN" altLang="en-US" b="1" dirty="0"/>
              <a:t>最核心、最强大的系统</a:t>
            </a:r>
            <a:r>
              <a:rPr lang="zh-CN" altLang="en-US" dirty="0"/>
              <a:t>！</a:t>
            </a:r>
          </a:p>
          <a:p>
            <a:pPr marL="0" indent="0">
              <a:buNone/>
            </a:pPr>
            <a:r>
              <a:rPr lang="zh-CN" altLang="en-US" b="1" dirty="0"/>
              <a:t>关键成就：</a:t>
            </a:r>
            <a:endParaRPr lang="zh-CN" altLang="en-US" dirty="0"/>
          </a:p>
          <a:p>
            <a:r>
              <a:rPr lang="zh-CN" altLang="en-US" dirty="0"/>
              <a:t>🏗️ 实现了完整的 </a:t>
            </a:r>
            <a:r>
              <a:rPr lang="en-US" altLang="zh-CN" dirty="0"/>
              <a:t>Component-Based </a:t>
            </a:r>
            <a:r>
              <a:rPr lang="zh-CN" altLang="en-US" dirty="0"/>
              <a:t>架构</a:t>
            </a:r>
          </a:p>
          <a:p>
            <a:r>
              <a:rPr lang="zh-CN" altLang="en-US" dirty="0"/>
              <a:t>🔧 掌握了 </a:t>
            </a:r>
            <a:r>
              <a:rPr lang="en-US" altLang="zh-CN" dirty="0"/>
              <a:t>C++ </a:t>
            </a:r>
            <a:r>
              <a:rPr lang="zh-CN" altLang="en-US" dirty="0"/>
              <a:t>模板元编程技巧</a:t>
            </a:r>
          </a:p>
          <a:p>
            <a:r>
              <a:rPr lang="zh-CN" altLang="en-US" dirty="0"/>
              <a:t>🎯 建立了类型安全的组件管理系统</a:t>
            </a:r>
          </a:p>
          <a:p>
            <a:r>
              <a:rPr lang="zh-CN" altLang="en-US" dirty="0"/>
              <a:t>🚀 为游戏对象的创建奠定了坚实基础</a:t>
            </a:r>
          </a:p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</a:t>
            </a:r>
            <a:r>
              <a:rPr lang="en-US" altLang="zh-CN" dirty="0"/>
              <a:t>"</a:t>
            </a:r>
            <a:r>
              <a:rPr lang="zh-CN" altLang="en-US" dirty="0"/>
              <a:t>组合优于继承</a:t>
            </a:r>
            <a:r>
              <a:rPr lang="en-US" altLang="zh-CN" dirty="0"/>
              <a:t>" </a:t>
            </a:r>
            <a:r>
              <a:rPr lang="zh-CN" altLang="en-US" dirty="0"/>
              <a:t>不仅仅是一句口号，而是构建灵活、可维护游戏引擎的核心原则！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2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1337</Words>
  <Application>Microsoft Office PowerPoint</Application>
  <PresentationFormat>Widescreen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source-code-pro</vt:lpstr>
      <vt:lpstr>Aptos</vt:lpstr>
      <vt:lpstr>Aptos Display</vt:lpstr>
      <vt:lpstr>Arial</vt:lpstr>
      <vt:lpstr>Courier New</vt:lpstr>
      <vt:lpstr>Office Theme</vt:lpstr>
      <vt:lpstr>游戏对象与组件</vt:lpstr>
      <vt:lpstr>📌 问题背景</vt:lpstr>
      <vt:lpstr>⚠️ 传统继承的问题</vt:lpstr>
      <vt:lpstr>1. 核心思想</vt:lpstr>
      <vt:lpstr>PowerPoint Presentation</vt:lpstr>
      <vt:lpstr>💡 如何使用组件</vt:lpstr>
      <vt:lpstr>✨ 组合的力量</vt:lpstr>
      <vt:lpstr>2. 新的项目结构</vt:lpstr>
      <vt:lpstr>3. Component 基类</vt:lpstr>
      <vt:lpstr>关键设计说明</vt:lpstr>
      <vt:lpstr>4. GameObject 类：组件的管理者</vt:lpstr>
      <vt:lpstr>🔍 关键技术解析</vt:lpstr>
      <vt:lpstr>PowerPoint Presentation</vt:lpstr>
      <vt:lpstr>关键技术：</vt:lpstr>
      <vt:lpstr>3. getComponent&lt;T&gt;() &amp; hasComponent&lt;T&gt;()</vt:lpstr>
      <vt:lpstr>game_object.cpp</vt:lpstr>
      <vt:lpstr>5. 集成与测试</vt:lpstr>
      <vt:lpstr>🎯 系统架构总结</vt:lpstr>
      <vt:lpstr>未来展望</vt:lpstr>
      <vt:lpstr>🎮 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2025-11-04T14:57:34Z</dcterms:created>
  <dcterms:modified xsi:type="dcterms:W3CDTF">2025-11-04T15:07:23Z</dcterms:modified>
</cp:coreProperties>
</file>