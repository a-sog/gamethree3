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2D22-B19B-E776-3BA9-624E1181E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EDADB-4AB9-EE54-6E1F-4327C8C7A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AEA6-3043-7AD9-5F16-569EF558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244FB-125A-6413-4090-36676429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0-DCEB-7723-4497-3E7BB1A2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3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E9F7-8F2C-6A98-E700-AD098E9D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5397-831B-EA56-3CA7-D915AA2D0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8C92-A121-6693-80AE-EF95869F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B3F42-E528-4D3C-602E-D9E4E775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BED2-CED5-FEEF-CC49-85096B42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5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2C02-3BC7-FE86-04B8-729D81E1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4D009-5E81-1188-C22A-11B7D7898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184E6-587E-F46F-385A-E9EC7FDF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4B1D4-4185-31F0-4859-7551ADDA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166C1-FCAC-6F0A-B9D8-6D325AA9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E228-2D99-A32D-5A72-6DC7F24D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5CD6-A947-7EAE-8E37-7AB40FEEA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098D1-526D-F2E0-1BCD-44539B02B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9C72F-562B-735F-8104-03BEB494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F2084-EC9D-BE02-3898-9B6EE46F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F654F-D53A-5979-ADDB-D5E3E286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0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ED17-9D94-B727-9E75-6566606A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9C83A-FA1C-568B-5F77-13CBDDC2A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EEDDA-65AA-A668-3595-2EBEFF45D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33A5B-311B-4765-628F-3F0F84233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587C5-CD8C-E547-068A-3F2771B53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FF66A-697E-5F32-B87C-83E2F6A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D0B6F-40A1-E56A-665B-2DC9F338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04C3A9-AD58-9A70-E678-04EF1745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853D-1A38-A08B-CC82-2A01C2D1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634BA-C8AD-1C44-0A2F-321B7056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7382C-0B4F-6F1E-86E2-6CD6A10C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6C23D-9320-CA62-B6CB-B2274A10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0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142CB-572A-4D83-121E-08DA948F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2970B-DA5C-39B1-D96F-72FF8981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A23D3-86EE-8A39-F4DD-AD7260B6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2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5F10-E9BE-ED94-A61C-A727683D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9EDC-C7F5-4A05-2978-79D8CFC5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87B48-414B-67B8-4490-08C749F01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C681B-059A-AD06-96BC-8821B479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8B9E7-96A6-2B4C-B1F4-E4AAA8A9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4BA50-76D0-8561-54E8-6DB39809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3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713C-659B-96BD-7ED6-6BCB475B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F6CEC-5439-71AE-C1B2-C476F82C6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E12EB-E0B4-2D39-B519-A6E8D630E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130E5-C502-4B74-77FE-F0795A14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9B86A-18D3-9E5F-538A-DB6B615D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478B-683D-82A0-04DC-714F9ECF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F878-B2EA-1EB4-6381-B8BB2E8A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AA7DD-0AF8-BCAD-31A9-8E5AC3430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9DE3-8C83-99C5-4862-60EC6D9E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D4D7B-3570-9BCC-7EC5-5C9954AF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E3DD2-4AA5-7563-1F54-0F5466F4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5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3EEBB-E8F6-3F6E-9568-CE9C6560D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80F36-9E67-38E7-C40A-4E2A4D750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54E3-1582-10BE-2E1F-41AB3A2B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63B0-2B00-1674-4F72-CB6CB52C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FC8E4-8576-D20B-5FD3-8A399BA3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3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284C8-17E4-9781-2C66-C905D131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17A6-2FB8-DBCB-355D-8B0AB04FD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72CE6-521B-2803-DAC7-06253BCE1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7AFEF-9068-4E1B-BD04-7FEAA7037FB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8C09-F010-70AE-ED96-63C154C40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CC2DB-8F73-12E2-CCD2-100504632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6B4C8-F042-4FD7-A575-43A21CA4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2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B961-609A-31DC-ABBE-2A1AF67CCC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对象间的碰撞解析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F6F2A-9CCD-5B0E-624A-E2F5E0C24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3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256B-E709-4BE1-3120-C40C9746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D92A-EB6D-E97D-75CC-606A30A1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我们已经成功实现了动态物体与静态瓦片地图的碰撞。然而，一个丰富的游戏世界中充满了各种独立的对象</a:t>
            </a:r>
            <a:r>
              <a:rPr lang="en-US" altLang="zh-CN" dirty="0"/>
              <a:t>——</a:t>
            </a:r>
            <a:r>
              <a:rPr lang="zh-CN" altLang="en-US" dirty="0"/>
              <a:t>敌人、移动平台、可推动的箱子等。本节课，我们将实现这些对象之间的碰撞解析，重点关注动态物体与被标记为 </a:t>
            </a:r>
            <a:r>
              <a:rPr lang="en-US" altLang="zh-CN" b="1" dirty="0"/>
              <a:t>"</a:t>
            </a:r>
            <a:r>
              <a:rPr lang="zh-CN" altLang="en-US" b="1" dirty="0"/>
              <a:t>实体</a:t>
            </a:r>
            <a:r>
              <a:rPr lang="en-US" altLang="zh-CN" b="1" dirty="0"/>
              <a:t>"</a:t>
            </a:r>
            <a:r>
              <a:rPr lang="zh-CN" altLang="en-US" b="1" dirty="0"/>
              <a:t>（</a:t>
            </a:r>
            <a:r>
              <a:rPr lang="en-US" altLang="zh-CN" b="1" dirty="0"/>
              <a:t>Solid</a:t>
            </a:r>
            <a:r>
              <a:rPr lang="zh-CN" altLang="en-US" b="1" dirty="0"/>
              <a:t>）</a:t>
            </a:r>
            <a:r>
              <a:rPr lang="zh-CN" altLang="en-US" dirty="0"/>
              <a:t> 的静态对象（如木箱障碍物）之间的交互。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7C4D-806B-4B3F-6666-955E9FE5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335055-0906-A2BB-682D-470B39BBC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92159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277538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54750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13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理解对象属性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区分地图级属性和图块集级属性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5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增强属性读取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实现通用的属性解析系统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556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MTV </a:t>
                      </a:r>
                      <a:r>
                        <a:rPr lang="zh-CN" altLang="en-US" b="1">
                          <a:effectLst/>
                        </a:rPr>
                        <a:t>算法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实现最小平移向量碰撞解析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77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数据驱动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完全通过 </a:t>
                      </a:r>
                      <a:r>
                        <a:rPr lang="en-US" altLang="zh-CN" dirty="0">
                          <a:effectLst/>
                        </a:rPr>
                        <a:t>Tiled </a:t>
                      </a:r>
                      <a:r>
                        <a:rPr lang="zh-CN" altLang="en-US" dirty="0">
                          <a:effectLst/>
                        </a:rPr>
                        <a:t>配置游戏对象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86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25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A4C3-3EF8-5579-7EB8-E8DB30E8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Tiled </a:t>
            </a:r>
            <a:r>
              <a:rPr lang="zh-CN" altLang="en-US" b="1" dirty="0"/>
              <a:t>中更复杂的对象定义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D081D-842A-2139-7E86-C3444ED91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对象层中的物体，其属性信息可能分散在 </a:t>
            </a:r>
            <a:r>
              <a:rPr lang="zh-CN" altLang="en-US" b="1" dirty="0"/>
              <a:t>两个地方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b="1" dirty="0"/>
              <a:t>📝 </a:t>
            </a:r>
            <a:r>
              <a:rPr lang="zh-CN" altLang="en-US" b="1" dirty="0"/>
              <a:t>属性来源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02D69-8B10-B1CA-DDCE-E54950B93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95108"/>
              </p:ext>
            </p:extLst>
          </p:nvPr>
        </p:nvGraphicFramePr>
        <p:xfrm>
          <a:off x="1017954" y="2972451"/>
          <a:ext cx="8127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871298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933394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07691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文件类型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存储内容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应用场景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509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地图文件（</a:t>
                      </a:r>
                      <a:r>
                        <a:rPr lang="en-US" altLang="zh-CN" b="1">
                          <a:effectLst/>
                        </a:rPr>
                        <a:t>.tmj</a:t>
                      </a:r>
                      <a:r>
                        <a:rPr lang="zh-CN" altLang="en-US" b="1">
                          <a:effectLst/>
                        </a:rPr>
                        <a:t>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位置、大小、旋转</a:t>
                      </a:r>
                      <a:br>
                        <a:rPr lang="zh-CN" altLang="en-US">
                          <a:effectLst/>
                        </a:rPr>
                      </a:br>
                      <a:r>
                        <a:rPr lang="zh-CN" altLang="en-US">
                          <a:effectLst/>
                        </a:rPr>
                        <a:t>针对当前关卡的自定义属性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特定于当前地图的配置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19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图块集文件（</a:t>
                      </a:r>
                      <a:r>
                        <a:rPr lang="en-US" altLang="zh-CN" b="1">
                          <a:effectLst/>
                        </a:rPr>
                        <a:t>.tsj</a:t>
                      </a:r>
                      <a:r>
                        <a:rPr lang="zh-CN" altLang="en-US" b="1">
                          <a:effectLst/>
                        </a:rPr>
                        <a:t>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原型的通用属性</a:t>
                      </a:r>
                      <a:br>
                        <a:rPr lang="zh-CN" alt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如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solid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tag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gravity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跨地图的共享属性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90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1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A773-892A-8B43-5032-0A0DFDAB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设计思想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4E7402-B447-B7EF-2CBF-161103F3C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011" y="1606760"/>
            <a:ext cx="5092962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9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0BBA-15EB-77BB-5230-7DC3CF99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F2125-F74B-2434-75FE-657307C0A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4044462" cy="584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9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97A8C-9800-D902-8C73-FA18F687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特别注意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1CA8-0AC5-528E-30ED-B2B6EB68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对象层物体的信息分散在两个区块中：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77D6FA-B3B0-F03E-AFEF-AA33FF41E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68504"/>
              </p:ext>
            </p:extLst>
          </p:nvPr>
        </p:nvGraphicFramePr>
        <p:xfrm>
          <a:off x="953477" y="2437096"/>
          <a:ext cx="8127999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55385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944167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7252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数据源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存储内容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示例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22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地图 </a:t>
                      </a:r>
                      <a:r>
                        <a:rPr lang="en-US" altLang="zh-CN" b="1">
                          <a:effectLst/>
                        </a:rPr>
                        <a:t>.</a:t>
                      </a:r>
                      <a:r>
                        <a:rPr lang="en-US" b="1">
                          <a:effectLst/>
                        </a:rPr>
                        <a:t>tmj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绘制区域、名字</a:t>
                      </a:r>
                      <a:br>
                        <a:rPr lang="zh-CN" altLang="en-US">
                          <a:effectLst/>
                        </a:rPr>
                      </a:br>
                      <a:r>
                        <a:rPr lang="zh-CN" altLang="en-US">
                          <a:effectLst/>
                        </a:rPr>
                        <a:t>针对当前地图的自定义属性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position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name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可覆盖默认值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95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图块集 </a:t>
                      </a:r>
                      <a:r>
                        <a:rPr lang="en-US" altLang="zh-CN" b="1">
                          <a:effectLst/>
                        </a:rPr>
                        <a:t>.tsj</a:t>
                      </a:r>
                      <a:br>
                        <a:rPr lang="zh-CN" altLang="en-US">
                          <a:effectLst/>
                        </a:rPr>
                      </a:br>
                      <a:r>
                        <a:rPr lang="zh-CN" altLang="en-US">
                          <a:effectLst/>
                        </a:rPr>
                        <a:t>（</a:t>
                      </a:r>
                      <a:r>
                        <a:rPr lang="en-US" altLang="zh-CN">
                          <a:effectLst/>
                        </a:rPr>
                        <a:t>gid </a:t>
                      </a:r>
                      <a:r>
                        <a:rPr lang="zh-CN" altLang="en-US">
                          <a:effectLst/>
                        </a:rPr>
                        <a:t>对应）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源图片信息</a:t>
                      </a:r>
                      <a:br>
                        <a:rPr lang="zh-CN" altLang="en-US">
                          <a:effectLst/>
                        </a:rPr>
                      </a:br>
                      <a:r>
                        <a:rPr lang="zh-CN" altLang="en-US">
                          <a:effectLst/>
                        </a:rPr>
                        <a:t>任何地图都会有的属性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solid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tag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gravity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碰撞盒定义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781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40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A266-689F-18AE-80DC-93FEDB3C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增强 </a:t>
            </a:r>
            <a:r>
              <a:rPr lang="en-US" b="1" dirty="0" err="1"/>
              <a:t>LevelLoader</a:t>
            </a:r>
            <a:r>
              <a:rPr lang="en-US" b="1" dirty="0"/>
              <a:t> </a:t>
            </a:r>
            <a:r>
              <a:rPr lang="zh-CN" altLang="en-US" b="1" dirty="0"/>
              <a:t>以读取更丰富的属性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B287D-066B-7588-A57F-5505D3DE9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为了实现更复杂的数据驱动，我们需要让 </a:t>
            </a:r>
            <a:r>
              <a:rPr lang="en-US" altLang="zh-CN" dirty="0" err="1"/>
              <a:t>LevelLoader</a:t>
            </a:r>
            <a:r>
              <a:rPr lang="zh-CN" altLang="en-US" dirty="0"/>
              <a:t> 能够解析出我们在 </a:t>
            </a:r>
            <a:r>
              <a:rPr lang="en-US" altLang="zh-CN" dirty="0"/>
              <a:t>Tiled </a:t>
            </a:r>
            <a:r>
              <a:rPr lang="zh-CN" altLang="en-US" dirty="0"/>
              <a:t>中为对象原型定义的各种自定义属性，如 </a:t>
            </a:r>
            <a:r>
              <a:rPr lang="en-US" altLang="zh-CN" dirty="0"/>
              <a:t>tag</a:t>
            </a:r>
            <a:r>
              <a:rPr lang="zh-CN" altLang="en-US" dirty="0"/>
              <a:t>、</a:t>
            </a:r>
            <a:r>
              <a:rPr lang="en-US" altLang="zh-CN" dirty="0"/>
              <a:t>gravity</a:t>
            </a:r>
            <a:r>
              <a:rPr lang="zh-CN" altLang="en-US" dirty="0"/>
              <a:t>，以及自定义的碰撞盒。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13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D6BB0-9E50-BBB4-4AD8-C8EE10CC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设计思路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0F0903-4833-3E91-8BEC-35505E145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356152"/>
              </p:ext>
            </p:extLst>
          </p:nvPr>
        </p:nvGraphicFramePr>
        <p:xfrm>
          <a:off x="838200" y="1538410"/>
          <a:ext cx="1051559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593886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725633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503169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实现方式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113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通用属性读取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模板函数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getTileProperty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&lt;T&gt;()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读取任意类型的自定义属性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548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碰撞盒解析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getColliderRect()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解析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碰撞编辑器中绘制的矩形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7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完整瓦片数据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getTileJsonByGid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获取瓦片的完整 </a:t>
                      </a:r>
                      <a:r>
                        <a:rPr lang="en-US" altLang="zh-CN" dirty="0">
                          <a:effectLst/>
                        </a:rPr>
                        <a:t>JSON </a:t>
                      </a:r>
                      <a:r>
                        <a:rPr lang="zh-CN" altLang="en-US" dirty="0">
                          <a:effectLst/>
                        </a:rPr>
                        <a:t>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2107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C497BD-BC0C-A869-CB42-1F53B6B7C56F}"/>
              </a:ext>
            </a:extLst>
          </p:cNvPr>
          <p:cNvSpPr txBox="1"/>
          <p:nvPr/>
        </p:nvSpPr>
        <p:spPr>
          <a:xfrm>
            <a:off x="838200" y="35198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-apple-system"/>
              </a:rPr>
              <a:t>engine/scene/</a:t>
            </a:r>
            <a:r>
              <a:rPr lang="en-US" b="1" i="0" dirty="0" err="1">
                <a:effectLst/>
                <a:latin typeface="-apple-system"/>
              </a:rPr>
              <a:t>level_loader.h（更新</a:t>
            </a:r>
            <a:r>
              <a:rPr lang="en-US" b="1" i="0" dirty="0">
                <a:effectLst/>
                <a:latin typeface="-apple-system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84557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594F-88B5-75B5-20DB-F3FFDD31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模板函数的优势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606C58-D96E-BD67-E64D-81E32F1BD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426233"/>
              </p:ext>
            </p:extLst>
          </p:nvPr>
        </p:nvGraphicFramePr>
        <p:xfrm>
          <a:off x="838200" y="1825625"/>
          <a:ext cx="1051559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362602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494431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2669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示例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97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类型安全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编译期类型检查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getTileProperty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&lt;bool&gt;(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json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, "solid")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29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代码复用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一个函数处理所有类型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string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int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float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bool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67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可选返回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std::optional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属性不存在时返回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nullopt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15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9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7B56-3533-85EE-35D2-D686F63D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实现数据驱动的对象加载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0B14-B99B-AF08-5CA2-A6B58ABD3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现在，</a:t>
            </a:r>
            <a:r>
              <a:rPr lang="en-US" altLang="zh-CN" dirty="0" err="1"/>
              <a:t>loadObjectLayer</a:t>
            </a:r>
            <a:r>
              <a:rPr lang="zh-CN" altLang="en-US" dirty="0"/>
              <a:t> 的逻辑将变得非常强大。它会根据从 </a:t>
            </a:r>
            <a:r>
              <a:rPr lang="en-US" altLang="zh-CN" dirty="0"/>
              <a:t>Tiled </a:t>
            </a:r>
            <a:r>
              <a:rPr lang="zh-CN" altLang="en-US" dirty="0"/>
              <a:t>读取的属性，动态地为 </a:t>
            </a:r>
            <a:r>
              <a:rPr lang="en-US" altLang="zh-CN" dirty="0" err="1"/>
              <a:t>GameObject</a:t>
            </a:r>
            <a:r>
              <a:rPr lang="zh-CN" altLang="en-US" dirty="0"/>
              <a:t> 添加和配置组件。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engine/scene/</a:t>
            </a:r>
            <a:r>
              <a:rPr lang="en-US" b="1" dirty="0" err="1"/>
              <a:t>level_loader.cpp（更新</a:t>
            </a:r>
            <a:r>
              <a:rPr lang="en-US" b="1" dirty="0"/>
              <a:t>）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3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283E-3EF1-367C-B4AA-51837C40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929D3-02BE-0135-40CF-86E92EBE6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124200" cy="689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16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80DA-0C58-1B0D-62A0-D3AD6DC2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属性应用优先级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68A19E-844E-76F9-6598-CB1FB6D35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534687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9523073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519627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65370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优先级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来源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8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地图文件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可以覆盖图块集中的默认值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7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低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图块集文件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提供默认配置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045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7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3732-1059-F65D-B191-09D74EF1CE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核心算法：最小平移向量（</a:t>
            </a:r>
            <a:r>
              <a:rPr lang="en-US" b="1" dirty="0"/>
              <a:t>MTV）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1B8A365-1214-C23B-4D11-23D907B52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当两个动态（或一个动态一个静态）物体碰撞时，我们需要一种方法将它们分开。与瓦片碰撞不同，我们不能简单地将物体</a:t>
            </a:r>
            <a:r>
              <a:rPr lang="en-US" altLang="zh-CN" dirty="0"/>
              <a:t>"</a:t>
            </a:r>
            <a:r>
              <a:rPr lang="zh-CN" altLang="en-US" dirty="0"/>
              <a:t>贴</a:t>
            </a:r>
            <a:r>
              <a:rPr lang="en-US" altLang="zh-CN" dirty="0"/>
              <a:t>"</a:t>
            </a:r>
            <a:r>
              <a:rPr lang="zh-CN" altLang="en-US" dirty="0"/>
              <a:t>到网格线上。这里我们采用一种经典的方法</a:t>
            </a:r>
            <a:r>
              <a:rPr lang="en-US" altLang="zh-CN" dirty="0"/>
              <a:t>——</a:t>
            </a:r>
            <a:r>
              <a:rPr lang="zh-CN" altLang="en-US" b="1" dirty="0"/>
              <a:t>最小平移向量（</a:t>
            </a:r>
            <a:r>
              <a:rPr lang="en-US" altLang="zh-CN" b="1" dirty="0"/>
              <a:t>Minimum Translation Vector, MTV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9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493A-48DB-C9C2-049E-6A77D2B5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核心思想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0E493-F6B5-4158-A87C-E8097568D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045" y="1558182"/>
            <a:ext cx="5188217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2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2CFE-D40B-690B-75C1-C81B762B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算法步骤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620E45-0D3A-C22A-C926-CF20F7A84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355800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947517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5557522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5971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67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计算中心点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center = position + size / 2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获取两个 </a:t>
                      </a:r>
                      <a:r>
                        <a:rPr lang="en-US" altLang="zh-CN">
                          <a:effectLst/>
                        </a:rPr>
                        <a:t>AABB </a:t>
                      </a:r>
                      <a:r>
                        <a:rPr lang="zh-CN" altLang="en-US">
                          <a:effectLst/>
                        </a:rPr>
                        <a:t>的中心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32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计算重叠量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X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和 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Y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轴分别计算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每个轴的重叠距离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9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选择最小轴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overlap.x &lt; overlap.y ?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沿重叠更小的轴推开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确定方向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比较中心点位置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根据相对位置决定推开方向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24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5. </a:t>
                      </a:r>
                      <a:r>
                        <a:rPr lang="zh-CN" altLang="en-US" b="1">
                          <a:effectLst/>
                        </a:rPr>
                        <a:t>应用平移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translate(mtv)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移动物体到刚好接触的位置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31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6. </a:t>
                      </a:r>
                      <a:r>
                        <a:rPr lang="zh-CN" altLang="en-US" b="1">
                          <a:effectLst/>
                        </a:rPr>
                        <a:t>清零速度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velocity = 0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阻止继续向碰撞方向移动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2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894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7B5C-8B04-15AA-F39A-DA102C67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为什么选择最小轴？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489246-0D2A-419B-35ED-F1AD4CBF5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808914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5060240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20180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33213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效果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865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沿两个轴都推开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物体跳跃式移动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不自然，可能卡顿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77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沿重叠最小的轴推开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物体滑动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自然的碰撞响应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17666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5A14D4-D00D-890E-9F22-98089D4C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145"/>
            <a:ext cx="2876698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32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6360-1332-7B25-AD73-D094CE2C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实现对象间碰撞解析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6F7DE-0230-D8F9-E6A0-DA5E836F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engine/physics/physics_engine.cpp（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93EA8-02DB-F446-EC9B-B2309E030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2461"/>
            <a:ext cx="3911801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88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7FE4-4A45-0FD9-BA55-089F22EB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重要修正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51810-B768-E733-15D0-972432EB9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854" y="1514954"/>
            <a:ext cx="7055213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68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1A1E-7AB1-4DAD-4DBA-DC8E6C71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场景设置与测试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8160-36F6-6DD6-E73B-774819BE8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040"/>
            <a:ext cx="10515600" cy="4351338"/>
          </a:xfrm>
        </p:spPr>
        <p:txBody>
          <a:bodyPr/>
          <a:lstStyle/>
          <a:p>
            <a:r>
              <a:rPr lang="zh-CN" altLang="en-US" b="1" dirty="0"/>
              <a:t>在 </a:t>
            </a:r>
            <a:r>
              <a:rPr lang="en-US" b="1" dirty="0"/>
              <a:t>Tiled </a:t>
            </a:r>
            <a:r>
              <a:rPr lang="zh-CN" altLang="en-US" b="1" dirty="0"/>
              <a:t>中配置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90D4FF-73C0-5F6F-DA80-A09238A01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669959"/>
              </p:ext>
            </p:extLst>
          </p:nvPr>
        </p:nvGraphicFramePr>
        <p:xfrm>
          <a:off x="1137138" y="2542604"/>
          <a:ext cx="8126046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380">
                  <a:extLst>
                    <a:ext uri="{9D8B030D-6E8A-4147-A177-3AD203B41FA5}">
                      <a16:colId xmlns:a16="http://schemas.microsoft.com/office/drawing/2014/main" val="28030678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179513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6267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配置项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0566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effectLst/>
                        </a:rPr>
                        <a:t>玩家原型</a:t>
                      </a:r>
                      <a:endParaRPr lang="zh-CN" alt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打开图块集 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.tsj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 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添加自定义属性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34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→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tag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类型：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string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值：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"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player"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标记为玩家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00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→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gravity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类型：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bool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值：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true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受重力影响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193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→ 碰撞盒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使用碰撞编辑器绘制矩形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精确的碰撞区域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66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</a:rPr>
                        <a:t>木箱原型</a:t>
                      </a:r>
                      <a:endParaRPr lang="zh-CN" alt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选择木箱瓦片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配置障碍物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99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→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solid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类型：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bool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，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值：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标记为实体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8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</a:rPr>
                        <a:t>放置对象</a:t>
                      </a:r>
                      <a:endParaRPr lang="zh-CN" alt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在对象层中拖拽实例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创建游戏对象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81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271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95BD-8FBD-6DE7-B469-62BD97C9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7. </a:t>
            </a:r>
            <a:r>
              <a:rPr lang="zh-CN" altLang="en-US" b="1" dirty="0"/>
              <a:t>代码清理与重构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9FA9F-CD6D-A00E-CA7F-BD8B779D6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A278EB-F7F8-3A88-9B60-80376729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372842"/>
              </p:ext>
            </p:extLst>
          </p:nvPr>
        </p:nvGraphicFramePr>
        <p:xfrm>
          <a:off x="1029677" y="2384343"/>
          <a:ext cx="8128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626233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85695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35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✅ 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effectLst/>
                        </a:rPr>
                        <a:t>删除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createTestObject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不再手动创建测试对象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8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✅ 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effectLst/>
                        </a:rPr>
                        <a:t>修改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init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通过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findGameObjectByName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("player")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获取玩家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3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✅ 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</a:rPr>
                        <a:t>重命名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TestObject()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→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TestPlayer()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更准确的命名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976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✅ 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effectLst/>
                        </a:rPr>
                        <a:t>数据驱动</a:t>
                      </a:r>
                      <a:endParaRPr lang="zh-CN" alt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所有对象从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ffectLst/>
                        </a:rPr>
                        <a:t>Tiled 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地图加载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971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39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EC7A-B1DD-676D-5985-B6DA75FD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66FE-88B6-CF2F-B391-3E66547FA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核心成就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属性系统</a:t>
            </a:r>
            <a:r>
              <a:rPr lang="zh-CN" altLang="en-US" dirty="0"/>
              <a:t>：区分地图级和图块集级属性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通用解析</a:t>
            </a:r>
            <a:r>
              <a:rPr lang="zh-CN" altLang="en-US" dirty="0"/>
              <a:t>：模板函数读取任意类型属性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数据驱动</a:t>
            </a:r>
            <a:r>
              <a:rPr lang="zh-CN" altLang="en-US" dirty="0"/>
              <a:t>：完全由 </a:t>
            </a:r>
            <a:r>
              <a:rPr lang="en-US" altLang="zh-CN" dirty="0"/>
              <a:t>Tiled </a:t>
            </a:r>
            <a:r>
              <a:rPr lang="zh-CN" altLang="en-US" dirty="0"/>
              <a:t>配置游戏对象</a:t>
            </a:r>
          </a:p>
          <a:p>
            <a:r>
              <a:rPr lang="zh-CN" altLang="en-US" dirty="0"/>
              <a:t>✅ </a:t>
            </a:r>
            <a:r>
              <a:rPr lang="en-US" altLang="zh-CN" b="1" dirty="0"/>
              <a:t>MTV </a:t>
            </a:r>
            <a:r>
              <a:rPr lang="zh-CN" altLang="en-US" b="1" dirty="0"/>
              <a:t>算法</a:t>
            </a:r>
            <a:r>
              <a:rPr lang="zh-CN" altLang="en-US" dirty="0"/>
              <a:t>：优雅的对象间碰撞解析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智能分类</a:t>
            </a:r>
            <a:r>
              <a:rPr lang="zh-CN" altLang="en-US" dirty="0"/>
              <a:t>：根据标签自动分派碰撞处理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无缝集成</a:t>
            </a:r>
            <a:r>
              <a:rPr lang="zh-CN" altLang="en-US" dirty="0"/>
              <a:t>：瓦片碰撞 </a:t>
            </a:r>
            <a:r>
              <a:rPr lang="en-US" altLang="zh-CN" dirty="0"/>
              <a:t>+ </a:t>
            </a:r>
            <a:r>
              <a:rPr lang="zh-CN" altLang="en-US" dirty="0"/>
              <a:t>对象碰撞统一管理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0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5E88-E71F-8631-0C94-FC32A00F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MTV vs </a:t>
            </a:r>
            <a:r>
              <a:rPr lang="zh-CN" altLang="en-US" b="1" dirty="0"/>
              <a:t>轴分离对比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BF4ED3-00D1-F9B0-597B-CD19780371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29990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874986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448655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86346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瓦片碰撞（轴分离）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对象碰撞（</a:t>
                      </a:r>
                      <a:r>
                        <a:rPr lang="en-US" altLang="zh-CN" b="1">
                          <a:effectLst/>
                        </a:rPr>
                        <a:t>MTV</a:t>
                      </a:r>
                      <a:r>
                        <a:rPr lang="zh-CN" altLang="en-US" b="1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11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适用场景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动态物体 </a:t>
                      </a:r>
                      <a:r>
                        <a:rPr lang="en-US" altLang="zh-CN">
                          <a:effectLst/>
                        </a:rPr>
                        <a:t>vs </a:t>
                      </a:r>
                      <a:r>
                        <a:rPr lang="zh-CN" altLang="en-US">
                          <a:effectLst/>
                        </a:rPr>
                        <a:t>静态网格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动态物体 </a:t>
                      </a:r>
                      <a:r>
                        <a:rPr lang="en-US" altLang="zh-CN">
                          <a:effectLst/>
                        </a:rPr>
                        <a:t>vs </a:t>
                      </a:r>
                      <a:r>
                        <a:rPr lang="zh-CN" altLang="en-US">
                          <a:effectLst/>
                        </a:rPr>
                        <a:t>任意对象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74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检测方式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预测位置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分轴检测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重叠检测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最小平移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89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效率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O(1) - </a:t>
                      </a:r>
                      <a:r>
                        <a:rPr lang="zh-CN" altLang="en-US">
                          <a:effectLst/>
                        </a:rPr>
                        <a:t>极快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O(n²) - </a:t>
                      </a:r>
                      <a:r>
                        <a:rPr lang="zh-CN" altLang="en-US">
                          <a:effectLst/>
                        </a:rPr>
                        <a:t>适用于少量对象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93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效果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精确对齐网格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自然的滑动效果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341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38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6CD3-0764-0F2E-810C-29A7D7B4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00E10-61CA-3CC8-EB61-0E705EF2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8"/>
            <a:ext cx="10515600" cy="52460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我们已经实现了对象间的碰撞解析！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🏷️ 理解对象属性的二级结构（地图 </a:t>
            </a:r>
            <a:r>
              <a:rPr lang="en-US" altLang="zh-CN" dirty="0"/>
              <a:t>+ </a:t>
            </a:r>
            <a:r>
              <a:rPr lang="zh-CN" altLang="en-US" dirty="0"/>
              <a:t>图块集）</a:t>
            </a:r>
          </a:p>
          <a:p>
            <a:pPr marL="0" indent="0">
              <a:buNone/>
            </a:pPr>
            <a:r>
              <a:rPr lang="zh-CN" altLang="en-US" dirty="0"/>
              <a:t>📖 实现通用的属性解析系统</a:t>
            </a:r>
          </a:p>
          <a:p>
            <a:pPr marL="0" indent="0">
              <a:buNone/>
            </a:pPr>
            <a:r>
              <a:rPr lang="zh-CN" altLang="en-US" dirty="0"/>
              <a:t>🧩 数据驱动的组件自动配置</a:t>
            </a:r>
          </a:p>
          <a:p>
            <a:pPr marL="0" indent="0">
              <a:buNone/>
            </a:pPr>
            <a:r>
              <a:rPr lang="zh-CN" altLang="en-US" dirty="0"/>
              <a:t>🎯 </a:t>
            </a:r>
            <a:r>
              <a:rPr lang="en-US" altLang="zh-CN" dirty="0"/>
              <a:t>MTV </a:t>
            </a:r>
            <a:r>
              <a:rPr lang="zh-CN" altLang="en-US" dirty="0"/>
              <a:t>算法优雅解决对象碰撞</a:t>
            </a:r>
          </a:p>
          <a:p>
            <a:pPr marL="0" indent="0">
              <a:buNone/>
            </a:pPr>
            <a:r>
              <a:rPr lang="zh-CN" altLang="en-US" dirty="0"/>
              <a:t>🏗️ 智能的碰撞分类机制</a:t>
            </a:r>
          </a:p>
          <a:p>
            <a:pPr marL="0" indent="0">
              <a:buNone/>
            </a:pPr>
            <a:r>
              <a:rPr lang="zh-CN" altLang="en-US" dirty="0"/>
              <a:t>⚡ 完全由 </a:t>
            </a:r>
            <a:r>
              <a:rPr lang="en-US" altLang="zh-CN" dirty="0"/>
              <a:t>Tiled </a:t>
            </a:r>
            <a:r>
              <a:rPr lang="zh-CN" altLang="en-US" dirty="0"/>
              <a:t>驱动的场景创建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：通过数据驱动设计，我们将游戏逻辑从代码中分离出来，放入关卡编辑器。设计师可以自由调整对象属性、放置位置，无需修改任何代码。这是现代游戏引擎的核心理念之一！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49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A39C-2466-1A54-42BC-EF1274C8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我们将实现 </a:t>
            </a:r>
            <a:r>
              <a:rPr lang="zh-CN" altLang="en-US" b="1" dirty="0"/>
              <a:t>瓦片层单向平台与斜坡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CCA5-9839-90E9-16E2-97F41F587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🪜 单向平台（可穿过的平台）</a:t>
            </a:r>
          </a:p>
          <a:p>
            <a:pPr marL="0" indent="0">
              <a:buNone/>
            </a:pPr>
            <a:r>
              <a:rPr lang="zh-CN" altLang="en-US" dirty="0"/>
              <a:t>⛰️ 斜坡地形</a:t>
            </a:r>
          </a:p>
          <a:p>
            <a:pPr marL="0" indent="0">
              <a:buNone/>
            </a:pPr>
            <a:r>
              <a:rPr lang="zh-CN" altLang="en-US" dirty="0"/>
              <a:t>🎮 自然的斜坡移动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5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1174</Words>
  <Application>Microsoft Office PowerPoint</Application>
  <PresentationFormat>Widescreen</PresentationFormat>
  <Paragraphs>195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-apple-system</vt:lpstr>
      <vt:lpstr>source-code-pro</vt:lpstr>
      <vt:lpstr>Aptos</vt:lpstr>
      <vt:lpstr>Aptos Display</vt:lpstr>
      <vt:lpstr>Arial</vt:lpstr>
      <vt:lpstr>Office Theme</vt:lpstr>
      <vt:lpstr>对象间的碰撞解析</vt:lpstr>
      <vt:lpstr>📌 问题背景</vt:lpstr>
      <vt:lpstr>🎯 本课目标</vt:lpstr>
      <vt:lpstr>1. Tiled 中更复杂的对象定义</vt:lpstr>
      <vt:lpstr>💡 设计思想</vt:lpstr>
      <vt:lpstr>PowerPoint Presentation</vt:lpstr>
      <vt:lpstr>⚠️ 特别注意</vt:lpstr>
      <vt:lpstr>2. 增强 LevelLoader 以读取更丰富的属性</vt:lpstr>
      <vt:lpstr>设计思路</vt:lpstr>
      <vt:lpstr>模板函数的优势</vt:lpstr>
      <vt:lpstr>3. 实现数据驱动的对象加载</vt:lpstr>
      <vt:lpstr>PowerPoint Presentation</vt:lpstr>
      <vt:lpstr>属性应用优先级</vt:lpstr>
      <vt:lpstr>4. 核心算法：最小平移向量（MTV）</vt:lpstr>
      <vt:lpstr>💡 核心思想</vt:lpstr>
      <vt:lpstr>算法步骤</vt:lpstr>
      <vt:lpstr>为什么选择最小轴？</vt:lpstr>
      <vt:lpstr>5. 实现对象间碰撞解析</vt:lpstr>
      <vt:lpstr>重要修正</vt:lpstr>
      <vt:lpstr>6. 场景设置与测试</vt:lpstr>
      <vt:lpstr>7. 代码清理与重构</vt:lpstr>
      <vt:lpstr>🎯 系统架构总结</vt:lpstr>
      <vt:lpstr>MTV vs 轴分离对比</vt:lpstr>
      <vt:lpstr>📚 总结</vt:lpstr>
      <vt:lpstr>我们将实现 瓦片层单向平台与斜坡：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2</cp:revision>
  <dcterms:created xsi:type="dcterms:W3CDTF">2025-11-13T21:17:24Z</dcterms:created>
  <dcterms:modified xsi:type="dcterms:W3CDTF">2025-11-13T21:29:01Z</dcterms:modified>
</cp:coreProperties>
</file>