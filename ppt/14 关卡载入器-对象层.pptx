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2A1A9-DCFF-EBDB-C668-EEEBDF380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0C1A6-70C7-C69B-6B56-40F3F171F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FDB7B-CA29-8A3B-E4A3-4DB4A6E1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1FB8-140B-D9F3-B0B4-394FE9C85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4722B-EC65-A68B-1F25-EC51099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0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FF1C-30BE-B46A-2853-7D149209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A53F-7C81-A389-017E-A6672002C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A8F2-0406-ECAF-A553-058421E2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B1BFD-FEC6-ECA2-4708-D051F2AB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815A-DCCE-7D86-DD93-B09E8E28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7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CC53-0921-7DB7-2CEE-382D908C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8C8F4-CDB0-3C4B-2E11-FA994F5FF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DB4E-959E-6BCA-A9C5-E38BF81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4D5C-0908-9439-7C37-DC9BAFD8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8845-27C2-A19E-8758-B95C517E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1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18C1C-89E7-0C8A-CDC1-008A515C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A1CBD-91FC-5DDA-C813-36701F6A9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E2CFC-5E03-03AA-0D04-971D0E8A3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E1F9E-BC94-70CA-476D-FC4D3EEA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E6649-E94A-2C56-4DDC-8C410451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0BADE-FFE7-8BF3-2E81-EDC082D5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8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204C-5D24-44D1-D85C-8B593B42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1D389-8810-77FD-5E4E-D58C5964B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ADA23-C94A-D65E-0992-345F0C199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12ADD-DC70-6D60-385D-23923B4B4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A720E-DDC1-0132-A0F4-6F8B2CC24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9A162-AF92-54CE-5D9B-3EF79BBB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A1D18-D7C6-4FE1-23D7-BB7461AF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C5D9E-9786-EA7C-56EB-B033FA44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1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25F0-1EE6-82A9-E5E4-95D58FED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CBFF2-1A64-F0F1-67AA-0D13FA8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F3D64-28A5-DDEE-2F73-EA01583D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B2B19-75EC-C6C6-B01C-D68DDFF0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9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17965-72B9-8013-3F30-9198384B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38C29-8E27-438B-E557-E655D191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7D643-F10D-9EEF-BD3F-60F11FB4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3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98F3-45AF-6901-6201-A2D8998F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9CB7-EE9A-E341-5A09-30A181C8E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96E5A-2EB0-AE5D-C9DD-906B74B7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915C4-E473-7D23-0324-9EA6DAF0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21BF4-41F5-9CCF-36D3-B9D2FBFE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B3A20-CCA3-5B2C-B77D-4993F4E8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7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DFA0-DA60-1914-7EE7-AFF8D4D6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64B19-F3B9-C99E-4AD2-0E60CB6F4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157CB-FCDF-3197-098F-C2BC67DF2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53E44-A04F-09CF-EA07-39343DF1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844DA-8BDC-933A-75C5-CC22789D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E8AB5-1E2D-CC70-B4C1-375A455B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4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C724-18AE-1E48-FD03-8D3300DA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EED12-5346-4A2D-209A-0EAFCCF01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810D3-8466-A5E0-6D57-47F5B27E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B1BAA-45E0-1BFE-49FE-0BE77FB1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7FFFA-99F6-7664-1CC1-4E954D0A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0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8A7ED-4383-1FE8-45EE-241FACDA9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47666-3B3F-1B07-1024-ED3D4959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09577-2062-0D9E-CAF1-4AB34566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E3246-CCE8-BAB2-2AE7-C638CC67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0DD5F-9D69-676F-0306-7C6B9D44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3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91969-34B3-2274-EC2F-6CBF360F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B16EB-7593-ECE5-3422-73D0525B5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E9092-4CBD-E370-67D0-120B8CEC2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9BB3F-252E-4471-9FD9-41DF4B887D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A00A-C70B-25F2-622D-04EC5F0C9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4E6A6-0B17-411A-0E40-99CE03075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F40CC-78A5-45D7-86A9-10596271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8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EB25-0F99-8D3C-8A4B-C85856FBD9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关卡载入器</a:t>
            </a:r>
            <a:r>
              <a:rPr lang="en-US" altLang="zh-CN" b="1" dirty="0"/>
              <a:t>-</a:t>
            </a:r>
            <a:r>
              <a:rPr lang="zh-CN" altLang="en-US" b="1" dirty="0"/>
              <a:t>对象层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E4954-06DC-B96C-A394-4772A16A91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55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DE14-B73D-142F-FD3D-F03B7EC5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D43F-3AFC-A64F-9E74-7C6488073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我们已经成功加载了构成静态世界的图片层和瓦片层。现在，是时候将 </a:t>
            </a:r>
            <a:r>
              <a:rPr lang="zh-CN" altLang="en-US" b="1" dirty="0"/>
              <a:t>动态的生命</a:t>
            </a:r>
            <a:r>
              <a:rPr lang="zh-CN" altLang="en-US" dirty="0"/>
              <a:t> 注入我们的关卡了。本节课，我们将完成 </a:t>
            </a:r>
            <a:r>
              <a:rPr lang="en-US" altLang="zh-CN" dirty="0" err="1"/>
              <a:t>LevelLoader</a:t>
            </a:r>
            <a:r>
              <a:rPr lang="zh-CN" altLang="en-US" dirty="0"/>
              <a:t> 的最后一部分功能：解析并加载 </a:t>
            </a:r>
            <a:r>
              <a:rPr lang="zh-CN" altLang="en-US" b="1" dirty="0"/>
              <a:t>对象层（</a:t>
            </a:r>
            <a:r>
              <a:rPr lang="en-US" altLang="zh-CN" b="1" dirty="0"/>
              <a:t>Object Layer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79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9467-E90A-03B3-0EF1-A4AA9009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对象层的作用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976BB-CA31-EE0E-0A86-E6B99D08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对象层在 </a:t>
            </a:r>
            <a:r>
              <a:rPr lang="en-US" altLang="zh-CN" dirty="0"/>
              <a:t>Tiled </a:t>
            </a:r>
            <a:r>
              <a:rPr lang="zh-CN" altLang="en-US" dirty="0"/>
              <a:t>中用于放置独立的、</a:t>
            </a:r>
            <a:r>
              <a:rPr lang="zh-CN" altLang="en-US" b="1" dirty="0"/>
              <a:t>非网格对齐</a:t>
            </a:r>
            <a:r>
              <a:rPr lang="zh-CN" altLang="en-US" dirty="0"/>
              <a:t>的实体，例如：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20A18-5EA6-39C1-F414-6D8C0BC82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069885"/>
              </p:ext>
            </p:extLst>
          </p:nvPr>
        </p:nvGraphicFramePr>
        <p:xfrm>
          <a:off x="1006230" y="2460543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394798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829301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75728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对象类型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示例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78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玩家出生点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定义玩家开始位置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PlayerSpawn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338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敌人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各种敌对生物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Enemy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Boss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81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可收集物品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道具和奖励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Coin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Health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PowerUp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319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触发区域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不可见的交互区域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Checkpoint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Dialog Trigger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37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装饰对象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非瓦片的装饰物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Sign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Crate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Plant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39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52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A6E4-7E73-A5E5-3D39-9EB53A42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对象层 </a:t>
            </a:r>
            <a:r>
              <a:rPr lang="en-US" altLang="zh-CN" b="1" dirty="0"/>
              <a:t>vs </a:t>
            </a:r>
            <a:r>
              <a:rPr lang="zh-CN" altLang="en-US" b="1" dirty="0"/>
              <a:t>瓦片层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E9158C-2D06-D683-7484-D9033CA53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123439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3671719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961414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3303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瓦片层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对象层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704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对齐方式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严格网格对齐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自由位置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83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数据结构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二维数组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对象列表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53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用途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地形、平台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实体、触发器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998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GameObject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一个 </a:t>
                      </a:r>
                      <a:r>
                        <a:rPr lang="en-US" altLang="zh-CN">
                          <a:effectLst/>
                        </a:rPr>
                        <a:t>GameObject</a:t>
                      </a:r>
                      <a:r>
                        <a:rPr lang="zh-CN" altLang="en-US">
                          <a:effectLst/>
                        </a:rPr>
                        <a:t>（整个图层）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每个对象一个 </a:t>
                      </a:r>
                      <a:r>
                        <a:rPr lang="en-US" dirty="0" err="1">
                          <a:effectLst/>
                        </a:rPr>
                        <a:t>GameObject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31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13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1E78-1BF5-3FAA-FE6B-9D568FA4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Tiled </a:t>
            </a:r>
            <a:r>
              <a:rPr lang="zh-CN" altLang="en-US" b="1" dirty="0"/>
              <a:t>对象层解析思路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4B240-D9C2-1667-B967-83A6409CD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对象层在 </a:t>
            </a:r>
            <a:r>
              <a:rPr lang="en-US" altLang="zh-CN" dirty="0"/>
              <a:t>JSON </a:t>
            </a:r>
            <a:r>
              <a:rPr lang="zh-CN" altLang="en-US" dirty="0"/>
              <a:t>中的结构与前两者不同，它包含一个 </a:t>
            </a:r>
            <a:r>
              <a:rPr lang="en-US" altLang="zh-CN" b="1" dirty="0"/>
              <a:t>objects</a:t>
            </a:r>
            <a:r>
              <a:rPr lang="zh-CN" altLang="en-US" b="1" dirty="0"/>
              <a:t> 数组</a:t>
            </a:r>
            <a:r>
              <a:rPr lang="zh-CN" altLang="en-US" dirty="0"/>
              <a:t>，每个元素都是一个独立的对象。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BF7BA-01F4-F703-91AA-414CD99E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645" y="2391660"/>
            <a:ext cx="2784232" cy="434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4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915F-C68A-8BA8-4DD7-0A08F673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📋 </a:t>
            </a:r>
            <a:r>
              <a:rPr lang="zh-CN" altLang="en-US" b="1" dirty="0"/>
              <a:t>解析流程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8939-C7F8-E5E2-972A-A506322E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Tiled </a:t>
            </a:r>
            <a:r>
              <a:rPr lang="zh-CN" altLang="en-US" dirty="0"/>
              <a:t>地图解析思路（完成）</a:t>
            </a:r>
          </a:p>
          <a:p>
            <a:pPr marL="0" indent="0">
              <a:buNone/>
            </a:pPr>
            <a:r>
              <a:rPr lang="zh-CN" altLang="en-US" dirty="0"/>
              <a:t>    ↓</a:t>
            </a:r>
          </a:p>
          <a:p>
            <a:pPr marL="0" indent="0">
              <a:buNone/>
            </a:pPr>
            <a:r>
              <a:rPr lang="en-US" altLang="zh-CN" dirty="0"/>
              <a:t>... (</a:t>
            </a:r>
            <a:r>
              <a:rPr lang="zh-CN" altLang="en-US" dirty="0"/>
              <a:t>加载图块集和图片层</a:t>
            </a:r>
            <a:r>
              <a:rPr lang="en-US" altLang="zh-CN" dirty="0"/>
              <a:t>) ...</a:t>
            </a:r>
          </a:p>
          <a:p>
            <a:pPr marL="0" indent="0">
              <a:buNone/>
            </a:pPr>
            <a:r>
              <a:rPr lang="en-US" altLang="zh-CN" dirty="0"/>
              <a:t>    ↓</a:t>
            </a:r>
          </a:p>
          <a:p>
            <a:pPr marL="0" indent="0">
              <a:buNone/>
            </a:pPr>
            <a:r>
              <a:rPr lang="zh-CN" altLang="en-US" dirty="0"/>
              <a:t>如果 </a:t>
            </a:r>
            <a:r>
              <a:rPr lang="en-US" dirty="0"/>
              <a:t>type: "</a:t>
            </a:r>
            <a:r>
              <a:rPr lang="en-US" dirty="0" err="1"/>
              <a:t>objectgroup</a:t>
            </a:r>
            <a:r>
              <a:rPr lang="en-US" dirty="0"/>
              <a:t>"，</a:t>
            </a:r>
            <a:r>
              <a:rPr lang="zh-CN" altLang="en-US" dirty="0"/>
              <a:t>载入对象层</a:t>
            </a:r>
          </a:p>
          <a:p>
            <a:pPr marL="0" indent="0">
              <a:buNone/>
            </a:pPr>
            <a:r>
              <a:rPr lang="zh-CN" altLang="en-US" dirty="0"/>
              <a:t>    ↓</a:t>
            </a:r>
          </a:p>
          <a:p>
            <a:pPr marL="0" indent="0">
              <a:buNone/>
            </a:pPr>
            <a:r>
              <a:rPr lang="zh-CN" altLang="en-US" dirty="0"/>
              <a:t>对象数据在 </a:t>
            </a:r>
            <a:r>
              <a:rPr lang="en-US" altLang="zh-CN" dirty="0"/>
              <a:t>"</a:t>
            </a:r>
            <a:r>
              <a:rPr lang="en-US" dirty="0"/>
              <a:t>objects" </a:t>
            </a:r>
            <a:r>
              <a:rPr lang="zh-CN" altLang="en-US" dirty="0"/>
              <a:t>字段中</a:t>
            </a:r>
          </a:p>
          <a:p>
            <a:pPr marL="0" indent="0">
              <a:buNone/>
            </a:pPr>
            <a:r>
              <a:rPr lang="zh-CN" altLang="en-US" dirty="0"/>
              <a:t>    ↓</a:t>
            </a:r>
          </a:p>
          <a:p>
            <a:pPr marL="0" indent="0">
              <a:buNone/>
            </a:pPr>
            <a:r>
              <a:rPr lang="zh-CN" altLang="en-US" dirty="0"/>
              <a:t>为每个对象创建一个 </a:t>
            </a:r>
            <a:r>
              <a:rPr lang="en-US" dirty="0" err="1"/>
              <a:t>GameObject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85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349A-7F35-97C7-1606-B6BAC146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🔑 </a:t>
            </a:r>
            <a:r>
              <a:rPr lang="zh-CN" altLang="en-US" b="1" dirty="0"/>
              <a:t>关注要点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39F4B6-94F1-FB40-CD69-3E0DF62A87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2351"/>
              </p:ext>
            </p:extLst>
          </p:nvPr>
        </p:nvGraphicFramePr>
        <p:xfrm>
          <a:off x="838200" y="1825625"/>
          <a:ext cx="105156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630659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16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关注点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01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gid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 </a:t>
                      </a:r>
                      <a:r>
                        <a:rPr lang="en-US" altLang="zh-CN">
                          <a:effectLst/>
                        </a:rPr>
                        <a:t>gid </a:t>
                      </a:r>
                      <a:r>
                        <a:rPr lang="zh-CN" altLang="en-US">
                          <a:effectLst/>
                        </a:rPr>
                        <a:t>查找源图片信息（和瓦片层一样）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46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位置和尺寸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通过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x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y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width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height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rotation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确定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TransformComponent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的信息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24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自定义形状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如果没有 </a:t>
                      </a:r>
                      <a:r>
                        <a:rPr lang="en-US" altLang="zh-CN" dirty="0">
                          <a:effectLst/>
                        </a:rPr>
                        <a:t>gid</a:t>
                      </a:r>
                      <a:r>
                        <a:rPr lang="zh-CN" altLang="en-US" dirty="0">
                          <a:effectLst/>
                        </a:rPr>
                        <a:t>，则代表是策划在编辑器中直接绘制的形状（如矩形、圆形），这些通常用于碰撞盒、触发器等，我们未来再按需处理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58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30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45EF-C7DA-8066-492C-C9F2B8F8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关键：坐标系转换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E82F5-F899-3270-786B-F4F18C20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在解析对象层时，有一个 </a:t>
            </a:r>
            <a:r>
              <a:rPr lang="zh-CN" altLang="en-US" b="1" dirty="0"/>
              <a:t>非常关键且容易出错</a:t>
            </a:r>
            <a:r>
              <a:rPr lang="zh-CN" altLang="en-US" dirty="0"/>
              <a:t> 的细节：</a:t>
            </a:r>
            <a:r>
              <a:rPr lang="en-US" altLang="zh-CN" b="1" dirty="0"/>
              <a:t>Tiled </a:t>
            </a:r>
            <a:r>
              <a:rPr lang="zh-CN" altLang="en-US" b="1" dirty="0"/>
              <a:t>对象层的坐标系与我们引擎的坐标系不同！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56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FAD7-FF23-D5FB-0488-4C36993E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⚠️ 坐标系差异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C3DB7C-D41F-F8D0-86D7-BF16412A6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921612"/>
              </p:ext>
            </p:extLst>
          </p:nvPr>
        </p:nvGraphicFramePr>
        <p:xfrm>
          <a:off x="838200" y="1825625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116266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0053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坐标系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Y </a:t>
                      </a:r>
                      <a:r>
                        <a:rPr lang="zh-CN" altLang="en-US" b="1">
                          <a:effectLst/>
                        </a:rPr>
                        <a:t>坐标含义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32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Tiled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对象的 </a:t>
                      </a:r>
                      <a:r>
                        <a:rPr lang="en-US" dirty="0">
                          <a:effectLst/>
                        </a:rPr>
                        <a:t>y </a:t>
                      </a:r>
                      <a:r>
                        <a:rPr lang="zh-CN" altLang="en-US" dirty="0">
                          <a:effectLst/>
                        </a:rPr>
                        <a:t>坐标指向其 </a:t>
                      </a:r>
                      <a:r>
                        <a:rPr lang="zh-CN" altLang="en-US" b="1" dirty="0">
                          <a:effectLst/>
                        </a:rPr>
                        <a:t>左下角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3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我们的引擎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TransformComponent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的 </a:t>
                      </a:r>
                      <a:r>
                        <a:rPr lang="en-US" dirty="0">
                          <a:effectLst/>
                        </a:rPr>
                        <a:t>position（</a:t>
                      </a:r>
                      <a:r>
                        <a:rPr lang="zh-CN" altLang="en-US" dirty="0">
                          <a:effectLst/>
                        </a:rPr>
                        <a:t>以及渲染时）指向其 </a:t>
                      </a:r>
                      <a:r>
                        <a:rPr lang="zh-CN" altLang="en-US" b="1" dirty="0">
                          <a:effectLst/>
                        </a:rPr>
                        <a:t>左上角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227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79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2EC8-9AA0-02A3-0CCD-E7339771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📐 可视化说明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571AE9-CEBB-FD13-F217-B4BF32D69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89011"/>
            <a:ext cx="4369025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56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0CD8-AD51-0998-C3A3-6DB956CD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🔧 </a:t>
            </a:r>
            <a:r>
              <a:rPr lang="zh-CN" altLang="en-US" dirty="0"/>
              <a:t>坐标转换公式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D384-E10D-6A55-EA74-9DE43B9A0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因此，在读取 </a:t>
            </a:r>
            <a:r>
              <a:rPr lang="en-US" dirty="0"/>
              <a:t>Tiled </a:t>
            </a:r>
            <a:r>
              <a:rPr lang="zh-CN" altLang="en-US" dirty="0"/>
              <a:t>的 </a:t>
            </a:r>
            <a:r>
              <a:rPr lang="en-US" dirty="0"/>
              <a:t>y </a:t>
            </a:r>
            <a:r>
              <a:rPr lang="zh-CN" altLang="en-US" dirty="0"/>
              <a:t>坐标后，我们必须进行转换：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engine_y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tiled_y</a:t>
            </a:r>
            <a:r>
              <a:rPr lang="en-US" dirty="0">
                <a:solidFill>
                  <a:srgbClr val="FF0000"/>
                </a:solidFill>
              </a:rPr>
              <a:t> - </a:t>
            </a:r>
            <a:r>
              <a:rPr lang="en-US" dirty="0" err="1">
                <a:solidFill>
                  <a:srgbClr val="FF0000"/>
                </a:solidFill>
              </a:rPr>
              <a:t>object_height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示例：</a:t>
            </a:r>
          </a:p>
          <a:p>
            <a:r>
              <a:rPr lang="en-US" dirty="0"/>
              <a:t>Tiled </a:t>
            </a:r>
            <a:r>
              <a:rPr lang="zh-CN" altLang="en-US" dirty="0"/>
              <a:t>中的坐标：</a:t>
            </a:r>
            <a:r>
              <a:rPr lang="en-US" altLang="zh-CN" dirty="0"/>
              <a:t>(48, 288)</a:t>
            </a:r>
            <a:r>
              <a:rPr lang="zh-CN" altLang="en-US" dirty="0"/>
              <a:t>，高度：</a:t>
            </a:r>
            <a:r>
              <a:rPr lang="en-US" altLang="zh-CN" dirty="0"/>
              <a:t>29</a:t>
            </a:r>
          </a:p>
          <a:p>
            <a:r>
              <a:rPr lang="zh-CN" altLang="en-US" dirty="0"/>
              <a:t>引擎中的坐标：</a:t>
            </a:r>
            <a:r>
              <a:rPr lang="en-US" altLang="zh-CN" dirty="0"/>
              <a:t>(48, 288 - 29) = (48, 259)</a:t>
            </a:r>
          </a:p>
          <a:p>
            <a:pPr marL="0" indent="0">
              <a:buNone/>
            </a:pPr>
            <a:r>
              <a:rPr lang="en-US" dirty="0"/>
              <a:t>💡 </a:t>
            </a:r>
            <a:r>
              <a:rPr lang="zh-CN" altLang="en-US" dirty="0"/>
              <a:t>记忆技巧：</a:t>
            </a:r>
            <a:r>
              <a:rPr lang="en-US" dirty="0"/>
              <a:t>Tiled </a:t>
            </a:r>
            <a:r>
              <a:rPr lang="zh-CN" altLang="en-US" dirty="0"/>
              <a:t>的 </a:t>
            </a:r>
            <a:r>
              <a:rPr lang="en-US" dirty="0"/>
              <a:t>y </a:t>
            </a:r>
            <a:r>
              <a:rPr lang="zh-CN" altLang="en-US" dirty="0"/>
              <a:t>坐标在底部，我们需要向上移动 </a:t>
            </a:r>
            <a:r>
              <a:rPr lang="en-US" dirty="0"/>
              <a:t>height </a:t>
            </a:r>
            <a:r>
              <a:rPr lang="zh-CN" altLang="en-US" dirty="0"/>
              <a:t>的距离才能得到顶部坐标。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52A4-9D5B-F30C-CE06-B1521B9E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升级 </a:t>
            </a:r>
            <a:r>
              <a:rPr lang="en-US" b="1" dirty="0" err="1"/>
              <a:t>LevelLoader</a:t>
            </a:r>
            <a:r>
              <a:rPr lang="en-US" b="1" dirty="0"/>
              <a:t> </a:t>
            </a:r>
            <a:r>
              <a:rPr lang="zh-CN" altLang="en-US" b="1" dirty="0"/>
              <a:t>以支持对象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0F980-E74F-D204-043C-EEAA5CCB3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现在我们来实现 </a:t>
            </a:r>
            <a:r>
              <a:rPr lang="en-US" dirty="0" err="1"/>
              <a:t>loadObjectLayer</a:t>
            </a:r>
            <a:r>
              <a:rPr lang="en-US" dirty="0"/>
              <a:t> </a:t>
            </a:r>
            <a:r>
              <a:rPr lang="zh-CN" altLang="en-US" dirty="0"/>
              <a:t>方法。</a:t>
            </a:r>
          </a:p>
          <a:p>
            <a:pPr marL="0" indent="0">
              <a:buNone/>
            </a:pPr>
            <a:r>
              <a:rPr lang="en-US" dirty="0"/>
              <a:t>engine/scene/level_loader.cpp（</a:t>
            </a:r>
            <a:r>
              <a:rPr lang="zh-CN" altLang="en-US" dirty="0"/>
              <a:t>更新）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062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DEFD-37D9-9E11-A953-5EFB9C46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0"/>
            <a:ext cx="10515600" cy="1325563"/>
          </a:xfrm>
        </p:spPr>
        <p:txBody>
          <a:bodyPr/>
          <a:lstStyle/>
          <a:p>
            <a:r>
              <a:rPr lang="zh-CN" altLang="en-US" b="1" dirty="0"/>
              <a:t>代码解析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B026D1-8CD4-8687-9EDF-E63D43BD8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1063780"/>
              </p:ext>
            </p:extLst>
          </p:nvPr>
        </p:nvGraphicFramePr>
        <p:xfrm>
          <a:off x="756141" y="967154"/>
          <a:ext cx="10515597" cy="5773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604599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103400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78347288"/>
                    </a:ext>
                  </a:extLst>
                </a:gridCol>
              </a:tblGrid>
              <a:tr h="38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839947"/>
                  </a:ext>
                </a:extLst>
              </a:tr>
              <a:tr h="67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effectLst/>
                        </a:rPr>
                        <a:t>1. </a:t>
                      </a:r>
                      <a:r>
                        <a:rPr lang="zh-CN" altLang="en-US" b="1" dirty="0">
                          <a:effectLst/>
                        </a:rPr>
                        <a:t>遍历对象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遍历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objects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数组中的每一个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object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处理每个独立对象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753420"/>
                  </a:ext>
                </a:extLst>
              </a:tr>
              <a:tr h="67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检查 </a:t>
                      </a:r>
                      <a:r>
                        <a:rPr lang="en-US" b="1">
                          <a:effectLst/>
                        </a:rPr>
                        <a:t>gid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如果它存在（不为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），调用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getTileInfoByGid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获取对象对应的 </a:t>
                      </a:r>
                      <a:r>
                        <a:rPr lang="en-US" altLang="zh-CN">
                          <a:effectLst/>
                        </a:rPr>
                        <a:t>Sprite </a:t>
                      </a:r>
                      <a:r>
                        <a:rPr lang="zh-CN" altLang="en-US">
                          <a:effectLst/>
                        </a:rPr>
                        <a:t>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912444"/>
                  </a:ext>
                </a:extLst>
              </a:tr>
              <a:tr h="67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读取属性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从 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object 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的 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JSON 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数据中读取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x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y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width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height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rotation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提取变换信息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56540"/>
                  </a:ext>
                </a:extLst>
              </a:tr>
              <a:tr h="67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4. </a:t>
                      </a:r>
                      <a:r>
                        <a:rPr lang="zh-CN" altLang="en-US" b="1">
                          <a:effectLst/>
                        </a:rPr>
                        <a:t>坐标转换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position.y = position.y - dst_size.y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关键步骤</a:t>
                      </a:r>
                      <a:r>
                        <a:rPr lang="zh-CN" altLang="en-US">
                          <a:effectLst/>
                        </a:rPr>
                        <a:t>：从 </a:t>
                      </a:r>
                      <a:r>
                        <a:rPr lang="en-US" altLang="zh-CN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坐标系转换到引擎坐标系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554928"/>
                  </a:ext>
                </a:extLst>
              </a:tr>
              <a:tr h="67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5. </a:t>
                      </a:r>
                      <a:r>
                        <a:rPr lang="zh-CN" altLang="en-US" b="1">
                          <a:effectLst/>
                        </a:rPr>
                        <a:t>计算缩放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scale = dst_size / src_size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通过比较设置的对象尺寸和原始图片尺寸计算缩放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470232"/>
                  </a:ext>
                </a:extLst>
              </a:tr>
              <a:tr h="389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6. </a:t>
                      </a:r>
                      <a:r>
                        <a:rPr lang="zh-CN" altLang="en-US" b="1">
                          <a:effectLst/>
                        </a:rPr>
                        <a:t>创建对象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std::make_unique&lt;GameObject&gt;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创建新的游戏对象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154628"/>
                  </a:ext>
                </a:extLst>
              </a:tr>
              <a:tr h="960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7. </a:t>
                      </a:r>
                      <a:r>
                        <a:rPr lang="zh-CN" altLang="en-US" b="1">
                          <a:effectLst/>
                        </a:rPr>
                        <a:t>添加组件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添加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TransformComponent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和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SpriteComponent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赋予对象位置和外观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677684"/>
                  </a:ext>
                </a:extLst>
              </a:tr>
              <a:tr h="67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8. </a:t>
                      </a:r>
                      <a:r>
                        <a:rPr lang="zh-CN" altLang="en-US" b="1">
                          <a:effectLst/>
                        </a:rPr>
                        <a:t>添加到场景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scene.addGameObject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(std::move(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game_object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))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将对象加入场景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132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977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5CFB-862E-490E-914A-FFE7E418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关键点说明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5A6A-13D9-2DF2-99C7-2BF4DB0E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1. gid </a:t>
            </a:r>
            <a:r>
              <a:rPr lang="zh-CN" altLang="en-US" b="1" dirty="0"/>
              <a:t>的两种情况：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9AAEB-3871-4533-ECD6-CB0D2B57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53" y="2375610"/>
            <a:ext cx="2635385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2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5E49-88FC-1AE8-5C6C-284673EDE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785"/>
            <a:ext cx="10515600" cy="5708039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缩放计算：</a:t>
            </a:r>
            <a:endParaRPr lang="en-US" altLang="zh-CN" b="1" dirty="0"/>
          </a:p>
          <a:p>
            <a:pPr marL="0" indent="0">
              <a:buNone/>
            </a:pPr>
            <a:r>
              <a:rPr lang="en-US" sz="1800" dirty="0" err="1"/>
              <a:t>dst_size</a:t>
            </a:r>
            <a:r>
              <a:rPr lang="en-US" sz="1800" dirty="0"/>
              <a:t>: Tiled </a:t>
            </a:r>
            <a:r>
              <a:rPr lang="zh-CN" altLang="en-US" sz="1800" dirty="0"/>
              <a:t>中设置的对象尺寸（策划调整后的大小）</a:t>
            </a:r>
          </a:p>
          <a:p>
            <a:pPr marL="0" indent="0">
              <a:buNone/>
            </a:pPr>
            <a:r>
              <a:rPr lang="en-US" sz="1800" dirty="0" err="1"/>
              <a:t>src_size</a:t>
            </a:r>
            <a:r>
              <a:rPr lang="en-US" sz="1800" dirty="0"/>
              <a:t>: </a:t>
            </a:r>
            <a:r>
              <a:rPr lang="zh-CN" altLang="en-US" sz="1800" dirty="0"/>
              <a:t>原始瓦片图片的尺寸</a:t>
            </a:r>
          </a:p>
          <a:p>
            <a:pPr marL="0" indent="0">
              <a:buNone/>
            </a:pPr>
            <a:r>
              <a:rPr lang="en-US" sz="1800" dirty="0"/>
              <a:t>scale = </a:t>
            </a:r>
            <a:r>
              <a:rPr lang="en-US" sz="1800" dirty="0" err="1"/>
              <a:t>dst_size</a:t>
            </a:r>
            <a:r>
              <a:rPr lang="en-US" sz="1800" dirty="0"/>
              <a:t> / </a:t>
            </a:r>
            <a:r>
              <a:rPr lang="en-US" sz="1800" dirty="0" err="1"/>
              <a:t>src_size</a:t>
            </a:r>
            <a:r>
              <a:rPr lang="en-US" sz="1800" dirty="0"/>
              <a:t>: </a:t>
            </a:r>
            <a:r>
              <a:rPr lang="zh-CN" altLang="en-US" sz="1800" dirty="0"/>
              <a:t>计算缩放比例</a:t>
            </a:r>
          </a:p>
          <a:p>
            <a:r>
              <a:rPr lang="zh-CN" altLang="en-US" sz="2000" b="1" dirty="0"/>
              <a:t>示例：</a:t>
            </a: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原始图片：</a:t>
            </a:r>
            <a:r>
              <a:rPr lang="en-US" altLang="zh-CN" sz="2000" dirty="0"/>
              <a:t>32</a:t>
            </a:r>
            <a:r>
              <a:rPr lang="en-US" sz="2000" dirty="0"/>
              <a:t>x32 </a:t>
            </a:r>
            <a:r>
              <a:rPr lang="zh-CN" altLang="en-US" sz="2000" dirty="0"/>
              <a:t>像素</a:t>
            </a:r>
          </a:p>
          <a:p>
            <a:pPr marL="0" indent="0">
              <a:buNone/>
            </a:pPr>
            <a:r>
              <a:rPr lang="en-US" sz="2000" dirty="0"/>
              <a:t>Tiled </a:t>
            </a:r>
            <a:r>
              <a:rPr lang="zh-CN" altLang="en-US" sz="2000" dirty="0"/>
              <a:t>中设置：</a:t>
            </a:r>
            <a:r>
              <a:rPr lang="en-US" altLang="zh-CN" sz="2000" dirty="0"/>
              <a:t>64</a:t>
            </a:r>
            <a:r>
              <a:rPr lang="en-US" sz="2000" dirty="0"/>
              <a:t>x64 </a:t>
            </a:r>
            <a:r>
              <a:rPr lang="zh-CN" altLang="en-US" sz="2000" dirty="0"/>
              <a:t>像素</a:t>
            </a:r>
          </a:p>
          <a:p>
            <a:pPr marL="0" indent="0">
              <a:buNone/>
            </a:pPr>
            <a:r>
              <a:rPr lang="zh-CN" altLang="en-US" sz="2000" dirty="0"/>
              <a:t>缩放：</a:t>
            </a:r>
            <a:r>
              <a:rPr lang="en-US" altLang="zh-CN" sz="2000" dirty="0"/>
              <a:t>(64/32, 64/32) = (2.0, 2.0)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高效传递 </a:t>
            </a:r>
            <a:r>
              <a:rPr lang="en-US" b="1" dirty="0"/>
              <a:t>Sprite：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289A0-A02F-3301-4328-93BF310F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81987"/>
            <a:ext cx="4007056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48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6996-57A3-DDDE-600E-6016F364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SpriteComponent</a:t>
            </a:r>
            <a:r>
              <a:rPr lang="en-US" b="1" dirty="0"/>
              <a:t> </a:t>
            </a:r>
            <a:r>
              <a:rPr lang="zh-CN" altLang="en-US" b="1" dirty="0"/>
              <a:t>的小优化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4BE49-C349-E39D-52E8-15CE2249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为了能</a:t>
            </a:r>
            <a:r>
              <a:rPr lang="zh-CN" altLang="en-US" dirty="0">
                <a:solidFill>
                  <a:srgbClr val="FF0000"/>
                </a:solidFill>
              </a:rPr>
              <a:t>高效</a:t>
            </a:r>
            <a:r>
              <a:rPr lang="zh-CN" altLang="en-US" dirty="0"/>
              <a:t>地将 </a:t>
            </a:r>
            <a:r>
              <a:rPr lang="en-US" dirty="0" err="1"/>
              <a:t>LevelLoader</a:t>
            </a:r>
            <a:r>
              <a:rPr lang="en-US" dirty="0"/>
              <a:t> </a:t>
            </a:r>
            <a:r>
              <a:rPr lang="zh-CN" altLang="en-US" dirty="0"/>
              <a:t>中创建的 </a:t>
            </a:r>
            <a:r>
              <a:rPr lang="en-US" dirty="0"/>
              <a:t>Sprite </a:t>
            </a:r>
            <a:r>
              <a:rPr lang="zh-CN" altLang="en-US" dirty="0"/>
              <a:t>对象传递给 </a:t>
            </a:r>
            <a:r>
              <a:rPr lang="en-US" dirty="0" err="1"/>
              <a:t>SpriteComponent</a:t>
            </a:r>
            <a:r>
              <a:rPr lang="en-US" dirty="0"/>
              <a:t>，</a:t>
            </a:r>
            <a:r>
              <a:rPr lang="zh-CN" altLang="en-US" dirty="0"/>
              <a:t>我们为其添加一个新的构造函数，它接收一个 </a:t>
            </a:r>
            <a:r>
              <a:rPr lang="zh-CN" altLang="en-US" b="1" dirty="0"/>
              <a:t>右值引用</a:t>
            </a:r>
            <a:r>
              <a:rPr lang="zh-CN" altLang="en-US" dirty="0"/>
              <a:t> 的 </a:t>
            </a:r>
            <a:r>
              <a:rPr lang="en-US" dirty="0"/>
              <a:t>Sprite。</a:t>
            </a:r>
          </a:p>
          <a:p>
            <a:r>
              <a:rPr lang="en-US" b="1" dirty="0"/>
              <a:t>engine/component/</a:t>
            </a:r>
            <a:r>
              <a:rPr lang="en-US" b="1" dirty="0" err="1"/>
              <a:t>sprite_component.h</a:t>
            </a:r>
            <a:r>
              <a:rPr lang="en-US" b="1" dirty="0"/>
              <a:t>（</a:t>
            </a:r>
            <a:r>
              <a:rPr lang="zh-CN" altLang="en-US" b="1" dirty="0"/>
              <a:t>新增构造函数）</a:t>
            </a:r>
          </a:p>
          <a:p>
            <a:r>
              <a:rPr lang="en-US" b="1" dirty="0"/>
              <a:t>engine/component/sprite_component.cpp（</a:t>
            </a:r>
            <a:r>
              <a:rPr lang="zh-CN" altLang="en-US" b="1" dirty="0"/>
              <a:t>新增构造函数实现）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93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DBE4-2C5E-4261-0ACA-E01DE804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设计优势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DBF09C-53F5-BB54-F0BA-74146B5D76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488436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196281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5263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89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移动语义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使用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std::move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转移 </a:t>
                      </a:r>
                      <a:r>
                        <a:rPr lang="en-US" dirty="0">
                          <a:effectLst/>
                        </a:rPr>
                        <a:t>Sprite </a:t>
                      </a:r>
                      <a:r>
                        <a:rPr lang="zh-CN" altLang="en-US" dirty="0">
                          <a:effectLst/>
                        </a:rPr>
                        <a:t>的所有权，避免深拷贝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62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性能优化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大量对象加载时性能提升明显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87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现代 </a:t>
                      </a:r>
                      <a:r>
                        <a:rPr lang="en-US" b="1">
                          <a:effectLst/>
                        </a:rPr>
                        <a:t>C++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符合 </a:t>
                      </a:r>
                      <a:r>
                        <a:rPr lang="en-US" altLang="zh-CN" dirty="0">
                          <a:effectLst/>
                        </a:rPr>
                        <a:t>C++11+ </a:t>
                      </a:r>
                      <a:r>
                        <a:rPr lang="zh-CN" altLang="en-US" dirty="0">
                          <a:effectLst/>
                        </a:rPr>
                        <a:t>的最佳实践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015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51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60D2-8ED0-6047-10A7-B4720825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最终效果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23D58-DC71-133F-6EAC-4DF1259C5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现在，我们的 </a:t>
            </a:r>
            <a:r>
              <a:rPr lang="en-US" altLang="zh-CN" dirty="0" err="1"/>
              <a:t>LevelLoader</a:t>
            </a:r>
            <a:r>
              <a:rPr lang="en-US" altLang="zh-CN" dirty="0"/>
              <a:t> </a:t>
            </a:r>
            <a:r>
              <a:rPr lang="zh-CN" altLang="en-US" dirty="0"/>
              <a:t>已经是一个 功能完备的模块 了，它可以加载：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 完整功能列表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8B9453-8FDB-2C96-D75A-D4991976C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852174"/>
              </p:ext>
            </p:extLst>
          </p:nvPr>
        </p:nvGraphicFramePr>
        <p:xfrm>
          <a:off x="1023815" y="3802835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952522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814515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96967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对应课程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49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📁 </a:t>
                      </a:r>
                      <a:r>
                        <a:rPr lang="zh-CN" altLang="en-US" b="1">
                          <a:effectLst/>
                        </a:rPr>
                        <a:t>图片层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第 </a:t>
                      </a:r>
                      <a:r>
                        <a:rPr lang="en-US" altLang="zh-CN" dirty="0">
                          <a:effectLst/>
                        </a:rPr>
                        <a:t>12 </a:t>
                      </a:r>
                      <a:r>
                        <a:rPr lang="zh-CN" altLang="en-US" dirty="0">
                          <a:effectLst/>
                        </a:rPr>
                        <a:t>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</a:t>
                      </a:r>
                      <a:r>
                        <a:rPr lang="zh-CN" altLang="en-US">
                          <a:effectLst/>
                        </a:rPr>
                        <a:t>完成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990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🔲 </a:t>
                      </a:r>
                      <a:r>
                        <a:rPr lang="zh-CN" altLang="en-US" b="1">
                          <a:effectLst/>
                        </a:rPr>
                        <a:t>瓦片层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第 </a:t>
                      </a:r>
                      <a:r>
                        <a:rPr lang="en-US" altLang="zh-CN" dirty="0">
                          <a:effectLst/>
                        </a:rPr>
                        <a:t>13 </a:t>
                      </a:r>
                      <a:r>
                        <a:rPr lang="zh-CN" altLang="en-US" dirty="0">
                          <a:effectLst/>
                        </a:rPr>
                        <a:t>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</a:t>
                      </a:r>
                      <a:r>
                        <a:rPr lang="zh-CN" altLang="en-US">
                          <a:effectLst/>
                        </a:rPr>
                        <a:t>完成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62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🎮 </a:t>
                      </a:r>
                      <a:r>
                        <a:rPr lang="zh-CN" altLang="en-US" b="1">
                          <a:effectLst/>
                        </a:rPr>
                        <a:t>对象层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第 </a:t>
                      </a:r>
                      <a:r>
                        <a:rPr lang="en-US" altLang="zh-CN" dirty="0">
                          <a:effectLst/>
                        </a:rPr>
                        <a:t>14 </a:t>
                      </a:r>
                      <a:r>
                        <a:rPr lang="zh-CN" altLang="en-US" dirty="0">
                          <a:effectLst/>
                        </a:rPr>
                        <a:t>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✅ </a:t>
                      </a:r>
                      <a:r>
                        <a:rPr lang="zh-CN" altLang="en-US" dirty="0">
                          <a:effectLst/>
                        </a:rPr>
                        <a:t>完成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234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528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C946-CE0C-B336-BCB4-C8D0BE3A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🎨 </a:t>
            </a:r>
            <a:r>
              <a:rPr lang="zh-CN" altLang="en-US" b="1" dirty="0"/>
              <a:t>运行效果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BC29-C22E-B334-26A5-CCDFF2A84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你将看到：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 背景和地面（图片层和瓦片层）</a:t>
            </a:r>
          </a:p>
          <a:p>
            <a:pPr marL="0" indent="0">
              <a:buNone/>
            </a:pPr>
            <a:r>
              <a:rPr lang="zh-CN" altLang="en-US" dirty="0"/>
              <a:t>✅ </a:t>
            </a:r>
            <a:r>
              <a:rPr lang="en-US" altLang="zh-CN" dirty="0"/>
              <a:t>Tiled </a:t>
            </a:r>
            <a:r>
              <a:rPr lang="zh-CN" altLang="en-US" dirty="0"/>
              <a:t>对象层里放置的道具、装饰（例如箱子、路牌）</a:t>
            </a:r>
          </a:p>
          <a:p>
            <a:pPr marL="0" indent="0">
              <a:buNone/>
            </a:pPr>
            <a:r>
              <a:rPr lang="zh-CN" altLang="en-US" dirty="0"/>
              <a:t>✅ 按照你在编辑器里设置的位置、旋转和大小精确渲染</a:t>
            </a:r>
          </a:p>
          <a:p>
            <a:pPr marL="0" indent="0">
              <a:buNone/>
            </a:pPr>
            <a:r>
              <a:rPr lang="zh-CN" altLang="en-US" dirty="0"/>
              <a:t>✅ 所有对象都是独立的 </a:t>
            </a:r>
            <a:r>
              <a:rPr lang="en-US" altLang="zh-CN" dirty="0" err="1"/>
              <a:t>GameObject</a:t>
            </a:r>
            <a:r>
              <a:rPr lang="zh-CN" altLang="en-US" dirty="0"/>
              <a:t>，可以动态交互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61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582A-1A6F-05BB-2E54-F8C23986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2581-313A-DDBD-F289-5B40031DB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完整的数据驱动流程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A4C52-5C11-536E-E348-DF82BCA3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16" y="2296936"/>
            <a:ext cx="3276768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97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F76F-3342-2BB5-52EA-A1D0DDAE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05A9-4716-C055-D516-553BE7DE7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我们已经完成了从 </a:t>
            </a:r>
            <a:r>
              <a:rPr lang="zh-CN" altLang="en-US" b="1" dirty="0"/>
              <a:t>数据到场景</a:t>
            </a:r>
            <a:r>
              <a:rPr lang="zh-CN" altLang="en-US" dirty="0"/>
              <a:t> 的完整构建流程：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图片层加载</a:t>
            </a:r>
            <a:r>
              <a:rPr lang="zh-CN" altLang="en-US" dirty="0"/>
              <a:t>：视差背景系统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瓦片层加载</a:t>
            </a:r>
            <a:r>
              <a:rPr lang="zh-CN" altLang="en-US" dirty="0"/>
              <a:t>：网格地形系统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对象层加载</a:t>
            </a:r>
            <a:r>
              <a:rPr lang="zh-CN" altLang="en-US" dirty="0"/>
              <a:t>：独立实体系统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坐标系转换</a:t>
            </a:r>
            <a:r>
              <a:rPr lang="zh-CN" altLang="en-US" dirty="0"/>
              <a:t>：正确处理 </a:t>
            </a:r>
            <a:r>
              <a:rPr lang="en-US" altLang="zh-CN" dirty="0"/>
              <a:t>Tiled </a:t>
            </a:r>
            <a:r>
              <a:rPr lang="zh-CN" altLang="en-US" dirty="0"/>
              <a:t>坐标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性能优化</a:t>
            </a:r>
            <a:r>
              <a:rPr lang="zh-CN" altLang="en-US" dirty="0"/>
              <a:t>：移动语义减少拷贝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069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7B27-6EA8-1A3F-F477-CF39FC13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设计亮点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E5F50F-E60E-C43F-55E4-FC35DC084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98388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61307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92192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亮点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16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数据驱动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关卡内容完全由 </a:t>
                      </a:r>
                      <a:r>
                        <a:rPr lang="en-US" altLang="zh-CN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数据定义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35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灵活扩展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新增对象类型无需修改代码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165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类型安全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 </a:t>
                      </a:r>
                      <a:r>
                        <a:rPr lang="en-US" altLang="zh-CN">
                          <a:effectLst/>
                        </a:rPr>
                        <a:t>gid </a:t>
                      </a:r>
                      <a:r>
                        <a:rPr lang="zh-CN" altLang="en-US">
                          <a:effectLst/>
                        </a:rPr>
                        <a:t>精确匹配图块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76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坐标转换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自动处理坐标系差异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55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高性能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使用移动语义和智能指针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2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261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6FFD-E0BC-9817-BB59-1CB7803C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90C6-302B-976C-3C3B-3F5F7A6E5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631"/>
            <a:ext cx="10515600" cy="51229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至此，我们已经完成了从数据到场景的完整构建流程。我们的引擎现在可以动态地加载任何用 </a:t>
            </a:r>
            <a:r>
              <a:rPr lang="en-US" altLang="zh-CN" dirty="0"/>
              <a:t>Tiled </a:t>
            </a:r>
            <a:r>
              <a:rPr lang="zh-CN" altLang="en-US" dirty="0"/>
              <a:t>设计的关卡。</a:t>
            </a:r>
          </a:p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📦 对象层用于放置独立的游戏实体</a:t>
            </a:r>
          </a:p>
          <a:p>
            <a:pPr marL="0" indent="0">
              <a:buNone/>
            </a:pPr>
            <a:r>
              <a:rPr lang="zh-CN" altLang="en-US" dirty="0"/>
              <a:t>📐 </a:t>
            </a:r>
            <a:r>
              <a:rPr lang="en-US" altLang="zh-CN" dirty="0"/>
              <a:t>Tiled </a:t>
            </a:r>
            <a:r>
              <a:rPr lang="zh-CN" altLang="en-US" dirty="0"/>
              <a:t>和引擎的坐标系不同，需要转换</a:t>
            </a:r>
          </a:p>
          <a:p>
            <a:pPr marL="0" indent="0">
              <a:buNone/>
            </a:pPr>
            <a:r>
              <a:rPr lang="zh-CN" altLang="en-US" dirty="0"/>
              <a:t>🎯 每个对象创建一个独立的 </a:t>
            </a:r>
            <a:r>
              <a:rPr lang="en-US" altLang="zh-CN" dirty="0" err="1"/>
              <a:t>GameObject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🔧 通过 </a:t>
            </a:r>
            <a:r>
              <a:rPr lang="en-US" altLang="zh-CN" dirty="0"/>
              <a:t>gid </a:t>
            </a:r>
            <a:r>
              <a:rPr lang="zh-CN" altLang="en-US" dirty="0"/>
              <a:t>查找对应的图块信息</a:t>
            </a:r>
          </a:p>
          <a:p>
            <a:pPr marL="0" indent="0">
              <a:buNone/>
            </a:pPr>
            <a:r>
              <a:rPr lang="zh-CN" altLang="en-US" dirty="0"/>
              <a:t>🚀 使用移动语义优化性能</a:t>
            </a:r>
          </a:p>
          <a:p>
            <a:pPr marL="0" indent="0">
              <a:buNone/>
            </a:pPr>
            <a:r>
              <a:rPr lang="zh-CN" altLang="en-US" dirty="0"/>
              <a:t>✅ </a:t>
            </a:r>
            <a:r>
              <a:rPr lang="en-US" altLang="zh-CN" dirty="0" err="1"/>
              <a:t>LevelLoader</a:t>
            </a:r>
            <a:r>
              <a:rPr lang="en-US" altLang="zh-CN" dirty="0"/>
              <a:t> </a:t>
            </a:r>
            <a:r>
              <a:rPr lang="zh-CN" altLang="en-US" dirty="0"/>
              <a:t>现已功能完备</a:t>
            </a:r>
          </a:p>
          <a:p>
            <a:pPr marL="0" indent="0">
              <a:buNone/>
            </a:pPr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：数据驱动的设计让我们能够快速迭代关卡，而不需要重新编译代码。这是现代游戏开发的核心原则之一！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904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DD91-C76F-2C6A-5009-FA00B8BD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8220C-9461-31A6-A622-2CF27B70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6000" dirty="0">
                <a:solidFill>
                  <a:srgbClr val="FF0000"/>
                </a:solidFill>
              </a:rPr>
              <a:t>然后开始向这个美丽世界注入物理规则，让它真正</a:t>
            </a:r>
            <a:r>
              <a:rPr lang="en-US" altLang="zh-CN" sz="6000" dirty="0">
                <a:solidFill>
                  <a:srgbClr val="FF0000"/>
                </a:solidFill>
              </a:rPr>
              <a:t>"</a:t>
            </a:r>
            <a:r>
              <a:rPr lang="zh-CN" altLang="en-US" sz="6000" dirty="0">
                <a:solidFill>
                  <a:srgbClr val="FF0000"/>
                </a:solidFill>
              </a:rPr>
              <a:t>动</a:t>
            </a:r>
            <a:r>
              <a:rPr lang="en-US" altLang="zh-CN" sz="6000" dirty="0">
                <a:solidFill>
                  <a:srgbClr val="FF0000"/>
                </a:solidFill>
              </a:rPr>
              <a:t>"</a:t>
            </a:r>
            <a:r>
              <a:rPr lang="zh-CN" altLang="en-US" sz="6000" dirty="0">
                <a:solidFill>
                  <a:srgbClr val="FF0000"/>
                </a:solidFill>
              </a:rPr>
              <a:t>起来！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18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1233</Words>
  <Application>Microsoft Office PowerPoint</Application>
  <PresentationFormat>Widescreen</PresentationFormat>
  <Paragraphs>190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source-code-pro</vt:lpstr>
      <vt:lpstr>Aptos</vt:lpstr>
      <vt:lpstr>Aptos Display</vt:lpstr>
      <vt:lpstr>Arial</vt:lpstr>
      <vt:lpstr>Office Theme</vt:lpstr>
      <vt:lpstr>关卡载入器-对象层</vt:lpstr>
      <vt:lpstr>📌 问题背景</vt:lpstr>
      <vt:lpstr>🎯 对象层的作用</vt:lpstr>
      <vt:lpstr>对象层 vs 瓦片层</vt:lpstr>
      <vt:lpstr>1. Tiled 对象层解析思路</vt:lpstr>
      <vt:lpstr>📋 解析流程</vt:lpstr>
      <vt:lpstr>🔑 关注要点</vt:lpstr>
      <vt:lpstr>2. 关键：坐标系转换</vt:lpstr>
      <vt:lpstr>⚠️ 坐标系差异</vt:lpstr>
      <vt:lpstr>📐 可视化说明</vt:lpstr>
      <vt:lpstr>🔧 坐标转换公式</vt:lpstr>
      <vt:lpstr>3. 升级 LevelLoader 以支持对象</vt:lpstr>
      <vt:lpstr>代码解析</vt:lpstr>
      <vt:lpstr>关键点说明</vt:lpstr>
      <vt:lpstr>PowerPoint Presentation</vt:lpstr>
      <vt:lpstr>4. SpriteComponent 的小优化</vt:lpstr>
      <vt:lpstr>💡 设计优势</vt:lpstr>
      <vt:lpstr>5. 最终效果</vt:lpstr>
      <vt:lpstr>🎨 运行效果</vt:lpstr>
      <vt:lpstr>🎯 系统架构总结</vt:lpstr>
      <vt:lpstr>核心成就</vt:lpstr>
      <vt:lpstr>设计亮点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2025-11-11T16:26:44Z</dcterms:created>
  <dcterms:modified xsi:type="dcterms:W3CDTF">2025-11-11T16:39:12Z</dcterms:modified>
</cp:coreProperties>
</file>